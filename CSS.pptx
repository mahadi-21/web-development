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9" r:id="rId4"/>
    <p:sldId id="270" r:id="rId5"/>
    <p:sldId id="284" r:id="rId6"/>
    <p:sldId id="286" r:id="rId7"/>
    <p:sldId id="285" r:id="rId8"/>
    <p:sldId id="288" r:id="rId9"/>
    <p:sldId id="262" r:id="rId10"/>
    <p:sldId id="263" r:id="rId11"/>
    <p:sldId id="292" r:id="rId12"/>
    <p:sldId id="264" r:id="rId13"/>
    <p:sldId id="291" r:id="rId14"/>
    <p:sldId id="295" r:id="rId15"/>
    <p:sldId id="280" r:id="rId16"/>
    <p:sldId id="268" r:id="rId17"/>
    <p:sldId id="293" r:id="rId18"/>
    <p:sldId id="267" r:id="rId19"/>
    <p:sldId id="265" r:id="rId20"/>
    <p:sldId id="294" r:id="rId21"/>
    <p:sldId id="272" r:id="rId22"/>
    <p:sldId id="297" r:id="rId23"/>
    <p:sldId id="273" r:id="rId24"/>
    <p:sldId id="299" r:id="rId25"/>
    <p:sldId id="274" r:id="rId26"/>
    <p:sldId id="275" r:id="rId27"/>
    <p:sldId id="300" r:id="rId28"/>
    <p:sldId id="276" r:id="rId29"/>
    <p:sldId id="277" r:id="rId30"/>
    <p:sldId id="301" r:id="rId31"/>
    <p:sldId id="302" r:id="rId32"/>
    <p:sldId id="282" r:id="rId33"/>
    <p:sldId id="27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5" d="100"/>
          <a:sy n="75" d="100"/>
        </p:scale>
        <p:origin x="96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16DD8-4FC3-44F9-B0D3-622D9A59BFE1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B41EA-38E6-4C55-AD37-F54D46366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74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4E20D-18D9-88A4-E3AF-7AB3346DD7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6BA91-A9D0-87FC-8325-C597F63CE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830D3-2D57-6ABD-184A-6F772DD0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476A-2A93-3B8A-9AC2-35E64916B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1DDBC-26A3-4A85-06E5-9E403E8B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29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49B94-151E-1DF0-BCB7-21A89EB59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8664-305B-7C18-A3E6-1A122BBF0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C1EA0-E9BF-FECA-8AF1-34FF039B6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1253C-5452-1708-9844-7CFC8F9F7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3AFDA-B787-368F-B750-83859499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3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CC1C7-C371-1793-CBDB-82A94E17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A3792F-C0AE-E1D1-7509-EC1D608FC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CEDEE-14A3-F09D-3AAD-147DEF6CC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EB056-3E4D-30F0-E7D8-AEC0E4F9A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2FFAA-E843-121A-FFDD-CA8B9C428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2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33F6-6BBC-A4C5-8688-6149D39CB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78482-89C8-D00B-36D2-862CA8754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4BB20-71ED-C8DB-82AD-250E65ECE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D716B-0AAC-AFCE-C8B6-FB4668BD0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B79A6-D4DB-CEB8-C2B1-7738379FA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F1C1F-153B-D63A-9D0F-96707411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41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D675-951E-0A6E-2D0E-06732ACE8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1D11B-2EE8-0970-4093-A1D856DA5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06663-1D84-14B5-E93A-FFB5BE4C4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248567-2AF7-2AF7-1E0B-1C61B18EE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D6067-C772-E666-7B83-0F69F180B9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3229D9-35A3-C413-1497-BA62B95D2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B15E36-D506-7CFE-2D42-2CC9F94D6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628DBD-F1F0-D016-FE74-BE10589C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4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5CDB-4487-CA32-F03F-B8846A712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8D7E85-C5A5-3CB4-8E81-25FAEA86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4161B-865F-3D1F-849F-EAE3250FC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94B29-0A3C-5E8C-00F2-D47D3695E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87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84D10-C4B8-617B-87F2-D3E086573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14850-48E4-27BE-83BD-77276040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75AC8-FAD7-CF7B-55D1-90442B2F5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6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821D0-7316-6C4F-2512-4BB42CB13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9F5D0-881A-EBE3-9248-5D5F2A880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8361B-B4E0-1CC2-FC59-B829632D0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C6B05-EC88-AC5B-A549-0F5169E3A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BCC53-8CFA-C119-9EDE-EA70B91D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DEC70-2818-67AF-8A57-A46A4C36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35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8390C-91BD-85E7-5B1E-8EA557BF7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CDE7D7-4AF3-8224-EB49-EFF55EB71C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DADA0-1815-12D8-9D00-DCA4753C9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6A3F3-327A-5C19-865A-84D676FC1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91607-487B-D1BB-5A1E-D95BD12F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E63A8-3F30-0F06-FFB5-DE354955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1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5CA7-DE9D-5F28-EBC4-6659DC622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4B832-30FA-261F-6714-ED1A2459CF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198BB-230A-E4AA-D7CC-09748BDFC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A6E7D-999B-B1FE-5D06-F4ADE367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054EB-40E4-3C44-8926-54EB8D1E0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34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22DF98-87DB-58B5-E0BD-D3CEAD69E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9DE4D-0EA0-95F0-0F3D-FA8622863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95E9C0-9530-CB86-8F7F-1FB720925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29536-12A8-97A6-FCEB-ABD312A6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2C16A-A8B8-986B-5982-286661EB2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337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A0498D-62BD-3782-1DD8-34E1CDA30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1A33F-24A4-09EA-0AC1-0B6E28028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86D90-ABEC-BF64-6DCB-D69911883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5FBE3-EDB4-440D-A119-5967DD7F6BB4}" type="datetimeFigureOut">
              <a:rPr lang="en-US" smtClean="0"/>
              <a:t>15-Nov-25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49AC8-B2C5-77F5-9A92-A0F5FC44A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B2DB7-56E6-EC6A-DFFB-C1F916423F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55CAF-E688-446C-996D-318BF6C6BF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3E874-2E8C-36B0-2C72-E8C27D091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CSS – Cascading Stylesheet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97606-F392-E214-B145-0926D6ED6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2000" i="1">
                <a:solidFill>
                  <a:schemeClr val="bg1"/>
                </a:solidFill>
              </a:rPr>
              <a:t>Prepared By </a:t>
            </a:r>
          </a:p>
          <a:p>
            <a:r>
              <a:rPr lang="en-US" sz="2000" i="1">
                <a:solidFill>
                  <a:schemeClr val="bg1"/>
                </a:solidFill>
              </a:rPr>
              <a:t>Mahadi Hassan</a:t>
            </a:r>
          </a:p>
        </p:txBody>
      </p:sp>
      <p:sp>
        <p:nvSpPr>
          <p:cNvPr id="35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9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6" name="Oval 45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168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A33C3B-BE2F-4946-5624-4BD2F4FC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38FD1-48F7-5E65-4321-934E15CCB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CSS = </a:t>
            </a:r>
            <a:r>
              <a:rPr lang="en-US" sz="2000" b="1"/>
              <a:t>Cascading Style Sheets</a:t>
            </a:r>
            <a:endParaRPr lang="en-US" sz="2000"/>
          </a:p>
          <a:p>
            <a:pPr marL="0" indent="0">
              <a:buNone/>
            </a:pPr>
            <a:r>
              <a:rPr lang="en-US" sz="2000"/>
              <a:t>- It defines </a:t>
            </a:r>
            <a:r>
              <a:rPr lang="en-US" sz="2000" b="1"/>
              <a:t>how HTML elements are displayed</a:t>
            </a:r>
            <a:r>
              <a:rPr lang="en-US" sz="2000"/>
              <a:t>.</a:t>
            </a:r>
          </a:p>
          <a:p>
            <a:pPr marL="0" indent="0">
              <a:buNone/>
            </a:pPr>
            <a:r>
              <a:rPr lang="en-US" sz="2000"/>
              <a:t>- Controls </a:t>
            </a:r>
            <a:r>
              <a:rPr lang="en-US" sz="2000" b="1"/>
              <a:t>colors, layouts, fonts, spacing, and animations</a:t>
            </a:r>
            <a:r>
              <a:rPr lang="en-US" sz="2000"/>
              <a:t>.</a:t>
            </a:r>
          </a:p>
          <a:p>
            <a:pPr marL="0" indent="0">
              <a:buNone/>
            </a:pPr>
            <a:r>
              <a:rPr lang="en-US" sz="2000"/>
              <a:t>- Works with HTML and JavaScript.</a:t>
            </a:r>
          </a:p>
          <a:p>
            <a:pPr marL="0" indent="0">
              <a:buNone/>
            </a:pPr>
            <a:r>
              <a:rPr lang="en-US" sz="2000" b="1">
                <a:highlight>
                  <a:srgbClr val="FFFF00"/>
                </a:highlight>
              </a:rPr>
              <a:t>Note:</a:t>
            </a:r>
            <a:r>
              <a:rPr lang="en-US" sz="2000"/>
              <a:t> </a:t>
            </a:r>
            <a:r>
              <a:rPr lang="en-US" sz="2000" b="1"/>
              <a:t>HTML = structure</a:t>
            </a:r>
            <a:r>
              <a:rPr lang="en-US" sz="2000"/>
              <a:t>, </a:t>
            </a:r>
            <a:r>
              <a:rPr lang="en-US" sz="2000" b="1"/>
              <a:t>CSS = design</a:t>
            </a:r>
            <a:r>
              <a:rPr lang="en-US" sz="2000"/>
              <a:t>, </a:t>
            </a:r>
            <a:r>
              <a:rPr lang="en-US" sz="2000" b="1"/>
              <a:t>JS = interaction</a:t>
            </a:r>
            <a:r>
              <a:rPr lang="en-US" sz="2000"/>
              <a:t>.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55055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05A44-8A6C-341F-0179-91503DF2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28B905-5E6F-BB70-D48E-4CD5A3F53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Use CSS?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D0C0F80-FD1B-AB83-380E-0EBC64A69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dirty="0"/>
              <a:t>Separate content from design</a:t>
            </a:r>
          </a:p>
          <a:p>
            <a:r>
              <a:rPr lang="en-US" dirty="0"/>
              <a:t>Reuse styles across multiple pages</a:t>
            </a:r>
          </a:p>
          <a:p>
            <a:r>
              <a:rPr lang="en-US" dirty="0"/>
              <a:t>Create responsive, modern layouts</a:t>
            </a:r>
          </a:p>
          <a:p>
            <a:r>
              <a:rPr lang="en-US" dirty="0"/>
              <a:t>Improve website speed and consistency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229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79FCD-3A0C-820F-2B2A-9765ABF2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CSS Syntax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0DE700-090E-34F1-C7E6-76A8F5787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Basic CSS Syntax: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selector { property: value; }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b="1" dirty="0"/>
              <a:t>Explanation:</a:t>
            </a:r>
            <a:r>
              <a:rPr lang="en-US" dirty="0"/>
              <a:t> Selector – which element we will style; Property – which aspect of the element we want to change; Value – how we style that property.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</a:rPr>
              <a:t>p { color: blue; font-size: 18px; }</a:t>
            </a:r>
          </a:p>
        </p:txBody>
      </p:sp>
    </p:spTree>
    <p:extLst>
      <p:ext uri="{BB962C8B-B14F-4D97-AF65-F5344CB8AC3E}">
        <p14:creationId xmlns:p14="http://schemas.microsoft.com/office/powerpoint/2010/main" val="2640579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4ADF1-A220-9154-1930-22C88BA7A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F0609-6C80-9109-387F-0B9424260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CSS – Using Method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4422CA6-0408-5827-AA01-E9CCD8604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CSS can be applied in </a:t>
            </a:r>
            <a:r>
              <a:rPr lang="en-US" b="1" dirty="0"/>
              <a:t>three main ways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Inline CSS</a:t>
            </a:r>
            <a:r>
              <a:rPr lang="en-US" dirty="0"/>
              <a:t> – directly in the HTML element</a:t>
            </a:r>
          </a:p>
          <a:p>
            <a:pPr marL="0" indent="0">
              <a:buNone/>
            </a:pPr>
            <a:r>
              <a:rPr lang="en-US" b="1" dirty="0"/>
              <a:t>Internal CSS</a:t>
            </a:r>
            <a:r>
              <a:rPr lang="en-US" dirty="0"/>
              <a:t> – inside a &lt;style&gt; tag in the HTML &lt;head&gt;</a:t>
            </a:r>
          </a:p>
          <a:p>
            <a:pPr marL="0" indent="0">
              <a:buNone/>
            </a:pPr>
            <a:r>
              <a:rPr lang="en-US" b="1" dirty="0"/>
              <a:t>External CSS</a:t>
            </a:r>
            <a:r>
              <a:rPr lang="en-US" dirty="0"/>
              <a:t> – in a separate .</a:t>
            </a:r>
            <a:r>
              <a:rPr lang="en-US" dirty="0" err="1"/>
              <a:t>css</a:t>
            </a:r>
            <a:r>
              <a:rPr lang="en-US" dirty="0"/>
              <a:t> file linked to HTML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684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009DB-BFB4-AF75-C100-C8FCF8E75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03DFEC-2D6C-42D7-38C5-752DBD746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Inline CSS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1D35AAE-6D42-4FA0-510F-915257D8C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91440" lvl="1" indent="0" algn="ctr">
              <a:buNone/>
            </a:pPr>
            <a:r>
              <a:rPr lang="en-US" sz="2800" dirty="0"/>
              <a:t>&lt;p style="color: red; font-size: 18px;"&gt;</a:t>
            </a:r>
            <a:r>
              <a:rPr lang="en-US" sz="2800" dirty="0">
                <a:solidFill>
                  <a:srgbClr val="FF0000"/>
                </a:solidFill>
              </a:rPr>
              <a:t>Hello World</a:t>
            </a:r>
            <a:r>
              <a:rPr lang="en-US" sz="2800" dirty="0"/>
              <a:t>!&lt;/p&gt;</a:t>
            </a:r>
          </a:p>
        </p:txBody>
      </p:sp>
    </p:spTree>
    <p:extLst>
      <p:ext uri="{BB962C8B-B14F-4D97-AF65-F5344CB8AC3E}">
        <p14:creationId xmlns:p14="http://schemas.microsoft.com/office/powerpoint/2010/main" val="3570495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CB1F2-3AD3-3D8C-2F75-1036BCC4E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6BD73-3708-5A56-7E0D-34CF4CBB8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Internal CSS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CAADB60-9213-381B-329E-6F601648F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622744"/>
            <a:ext cx="9724031" cy="503205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dirty="0"/>
              <a:t>&lt;html&gt;</a:t>
            </a:r>
          </a:p>
          <a:p>
            <a:pPr marL="0" indent="0">
              <a:buNone/>
            </a:pPr>
            <a:r>
              <a:rPr lang="en-US" sz="2000" dirty="0"/>
              <a:t>         &lt;head&gt;</a:t>
            </a:r>
          </a:p>
          <a:p>
            <a:pPr marL="0" indent="0">
              <a:buNone/>
            </a:pPr>
            <a:r>
              <a:rPr lang="en-US" sz="2000" dirty="0"/>
              <a:t>                      &lt;style&gt;</a:t>
            </a:r>
          </a:p>
          <a:p>
            <a:pPr marL="0" indent="0">
              <a:buNone/>
            </a:pPr>
            <a:r>
              <a:rPr lang="en-US" sz="2000" dirty="0"/>
              <a:t>                                    h1 {</a:t>
            </a:r>
          </a:p>
          <a:p>
            <a:pPr marL="0" indent="0">
              <a:buNone/>
            </a:pPr>
            <a:r>
              <a:rPr lang="en-US" sz="2000" dirty="0"/>
              <a:t>                                                color: red;</a:t>
            </a:r>
          </a:p>
          <a:p>
            <a:pPr marL="0" indent="0">
              <a:buNone/>
            </a:pPr>
            <a:r>
              <a:rPr lang="en-US" sz="2000" dirty="0"/>
              <a:t>                                        }</a:t>
            </a:r>
          </a:p>
          <a:p>
            <a:pPr marL="0" indent="0">
              <a:buNone/>
            </a:pPr>
            <a:r>
              <a:rPr lang="en-US" sz="2000" dirty="0"/>
              <a:t>                      &lt;/style&gt;</a:t>
            </a:r>
          </a:p>
          <a:p>
            <a:pPr marL="0" indent="0">
              <a:buNone/>
            </a:pPr>
            <a:r>
              <a:rPr lang="en-US" sz="2000" dirty="0"/>
              <a:t>          &lt;/head&gt;</a:t>
            </a:r>
          </a:p>
          <a:p>
            <a:pPr marL="0" indent="0">
              <a:buNone/>
            </a:pPr>
            <a:r>
              <a:rPr lang="en-US" sz="2000" dirty="0"/>
              <a:t>          &lt;body&gt;</a:t>
            </a:r>
          </a:p>
          <a:p>
            <a:pPr marL="0" indent="0">
              <a:buNone/>
            </a:pPr>
            <a:r>
              <a:rPr lang="en-US" sz="2000" dirty="0"/>
              <a:t>                       &lt;h1&gt;</a:t>
            </a:r>
            <a:r>
              <a:rPr lang="en-US" sz="2000" dirty="0">
                <a:solidFill>
                  <a:srgbClr val="FF0000"/>
                </a:solidFill>
              </a:rPr>
              <a:t>This is CSS Page</a:t>
            </a:r>
            <a:r>
              <a:rPr lang="en-US" sz="2000" dirty="0"/>
              <a:t>&lt;/h1&gt;</a:t>
            </a:r>
          </a:p>
          <a:p>
            <a:pPr marL="0" indent="0">
              <a:buNone/>
            </a:pPr>
            <a:r>
              <a:rPr lang="en-US" sz="2000" dirty="0"/>
              <a:t>          &lt;/body&gt;</a:t>
            </a:r>
          </a:p>
          <a:p>
            <a:pPr marL="0" indent="0">
              <a:buNone/>
            </a:pPr>
            <a:r>
              <a:rPr lang="en-US" sz="20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88051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707E8-EE41-DE45-7AD5-7BEE611F5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3FCB91-4F6E-9FCF-2CF3-6651D291F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External CSS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3F3434E-4505-68A6-FD18-F3905EF30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235200"/>
            <a:ext cx="6583681" cy="3766355"/>
          </a:xfr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Html.html</a:t>
            </a:r>
          </a:p>
          <a:p>
            <a:pPr marL="0" indent="0">
              <a:buNone/>
            </a:pPr>
            <a:r>
              <a:rPr lang="en-US" sz="2000" dirty="0"/>
              <a:t>&lt;html&gt;</a:t>
            </a:r>
          </a:p>
          <a:p>
            <a:pPr marL="0" indent="0">
              <a:buNone/>
            </a:pPr>
            <a:r>
              <a:rPr lang="en-US" sz="2000" dirty="0"/>
              <a:t>            &lt;head&gt;</a:t>
            </a:r>
          </a:p>
          <a:p>
            <a:pPr marL="0" indent="0">
              <a:buNone/>
            </a:pPr>
            <a:r>
              <a:rPr lang="en-US" sz="2000" dirty="0"/>
              <a:t>                           &lt;link </a:t>
            </a:r>
            <a:r>
              <a:rPr lang="en-US" sz="2000" dirty="0" err="1"/>
              <a:t>rel</a:t>
            </a:r>
            <a:r>
              <a:rPr lang="en-US" sz="2000" dirty="0"/>
              <a:t>=“stylesheet.css” </a:t>
            </a:r>
            <a:r>
              <a:rPr lang="en-US" sz="2000" dirty="0" err="1"/>
              <a:t>href</a:t>
            </a:r>
            <a:r>
              <a:rPr lang="en-US" sz="2000" dirty="0"/>
              <a:t>=“Style.css”&gt;</a:t>
            </a:r>
          </a:p>
          <a:p>
            <a:pPr marL="0" indent="0">
              <a:buNone/>
            </a:pPr>
            <a:r>
              <a:rPr lang="en-US" sz="2000" dirty="0"/>
              <a:t>            &lt;/head&gt;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             &lt;body&gt;</a:t>
            </a:r>
          </a:p>
          <a:p>
            <a:pPr marL="0" indent="0">
              <a:buNone/>
            </a:pPr>
            <a:r>
              <a:rPr lang="en-US" sz="2000" dirty="0"/>
              <a:t>                             &lt;h1 &gt;This is CSS Page&lt;/h1&gt;</a:t>
            </a:r>
          </a:p>
          <a:p>
            <a:pPr marL="0" indent="0">
              <a:buNone/>
            </a:pPr>
            <a:r>
              <a:rPr lang="en-US" sz="2000" dirty="0"/>
              <a:t>             &lt;/body&gt;</a:t>
            </a:r>
          </a:p>
          <a:p>
            <a:pPr marL="0" indent="0">
              <a:buNone/>
            </a:pPr>
            <a:r>
              <a:rPr lang="en-US" sz="2000" dirty="0"/>
              <a:t>&lt;/html&gt;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BBE437-7DA5-8584-5ABB-FB6A6C4EEA36}"/>
              </a:ext>
            </a:extLst>
          </p:cNvPr>
          <p:cNvSpPr txBox="1"/>
          <p:nvPr/>
        </p:nvSpPr>
        <p:spPr>
          <a:xfrm>
            <a:off x="8249920" y="2235200"/>
            <a:ext cx="3332480" cy="1200329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Style.css</a:t>
            </a:r>
          </a:p>
          <a:p>
            <a:r>
              <a:rPr lang="en-US" dirty="0"/>
              <a:t>h1{</a:t>
            </a:r>
          </a:p>
          <a:p>
            <a:r>
              <a:rPr lang="en-US" dirty="0"/>
              <a:t>color: red;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74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9A4E88-77D2-47B3-CA4A-DED518B6CC7F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Confusion in CSS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7B0A4-25C8-BC33-D294-1F35BA269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1013968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/>
              <a:t>What will be happen if we will  use three method in one element for same attribute  ?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4452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2CB07-4AB2-3CF8-F679-668B11D33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Confusion Solve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F65D8-5D12-65A4-EAA7-775437463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b="1" dirty="0"/>
              <a:t>CSS Priority Order (Cascade Rule)</a:t>
            </a:r>
            <a:r>
              <a:rPr lang="en-US" sz="3600" dirty="0"/>
              <a:t>:“Cascade” means </a:t>
            </a:r>
            <a:r>
              <a:rPr lang="en-US" sz="3600" b="1" dirty="0"/>
              <a:t>the order of importance</a:t>
            </a:r>
            <a:r>
              <a:rPr lang="en-US" sz="3600" dirty="0"/>
              <a:t> when multiple styles affect the same element.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911358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2F31BE-772E-F4BD-C712-639A29EB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96CB8D-CF61-2512-D9AA-C43582CE8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Confusion Solve Method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F614F96-E211-3274-C065-16658DCCE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53242"/>
              </p:ext>
            </p:extLst>
          </p:nvPr>
        </p:nvGraphicFramePr>
        <p:xfrm>
          <a:off x="432225" y="2680131"/>
          <a:ext cx="11327550" cy="30244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395">
                  <a:extLst>
                    <a:ext uri="{9D8B030D-6E8A-4147-A177-3AD203B41FA5}">
                      <a16:colId xmlns:a16="http://schemas.microsoft.com/office/drawing/2014/main" val="3655734161"/>
                    </a:ext>
                  </a:extLst>
                </a:gridCol>
                <a:gridCol w="2254418">
                  <a:extLst>
                    <a:ext uri="{9D8B030D-6E8A-4147-A177-3AD203B41FA5}">
                      <a16:colId xmlns:a16="http://schemas.microsoft.com/office/drawing/2014/main" val="4208724351"/>
                    </a:ext>
                  </a:extLst>
                </a:gridCol>
                <a:gridCol w="5967012">
                  <a:extLst>
                    <a:ext uri="{9D8B030D-6E8A-4147-A177-3AD203B41FA5}">
                      <a16:colId xmlns:a16="http://schemas.microsoft.com/office/drawing/2014/main" val="2069074842"/>
                    </a:ext>
                  </a:extLst>
                </a:gridCol>
                <a:gridCol w="1742725">
                  <a:extLst>
                    <a:ext uri="{9D8B030D-6E8A-4147-A177-3AD203B41FA5}">
                      <a16:colId xmlns:a16="http://schemas.microsoft.com/office/drawing/2014/main" val="3997920561"/>
                    </a:ext>
                  </a:extLst>
                </a:gridCol>
              </a:tblGrid>
              <a:tr h="53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Priority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Method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Example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Notes</a:t>
                      </a:r>
                    </a:p>
                  </a:txBody>
                  <a:tcPr marL="121418" marR="121418" marT="60710" marB="60710" anchor="ctr"/>
                </a:tc>
                <a:extLst>
                  <a:ext uri="{0D108BD9-81ED-4DB2-BD59-A6C34878D82A}">
                    <a16:rowId xmlns:a16="http://schemas.microsoft.com/office/drawing/2014/main" val="277287623"/>
                  </a:ext>
                </a:extLst>
              </a:tr>
              <a:tr h="53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1️⃣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Inline CSS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Courier New" panose="02070309020205020404" pitchFamily="49" charset="0"/>
                        </a:rPr>
                        <a:t>&lt;h1 style="color:red;"&gt;</a:t>
                      </a:r>
                      <a:endParaRPr lang="en-US" sz="2400"/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Highest</a:t>
                      </a:r>
                    </a:p>
                  </a:txBody>
                  <a:tcPr marL="121418" marR="121418" marT="60710" marB="60710" anchor="ctr"/>
                </a:tc>
                <a:extLst>
                  <a:ext uri="{0D108BD9-81ED-4DB2-BD59-A6C34878D82A}">
                    <a16:rowId xmlns:a16="http://schemas.microsoft.com/office/drawing/2014/main" val="2701193176"/>
                  </a:ext>
                </a:extLst>
              </a:tr>
              <a:tr h="53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2️⃣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Internal CSS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Courier New" panose="02070309020205020404" pitchFamily="49" charset="0"/>
                        </a:rPr>
                        <a:t>&lt;style&gt;h1{color:blue;}&lt;/style&gt;</a:t>
                      </a:r>
                      <a:endParaRPr lang="en-US" sz="2400"/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Medium</a:t>
                      </a:r>
                    </a:p>
                  </a:txBody>
                  <a:tcPr marL="121418" marR="121418" marT="60710" marB="60710" anchor="ctr"/>
                </a:tc>
                <a:extLst>
                  <a:ext uri="{0D108BD9-81ED-4DB2-BD59-A6C34878D82A}">
                    <a16:rowId xmlns:a16="http://schemas.microsoft.com/office/drawing/2014/main" val="297995937"/>
                  </a:ext>
                </a:extLst>
              </a:tr>
              <a:tr h="530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3️⃣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External CSS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Courier New" panose="02070309020205020404" pitchFamily="49" charset="0"/>
                        </a:rPr>
                        <a:t>h1{color:green;}</a:t>
                      </a:r>
                      <a:endParaRPr lang="en-US" sz="2400"/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Lowest</a:t>
                      </a:r>
                    </a:p>
                  </a:txBody>
                  <a:tcPr marL="121418" marR="121418" marT="60710" marB="60710" anchor="ctr"/>
                </a:tc>
                <a:extLst>
                  <a:ext uri="{0D108BD9-81ED-4DB2-BD59-A6C34878D82A}">
                    <a16:rowId xmlns:a16="http://schemas.microsoft.com/office/drawing/2014/main" val="1581098979"/>
                  </a:ext>
                </a:extLst>
              </a:tr>
              <a:tr h="9024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⚡</a:t>
                      </a:r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Courier New" panose="02070309020205020404" pitchFamily="49" charset="0"/>
                        </a:rPr>
                        <a:t>!important</a:t>
                      </a:r>
                      <a:endParaRPr lang="en-US" sz="2400"/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Courier New" panose="02070309020205020404" pitchFamily="49" charset="0"/>
                        </a:rPr>
                        <a:t>color:purple !important;</a:t>
                      </a:r>
                      <a:endParaRPr lang="en-US" sz="2400"/>
                    </a:p>
                  </a:txBody>
                  <a:tcPr marL="121418" marR="121418" marT="60710" marB="607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Overrides all</a:t>
                      </a:r>
                    </a:p>
                  </a:txBody>
                  <a:tcPr marL="121418" marR="121418" marT="60710" marB="60710" anchor="ctr"/>
                </a:tc>
                <a:extLst>
                  <a:ext uri="{0D108BD9-81ED-4DB2-BD59-A6C34878D82A}">
                    <a16:rowId xmlns:a16="http://schemas.microsoft.com/office/drawing/2014/main" val="1179045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0740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DD3C2-A8F9-1B95-024C-362764323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Selectors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8F3D33-F213-22BC-1EC8-0A51ED558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2643265"/>
              </p:ext>
            </p:extLst>
          </p:nvPr>
        </p:nvGraphicFramePr>
        <p:xfrm>
          <a:off x="432225" y="2191344"/>
          <a:ext cx="11327550" cy="4002061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723794">
                  <a:extLst>
                    <a:ext uri="{9D8B030D-6E8A-4147-A177-3AD203B41FA5}">
                      <a16:colId xmlns:a16="http://schemas.microsoft.com/office/drawing/2014/main" val="4227829448"/>
                    </a:ext>
                  </a:extLst>
                </a:gridCol>
                <a:gridCol w="2764509">
                  <a:extLst>
                    <a:ext uri="{9D8B030D-6E8A-4147-A177-3AD203B41FA5}">
                      <a16:colId xmlns:a16="http://schemas.microsoft.com/office/drawing/2014/main" val="4294903804"/>
                    </a:ext>
                  </a:extLst>
                </a:gridCol>
                <a:gridCol w="5839247">
                  <a:extLst>
                    <a:ext uri="{9D8B030D-6E8A-4147-A177-3AD203B41FA5}">
                      <a16:colId xmlns:a16="http://schemas.microsoft.com/office/drawing/2014/main" val="4051813662"/>
                    </a:ext>
                  </a:extLst>
                </a:gridCol>
              </a:tblGrid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Selector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cap="none" spc="0">
                          <a:solidFill>
                            <a:schemeClr val="bg1"/>
                          </a:solidFill>
                        </a:rPr>
                        <a:t>Example</a:t>
                      </a:r>
                    </a:p>
                  </a:txBody>
                  <a:tcPr marL="157022" marR="148270" marT="120786" marB="12078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cap="none" spc="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marL="157022" marR="148270" marT="120786" marB="120786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7012068"/>
                  </a:ext>
                </a:extLst>
              </a:tr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Element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p {}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Targets all 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&lt;p&gt;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tags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311887"/>
                  </a:ext>
                </a:extLst>
              </a:tr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.box {}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Targets elements with 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class="box"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4223445"/>
                  </a:ext>
                </a:extLst>
              </a:tr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#main {}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Targets element with 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id="main"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466770"/>
                  </a:ext>
                </a:extLst>
              </a:tr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Grouping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h1, h2 {}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Styles multiple elements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072972"/>
                  </a:ext>
                </a:extLst>
              </a:tr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Universal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* {}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Targets all elements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756761"/>
                  </a:ext>
                </a:extLst>
              </a:tr>
              <a:tr h="57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Descendant</a:t>
                      </a: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div p {}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Targets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&lt;p&gt;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 inside </a:t>
                      </a:r>
                      <a:r>
                        <a:rPr lang="en-US" sz="1800" cap="none" spc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</a:rPr>
                        <a:t>&lt;div&gt;</a:t>
                      </a:r>
                      <a:endParaRPr lang="en-US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57022" marR="148270" marT="120786" marB="120786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168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1623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97E436-9C7B-5C9E-29E4-DE6F0169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Color Formats Supported in CSS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F6F3897-D4E0-6454-1743-13E8665495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988696"/>
              </p:ext>
            </p:extLst>
          </p:nvPr>
        </p:nvGraphicFramePr>
        <p:xfrm>
          <a:off x="644056" y="2311453"/>
          <a:ext cx="10927830" cy="3795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0020">
                  <a:extLst>
                    <a:ext uri="{9D8B030D-6E8A-4147-A177-3AD203B41FA5}">
                      <a16:colId xmlns:a16="http://schemas.microsoft.com/office/drawing/2014/main" val="4203382933"/>
                    </a:ext>
                  </a:extLst>
                </a:gridCol>
                <a:gridCol w="4374058">
                  <a:extLst>
                    <a:ext uri="{9D8B030D-6E8A-4147-A177-3AD203B41FA5}">
                      <a16:colId xmlns:a16="http://schemas.microsoft.com/office/drawing/2014/main" val="3633792897"/>
                    </a:ext>
                  </a:extLst>
                </a:gridCol>
                <a:gridCol w="4303752">
                  <a:extLst>
                    <a:ext uri="{9D8B030D-6E8A-4147-A177-3AD203B41FA5}">
                      <a16:colId xmlns:a16="http://schemas.microsoft.com/office/drawing/2014/main" val="2581621948"/>
                    </a:ext>
                  </a:extLst>
                </a:gridCol>
              </a:tblGrid>
              <a:tr h="56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Format</a:t>
                      </a:r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Example</a:t>
                      </a:r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Description</a:t>
                      </a:r>
                    </a:p>
                  </a:txBody>
                  <a:tcPr marL="130857" marR="130857" marT="65429" marB="65429" anchor="ctr"/>
                </a:tc>
                <a:extLst>
                  <a:ext uri="{0D108BD9-81ED-4DB2-BD59-A6C34878D82A}">
                    <a16:rowId xmlns:a16="http://schemas.microsoft.com/office/drawing/2014/main" val="1750963271"/>
                  </a:ext>
                </a:extLst>
              </a:tr>
              <a:tr h="56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/>
                        <a:t>Color name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urier New" panose="02070309020205020404" pitchFamily="49" charset="0"/>
                        </a:rPr>
                        <a:t>red</a:t>
                      </a:r>
                      <a:r>
                        <a:rPr lang="en-US" sz="2600"/>
                        <a:t>, </a:t>
                      </a:r>
                      <a:r>
                        <a:rPr lang="en-US" sz="2600">
                          <a:latin typeface="Courier New" panose="02070309020205020404" pitchFamily="49" charset="0"/>
                        </a:rPr>
                        <a:t>blue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Predefined color names</a:t>
                      </a:r>
                    </a:p>
                  </a:txBody>
                  <a:tcPr marL="130857" marR="130857" marT="65429" marB="65429" anchor="ctr"/>
                </a:tc>
                <a:extLst>
                  <a:ext uri="{0D108BD9-81ED-4DB2-BD59-A6C34878D82A}">
                    <a16:rowId xmlns:a16="http://schemas.microsoft.com/office/drawing/2014/main" val="3880429000"/>
                  </a:ext>
                </a:extLst>
              </a:tr>
              <a:tr h="56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/>
                        <a:t>HEX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urier New" panose="02070309020205020404" pitchFamily="49" charset="0"/>
                        </a:rPr>
                        <a:t>#FF0000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Hexadecimal color code</a:t>
                      </a:r>
                    </a:p>
                  </a:txBody>
                  <a:tcPr marL="130857" marR="130857" marT="65429" marB="65429" anchor="ctr"/>
                </a:tc>
                <a:extLst>
                  <a:ext uri="{0D108BD9-81ED-4DB2-BD59-A6C34878D82A}">
                    <a16:rowId xmlns:a16="http://schemas.microsoft.com/office/drawing/2014/main" val="3035901876"/>
                  </a:ext>
                </a:extLst>
              </a:tr>
              <a:tr h="56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/>
                        <a:t>RGB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urier New" panose="02070309020205020404" pitchFamily="49" charset="0"/>
                        </a:rPr>
                        <a:t>rgb(255, 0, 0)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Red, Green, Blue values</a:t>
                      </a:r>
                    </a:p>
                  </a:txBody>
                  <a:tcPr marL="130857" marR="130857" marT="65429" marB="65429" anchor="ctr"/>
                </a:tc>
                <a:extLst>
                  <a:ext uri="{0D108BD9-81ED-4DB2-BD59-A6C34878D82A}">
                    <a16:rowId xmlns:a16="http://schemas.microsoft.com/office/drawing/2014/main" val="674838253"/>
                  </a:ext>
                </a:extLst>
              </a:tr>
              <a:tr h="96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/>
                        <a:t>RGBA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urier New" panose="02070309020205020404" pitchFamily="49" charset="0"/>
                        </a:rPr>
                        <a:t>rgba(255, 0, 0, 0.5)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/>
                        <a:t>RGB + transparency (opacity)</a:t>
                      </a:r>
                    </a:p>
                  </a:txBody>
                  <a:tcPr marL="130857" marR="130857" marT="65429" marB="65429" anchor="ctr"/>
                </a:tc>
                <a:extLst>
                  <a:ext uri="{0D108BD9-81ED-4DB2-BD59-A6C34878D82A}">
                    <a16:rowId xmlns:a16="http://schemas.microsoft.com/office/drawing/2014/main" val="2556504624"/>
                  </a:ext>
                </a:extLst>
              </a:tr>
              <a:tr h="56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b="1" dirty="0"/>
                        <a:t>HSL</a:t>
                      </a:r>
                      <a:endParaRPr lang="en-US" sz="2600" dirty="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>
                          <a:latin typeface="Courier New" panose="02070309020205020404" pitchFamily="49" charset="0"/>
                        </a:rPr>
                        <a:t>hsl(0, 100%, 50%)</a:t>
                      </a:r>
                      <a:endParaRPr lang="en-US" sz="2600"/>
                    </a:p>
                  </a:txBody>
                  <a:tcPr marL="130857" marR="130857" marT="65429" marB="654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600" dirty="0"/>
                        <a:t>Hue, Saturation, Lightness</a:t>
                      </a:r>
                    </a:p>
                  </a:txBody>
                  <a:tcPr marL="130857" marR="130857" marT="65429" marB="65429" anchor="ctr"/>
                </a:tc>
                <a:extLst>
                  <a:ext uri="{0D108BD9-81ED-4DB2-BD59-A6C34878D82A}">
                    <a16:rowId xmlns:a16="http://schemas.microsoft.com/office/drawing/2014/main" val="368461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67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68E12E-C4A3-B339-7852-11AC8A38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0B2470-64CD-8637-874E-8A11C39A9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Border &amp; Outline Properties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0686133-E361-3F50-0F2F-279379F4F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401620"/>
              </p:ext>
            </p:extLst>
          </p:nvPr>
        </p:nvGraphicFramePr>
        <p:xfrm>
          <a:off x="432225" y="1980099"/>
          <a:ext cx="11327551" cy="4424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395">
                  <a:extLst>
                    <a:ext uri="{9D8B030D-6E8A-4147-A177-3AD203B41FA5}">
                      <a16:colId xmlns:a16="http://schemas.microsoft.com/office/drawing/2014/main" val="4203382933"/>
                    </a:ext>
                  </a:extLst>
                </a:gridCol>
                <a:gridCol w="3987179">
                  <a:extLst>
                    <a:ext uri="{9D8B030D-6E8A-4147-A177-3AD203B41FA5}">
                      <a16:colId xmlns:a16="http://schemas.microsoft.com/office/drawing/2014/main" val="1109509741"/>
                    </a:ext>
                  </a:extLst>
                </a:gridCol>
                <a:gridCol w="2056044">
                  <a:extLst>
                    <a:ext uri="{9D8B030D-6E8A-4147-A177-3AD203B41FA5}">
                      <a16:colId xmlns:a16="http://schemas.microsoft.com/office/drawing/2014/main" val="3633792897"/>
                    </a:ext>
                  </a:extLst>
                </a:gridCol>
                <a:gridCol w="3199933">
                  <a:extLst>
                    <a:ext uri="{9D8B030D-6E8A-4147-A177-3AD203B41FA5}">
                      <a16:colId xmlns:a16="http://schemas.microsoft.com/office/drawing/2014/main" val="2581621948"/>
                    </a:ext>
                  </a:extLst>
                </a:gridCol>
              </a:tblGrid>
              <a:tr h="521489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57778" marR="157778" marT="98611" marB="98611" anchor="ctr"/>
                </a:tc>
                <a:extLst>
                  <a:ext uri="{0D108BD9-81ED-4DB2-BD59-A6C34878D82A}">
                    <a16:rowId xmlns:a16="http://schemas.microsoft.com/office/drawing/2014/main" val="1750963271"/>
                  </a:ext>
                </a:extLst>
              </a:tr>
              <a:tr h="79641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border-radius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length, percentage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Rounded corners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border-radius: 8px;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57778" marR="118334" marT="98611" marB="98611" anchor="ctr"/>
                </a:tc>
                <a:extLst>
                  <a:ext uri="{0D108BD9-81ED-4DB2-BD59-A6C34878D82A}">
                    <a16:rowId xmlns:a16="http://schemas.microsoft.com/office/drawing/2014/main" val="1163974917"/>
                  </a:ext>
                </a:extLst>
              </a:tr>
              <a:tr h="52148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border-width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Border width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border-width: 2px;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57778" marR="118334" marT="98611" marB="98611" anchor="ctr"/>
                </a:tc>
                <a:extLst>
                  <a:ext uri="{0D108BD9-81ED-4DB2-BD59-A6C34878D82A}">
                    <a16:rowId xmlns:a16="http://schemas.microsoft.com/office/drawing/2014/main" val="3880429000"/>
                  </a:ext>
                </a:extLst>
              </a:tr>
              <a:tr h="52148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 dirty="0">
                          <a:effectLst/>
                          <a:latin typeface="Menlo"/>
                        </a:rPr>
                        <a:t>border-style</a:t>
                      </a:r>
                      <a:endParaRPr lang="en-US" sz="2300" b="0" dirty="0">
                        <a:effectLst/>
                        <a:latin typeface="quote-cjk-patch"/>
                      </a:endParaRP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solid</a:t>
                      </a:r>
                      <a:r>
                        <a:rPr lang="en-US" sz="23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300" b="0">
                          <a:effectLst/>
                          <a:latin typeface="Menlo"/>
                        </a:rPr>
                        <a:t>dashed</a:t>
                      </a:r>
                      <a:r>
                        <a:rPr lang="en-US" sz="23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300" b="0">
                          <a:effectLst/>
                          <a:latin typeface="Menlo"/>
                        </a:rPr>
                        <a:t>dotted</a:t>
                      </a:r>
                      <a:r>
                        <a:rPr lang="en-US" sz="23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300" b="0">
                          <a:effectLst/>
                          <a:latin typeface="Menlo"/>
                        </a:rPr>
                        <a:t>double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Border style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border-style: solid;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57778" marR="118334" marT="98611" marB="98611" anchor="ctr"/>
                </a:tc>
                <a:extLst>
                  <a:ext uri="{0D108BD9-81ED-4DB2-BD59-A6C34878D82A}">
                    <a16:rowId xmlns:a16="http://schemas.microsoft.com/office/drawing/2014/main" val="3035901876"/>
                  </a:ext>
                </a:extLst>
              </a:tr>
              <a:tr h="52148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border-color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color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Border color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border-color: #ccc;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57778" marR="118334" marT="98611" marB="98611" anchor="ctr"/>
                </a:tc>
                <a:extLst>
                  <a:ext uri="{0D108BD9-81ED-4DB2-BD59-A6C34878D82A}">
                    <a16:rowId xmlns:a16="http://schemas.microsoft.com/office/drawing/2014/main" val="674838253"/>
                  </a:ext>
                </a:extLst>
              </a:tr>
              <a:tr h="79641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outline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width style color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Outline shorthand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 dirty="0">
                          <a:effectLst/>
                          <a:latin typeface="Menlo"/>
                        </a:rPr>
                        <a:t>outline: 2px solid red;</a:t>
                      </a:r>
                      <a:endParaRPr lang="en-US" sz="2300" b="0" dirty="0">
                        <a:effectLst/>
                        <a:latin typeface="quote-cjk-patch"/>
                      </a:endParaRPr>
                    </a:p>
                  </a:txBody>
                  <a:tcPr marL="157778" marR="118334" marT="98611" marB="98611" anchor="ctr"/>
                </a:tc>
                <a:extLst>
                  <a:ext uri="{0D108BD9-81ED-4DB2-BD59-A6C34878D82A}">
                    <a16:rowId xmlns:a16="http://schemas.microsoft.com/office/drawing/2014/main" val="2556504624"/>
                  </a:ext>
                </a:extLst>
              </a:tr>
              <a:tr h="74576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box-shadow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18334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offset-x offset-y blur color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quote-cjk-patch"/>
                        </a:rPr>
                        <a:t>Box shadow</a:t>
                      </a:r>
                    </a:p>
                  </a:txBody>
                  <a:tcPr marL="157778" marR="157778" marT="98611" marB="9861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300" b="0">
                          <a:effectLst/>
                          <a:latin typeface="Menlo"/>
                        </a:rPr>
                        <a:t>box-shadow: 0 2px 4px rgba(0,0,0,0.1);</a:t>
                      </a:r>
                      <a:endParaRPr lang="en-US" sz="2300" b="0">
                        <a:effectLst/>
                        <a:latin typeface="quote-cjk-patch"/>
                      </a:endParaRPr>
                    </a:p>
                  </a:txBody>
                  <a:tcPr marL="157778" marR="118334" marT="98611" marB="98611" anchor="ctr"/>
                </a:tc>
                <a:extLst>
                  <a:ext uri="{0D108BD9-81ED-4DB2-BD59-A6C34878D82A}">
                    <a16:rowId xmlns:a16="http://schemas.microsoft.com/office/drawing/2014/main" val="368461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4327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859759-DA1D-E1EC-9998-E1E23384F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Backgrounds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A10FF57-E8AA-C9D1-570B-644B2ED5AC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8307231"/>
              </p:ext>
            </p:extLst>
          </p:nvPr>
        </p:nvGraphicFramePr>
        <p:xfrm>
          <a:off x="432225" y="2024493"/>
          <a:ext cx="11327551" cy="4335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046">
                  <a:extLst>
                    <a:ext uri="{9D8B030D-6E8A-4147-A177-3AD203B41FA5}">
                      <a16:colId xmlns:a16="http://schemas.microsoft.com/office/drawing/2014/main" val="771256146"/>
                    </a:ext>
                  </a:extLst>
                </a:gridCol>
                <a:gridCol w="3758650">
                  <a:extLst>
                    <a:ext uri="{9D8B030D-6E8A-4147-A177-3AD203B41FA5}">
                      <a16:colId xmlns:a16="http://schemas.microsoft.com/office/drawing/2014/main" val="1155282666"/>
                    </a:ext>
                  </a:extLst>
                </a:gridCol>
                <a:gridCol w="2476136">
                  <a:extLst>
                    <a:ext uri="{9D8B030D-6E8A-4147-A177-3AD203B41FA5}">
                      <a16:colId xmlns:a16="http://schemas.microsoft.com/office/drawing/2014/main" val="528493501"/>
                    </a:ext>
                  </a:extLst>
                </a:gridCol>
                <a:gridCol w="2750719">
                  <a:extLst>
                    <a:ext uri="{9D8B030D-6E8A-4147-A177-3AD203B41FA5}">
                      <a16:colId xmlns:a16="http://schemas.microsoft.com/office/drawing/2014/main" val="91999962"/>
                    </a:ext>
                  </a:extLst>
                </a:gridCol>
              </a:tblGrid>
              <a:tr h="510444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08477" marR="144636" marT="90397" marB="9039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44636" marR="144636" marT="90397" marB="90397" anchor="ctr"/>
                </a:tc>
                <a:extLst>
                  <a:ext uri="{0D108BD9-81ED-4DB2-BD59-A6C34878D82A}">
                    <a16:rowId xmlns:a16="http://schemas.microsoft.com/office/drawing/2014/main" val="16981933"/>
                  </a:ext>
                </a:extLst>
              </a:tr>
              <a:tr h="74397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background-color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8477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color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Background color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background-color: #fff;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08477" marT="90397" marB="90397" anchor="ctr"/>
                </a:tc>
                <a:extLst>
                  <a:ext uri="{0D108BD9-81ED-4DB2-BD59-A6C34878D82A}">
                    <a16:rowId xmlns:a16="http://schemas.microsoft.com/office/drawing/2014/main" val="2240146773"/>
                  </a:ext>
                </a:extLst>
              </a:tr>
              <a:tr h="74397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background-image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8477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url()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linear-gradient()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radial-gradient()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Background image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background-image: url('image.jpg');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08477" marT="90397" marB="90397" anchor="ctr"/>
                </a:tc>
                <a:extLst>
                  <a:ext uri="{0D108BD9-81ED-4DB2-BD59-A6C34878D82A}">
                    <a16:rowId xmlns:a16="http://schemas.microsoft.com/office/drawing/2014/main" val="2457159895"/>
                  </a:ext>
                </a:extLst>
              </a:tr>
              <a:tr h="74397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background-size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8477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cover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contain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 length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Background size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background-size: cover;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08477" marT="90397" marB="90397" anchor="ctr"/>
                </a:tc>
                <a:extLst>
                  <a:ext uri="{0D108BD9-81ED-4DB2-BD59-A6C34878D82A}">
                    <a16:rowId xmlns:a16="http://schemas.microsoft.com/office/drawing/2014/main" val="1864646200"/>
                  </a:ext>
                </a:extLst>
              </a:tr>
              <a:tr h="79670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background-position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8477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top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bottom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left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right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center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Background position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background-position: center;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08477" marT="90397" marB="90397" anchor="ctr"/>
                </a:tc>
                <a:extLst>
                  <a:ext uri="{0D108BD9-81ED-4DB2-BD59-A6C34878D82A}">
                    <a16:rowId xmlns:a16="http://schemas.microsoft.com/office/drawing/2014/main" val="3721522616"/>
                  </a:ext>
                </a:extLst>
              </a:tr>
              <a:tr h="79670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background-repeat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8477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repeat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no-repeat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repeat-x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repeat-y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Background repetition</a:t>
                      </a:r>
                    </a:p>
                  </a:txBody>
                  <a:tcPr marL="144636" marR="144636" marT="90397" marB="9039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background-repeat: no-repeat;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4636" marR="108477" marT="90397" marB="90397" anchor="ctr"/>
                </a:tc>
                <a:extLst>
                  <a:ext uri="{0D108BD9-81ED-4DB2-BD59-A6C34878D82A}">
                    <a16:rowId xmlns:a16="http://schemas.microsoft.com/office/drawing/2014/main" val="252067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61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D12498-55BE-647C-DDE0-E249A9E0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</a:rPr>
              <a:t>Box Model</a:t>
            </a:r>
            <a:br>
              <a:rPr lang="en-US" sz="3400" b="1">
                <a:solidFill>
                  <a:srgbClr val="FFFFFF"/>
                </a:solidFill>
              </a:rPr>
            </a:br>
            <a:endParaRPr lang="en-US" sz="3400">
              <a:solidFill>
                <a:srgbClr val="FFFFFF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5B2A6EE-3FDD-3A05-92E6-30D0F656BB1D}"/>
              </a:ext>
            </a:extLst>
          </p:cNvPr>
          <p:cNvGrpSpPr/>
          <p:nvPr/>
        </p:nvGrpSpPr>
        <p:grpSpPr>
          <a:xfrm>
            <a:off x="3268505" y="1997685"/>
            <a:ext cx="5654986" cy="3970069"/>
            <a:chOff x="2062677" y="1946885"/>
            <a:chExt cx="5654986" cy="397006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49AD33-FA13-F266-CDB9-55E573AF5527}"/>
                </a:ext>
              </a:extLst>
            </p:cNvPr>
            <p:cNvSpPr/>
            <p:nvPr/>
          </p:nvSpPr>
          <p:spPr>
            <a:xfrm>
              <a:off x="2062677" y="1946885"/>
              <a:ext cx="5654986" cy="397006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Margin 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FBC5BC1-2C89-7B0F-596F-371B768E06C6}"/>
                </a:ext>
              </a:extLst>
            </p:cNvPr>
            <p:cNvSpPr/>
            <p:nvPr/>
          </p:nvSpPr>
          <p:spPr>
            <a:xfrm>
              <a:off x="2589246" y="2468124"/>
              <a:ext cx="4601848" cy="289635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Border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6F1F4FE-1A5E-F50C-27FC-1265CD157B5D}"/>
                </a:ext>
              </a:extLst>
            </p:cNvPr>
            <p:cNvSpPr/>
            <p:nvPr/>
          </p:nvSpPr>
          <p:spPr>
            <a:xfrm>
              <a:off x="2966721" y="2844800"/>
              <a:ext cx="3860800" cy="217424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/>
                <a:t>Padding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3BF8AA0-F2FF-954C-7418-69EA282365F9}"/>
                </a:ext>
              </a:extLst>
            </p:cNvPr>
            <p:cNvSpPr/>
            <p:nvPr/>
          </p:nvSpPr>
          <p:spPr>
            <a:xfrm>
              <a:off x="3515360" y="3271520"/>
              <a:ext cx="2783840" cy="1270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9499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37F4E-88AE-8DEA-2265-31EA14F68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4BD6E3-41BA-D61A-3B3F-EEE859902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Box Model Properties</a:t>
            </a:r>
            <a:b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7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8F754CF-B104-C609-0577-B343B3179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651661"/>
              </p:ext>
            </p:extLst>
          </p:nvPr>
        </p:nvGraphicFramePr>
        <p:xfrm>
          <a:off x="432225" y="2322287"/>
          <a:ext cx="11327550" cy="374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969">
                  <a:extLst>
                    <a:ext uri="{9D8B030D-6E8A-4147-A177-3AD203B41FA5}">
                      <a16:colId xmlns:a16="http://schemas.microsoft.com/office/drawing/2014/main" val="3886720201"/>
                    </a:ext>
                  </a:extLst>
                </a:gridCol>
                <a:gridCol w="3739116">
                  <a:extLst>
                    <a:ext uri="{9D8B030D-6E8A-4147-A177-3AD203B41FA5}">
                      <a16:colId xmlns:a16="http://schemas.microsoft.com/office/drawing/2014/main" val="827564398"/>
                    </a:ext>
                  </a:extLst>
                </a:gridCol>
                <a:gridCol w="2730039">
                  <a:extLst>
                    <a:ext uri="{9D8B030D-6E8A-4147-A177-3AD203B41FA5}">
                      <a16:colId xmlns:a16="http://schemas.microsoft.com/office/drawing/2014/main" val="2958214265"/>
                    </a:ext>
                  </a:extLst>
                </a:gridCol>
                <a:gridCol w="3157426">
                  <a:extLst>
                    <a:ext uri="{9D8B030D-6E8A-4147-A177-3AD203B41FA5}">
                      <a16:colId xmlns:a16="http://schemas.microsoft.com/office/drawing/2014/main" val="1124129632"/>
                    </a:ext>
                  </a:extLst>
                </a:gridCol>
              </a:tblGrid>
              <a:tr h="4705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30613" marR="130613" marT="81633" marB="81633" anchor="ctr"/>
                </a:tc>
                <a:extLst>
                  <a:ext uri="{0D108BD9-81ED-4DB2-BD59-A6C34878D82A}">
                    <a16:rowId xmlns:a16="http://schemas.microsoft.com/office/drawing/2014/main" val="3675851868"/>
                  </a:ext>
                </a:extLst>
              </a:tr>
              <a:tr h="47050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width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length, percentage, </a:t>
                      </a:r>
                      <a:r>
                        <a:rPr lang="en-US" sz="2500" b="0">
                          <a:effectLst/>
                          <a:latin typeface="Menlo"/>
                        </a:rPr>
                        <a:t>auto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Element width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width: 100%;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97959" marT="81633" marB="81633" anchor="ctr"/>
                </a:tc>
                <a:extLst>
                  <a:ext uri="{0D108BD9-81ED-4DB2-BD59-A6C34878D82A}">
                    <a16:rowId xmlns:a16="http://schemas.microsoft.com/office/drawing/2014/main" val="146819382"/>
                  </a:ext>
                </a:extLst>
              </a:tr>
              <a:tr h="47050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height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length, percentage, </a:t>
                      </a:r>
                      <a:r>
                        <a:rPr lang="en-US" sz="2500" b="0">
                          <a:effectLst/>
                          <a:latin typeface="Menlo"/>
                        </a:rPr>
                        <a:t>auto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Element height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height: 200px;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97959" marT="81633" marB="81633" anchor="ctr"/>
                </a:tc>
                <a:extLst>
                  <a:ext uri="{0D108BD9-81ED-4DB2-BD59-A6C34878D82A}">
                    <a16:rowId xmlns:a16="http://schemas.microsoft.com/office/drawing/2014/main" val="1422239171"/>
                  </a:ext>
                </a:extLst>
              </a:tr>
              <a:tr h="47050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 dirty="0">
                          <a:effectLst/>
                          <a:latin typeface="Menlo"/>
                        </a:rPr>
                        <a:t>margin</a:t>
                      </a:r>
                      <a:endParaRPr lang="en-US" sz="2500" b="0" dirty="0">
                        <a:effectLst/>
                        <a:latin typeface="quote-cjk-patch"/>
                      </a:endParaRP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length, percentage, </a:t>
                      </a:r>
                      <a:r>
                        <a:rPr lang="en-US" sz="2500" b="0">
                          <a:effectLst/>
                          <a:latin typeface="Menlo"/>
                        </a:rPr>
                        <a:t>auto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Outer spacing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margin: 10px;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97959" marT="81633" marB="81633" anchor="ctr"/>
                </a:tc>
                <a:extLst>
                  <a:ext uri="{0D108BD9-81ED-4DB2-BD59-A6C34878D82A}">
                    <a16:rowId xmlns:a16="http://schemas.microsoft.com/office/drawing/2014/main" val="1506568651"/>
                  </a:ext>
                </a:extLst>
              </a:tr>
              <a:tr h="47050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padding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length, percentage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Inner spacing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padding: 1rem;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97959" marT="81633" marB="81633" anchor="ctr"/>
                </a:tc>
                <a:extLst>
                  <a:ext uri="{0D108BD9-81ED-4DB2-BD59-A6C34878D82A}">
                    <a16:rowId xmlns:a16="http://schemas.microsoft.com/office/drawing/2014/main" val="3704966992"/>
                  </a:ext>
                </a:extLst>
              </a:tr>
              <a:tr h="67118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border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width style color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Border shorthand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border: 1px solid #000;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97959" marT="81633" marB="81633" anchor="ctr"/>
                </a:tc>
                <a:extLst>
                  <a:ext uri="{0D108BD9-81ED-4DB2-BD59-A6C34878D82A}">
                    <a16:rowId xmlns:a16="http://schemas.microsoft.com/office/drawing/2014/main" val="3312136238"/>
                  </a:ext>
                </a:extLst>
              </a:tr>
              <a:tr h="71649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box-sizing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97959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Menlo"/>
                        </a:rPr>
                        <a:t>content-box</a:t>
                      </a:r>
                      <a:r>
                        <a:rPr lang="en-US" sz="25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500" b="0">
                          <a:effectLst/>
                          <a:latin typeface="Menlo"/>
                        </a:rPr>
                        <a:t>border-box</a:t>
                      </a:r>
                      <a:endParaRPr lang="en-US" sz="2500" b="0">
                        <a:effectLst/>
                        <a:latin typeface="quote-cjk-patch"/>
                      </a:endParaRP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500" b="0">
                          <a:effectLst/>
                          <a:latin typeface="quote-cjk-patch"/>
                        </a:rPr>
                        <a:t>Box model calculation</a:t>
                      </a:r>
                    </a:p>
                  </a:txBody>
                  <a:tcPr marL="130613" marR="130613" marT="81633" marB="8163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500" b="0" dirty="0">
                          <a:effectLst/>
                          <a:latin typeface="Menlo"/>
                        </a:rPr>
                        <a:t>box-sizing: border-box;</a:t>
                      </a:r>
                      <a:endParaRPr lang="en-US" sz="2500" b="0" dirty="0">
                        <a:effectLst/>
                        <a:latin typeface="quote-cjk-patch"/>
                      </a:endParaRPr>
                    </a:p>
                  </a:txBody>
                  <a:tcPr marL="130613" marR="97959" marT="81633" marB="81633" anchor="ctr"/>
                </a:tc>
                <a:extLst>
                  <a:ext uri="{0D108BD9-81ED-4DB2-BD59-A6C34878D82A}">
                    <a16:rowId xmlns:a16="http://schemas.microsoft.com/office/drawing/2014/main" val="914843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524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ABFA0-217E-9A3E-6A61-C951896B6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Fonts &amp; Text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D3474ED-995B-5B78-2DDA-5016721791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6065653"/>
              </p:ext>
            </p:extLst>
          </p:nvPr>
        </p:nvGraphicFramePr>
        <p:xfrm>
          <a:off x="679123" y="1966293"/>
          <a:ext cx="10833755" cy="4452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705">
                  <a:extLst>
                    <a:ext uri="{9D8B030D-6E8A-4147-A177-3AD203B41FA5}">
                      <a16:colId xmlns:a16="http://schemas.microsoft.com/office/drawing/2014/main" val="3510215751"/>
                    </a:ext>
                  </a:extLst>
                </a:gridCol>
                <a:gridCol w="3625746">
                  <a:extLst>
                    <a:ext uri="{9D8B030D-6E8A-4147-A177-3AD203B41FA5}">
                      <a16:colId xmlns:a16="http://schemas.microsoft.com/office/drawing/2014/main" val="139436581"/>
                    </a:ext>
                  </a:extLst>
                </a:gridCol>
                <a:gridCol w="2122236">
                  <a:extLst>
                    <a:ext uri="{9D8B030D-6E8A-4147-A177-3AD203B41FA5}">
                      <a16:colId xmlns:a16="http://schemas.microsoft.com/office/drawing/2014/main" val="3798775049"/>
                    </a:ext>
                  </a:extLst>
                </a:gridCol>
                <a:gridCol w="3430068">
                  <a:extLst>
                    <a:ext uri="{9D8B030D-6E8A-4147-A177-3AD203B41FA5}">
                      <a16:colId xmlns:a16="http://schemas.microsoft.com/office/drawing/2014/main" val="1147906588"/>
                    </a:ext>
                  </a:extLst>
                </a:gridCol>
              </a:tblGrid>
              <a:tr h="4994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41507" marR="141507" marT="88442" marB="88442" anchor="ctr"/>
                </a:tc>
                <a:extLst>
                  <a:ext uri="{0D108BD9-81ED-4DB2-BD59-A6C34878D82A}">
                    <a16:rowId xmlns:a16="http://schemas.microsoft.com/office/drawing/2014/main" val="1986145502"/>
                  </a:ext>
                </a:extLst>
              </a:tr>
              <a:tr h="49940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font-family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font names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Font family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font-family: Arial, sans-serif;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2091218193"/>
                  </a:ext>
                </a:extLst>
              </a:tr>
              <a:tr h="49940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font-size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length, percentage, keywords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Font size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font-size: 16px;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1795870194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font-weight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normal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bold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lighter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bolder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 100-900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Font weight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font-weight: 700;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3038201969"/>
                  </a:ext>
                </a:extLst>
              </a:tr>
              <a:tr h="49940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color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color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Text color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color: #333;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1808119047"/>
                  </a:ext>
                </a:extLst>
              </a:tr>
              <a:tr h="49940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text-align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left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right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center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justify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Text alignment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 dirty="0">
                          <a:effectLst/>
                          <a:latin typeface="Menlo"/>
                        </a:rPr>
                        <a:t>text-align: center;</a:t>
                      </a:r>
                      <a:endParaRPr lang="en-US" sz="2100" b="0" dirty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41424340"/>
                  </a:ext>
                </a:extLst>
              </a:tr>
              <a:tr h="49940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line-height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number, length, percentage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Line height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line-height: 1.5;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4197640550"/>
                  </a:ext>
                </a:extLst>
              </a:tr>
              <a:tr h="727876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text-decoration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06130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Menlo"/>
                        </a:rPr>
                        <a:t>none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underline</a:t>
                      </a:r>
                      <a:r>
                        <a:rPr lang="en-US" sz="21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100" b="0">
                          <a:effectLst/>
                          <a:latin typeface="Menlo"/>
                        </a:rPr>
                        <a:t>line-through</a:t>
                      </a:r>
                      <a:endParaRPr lang="en-US" sz="2100" b="0">
                        <a:effectLst/>
                        <a:latin typeface="quote-cjk-patch"/>
                      </a:endParaRP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100" b="0">
                          <a:effectLst/>
                          <a:latin typeface="quote-cjk-patch"/>
                        </a:rPr>
                        <a:t>Text decoration</a:t>
                      </a:r>
                    </a:p>
                  </a:txBody>
                  <a:tcPr marL="141507" marR="141507" marT="88442" marB="88442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100" b="0" dirty="0">
                          <a:effectLst/>
                          <a:latin typeface="Menlo"/>
                        </a:rPr>
                        <a:t>text-decoration: none;</a:t>
                      </a:r>
                      <a:endParaRPr lang="en-US" sz="2100" b="0" dirty="0">
                        <a:effectLst/>
                        <a:latin typeface="quote-cjk-patch"/>
                      </a:endParaRPr>
                    </a:p>
                  </a:txBody>
                  <a:tcPr marL="141507" marR="106130" marT="88442" marB="88442" anchor="ctr"/>
                </a:tc>
                <a:extLst>
                  <a:ext uri="{0D108BD9-81ED-4DB2-BD59-A6C34878D82A}">
                    <a16:rowId xmlns:a16="http://schemas.microsoft.com/office/drawing/2014/main" val="1796207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570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587245-EC73-D777-34FB-96FE57A8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Layout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384E9687-CF7E-71A5-3E54-CD86C4ED2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4880" y="1770678"/>
            <a:ext cx="4978400" cy="4447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787E2-93EE-449C-7AD7-60037237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223"/>
            <a:ext cx="4114800" cy="365125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Picture is Collected from https://www.geeksforgeeks.org/css/css-website-layout/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143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63A207-024D-0172-9CCD-96BFCAC34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AA4A4A5-244A-CBE9-F05D-8F9345FD6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A6B5BB-5F21-F443-019D-6798B9A7C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CDAFC5-5640-0DF9-A507-9B0E81983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3D89A3-8312-033F-03E6-43249579A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FCEE4-A0E1-6EBC-CD1F-DE0D6C351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Layout Properties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24AC397-3FC2-AE3E-D264-0C42859D6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2688133"/>
              </p:ext>
            </p:extLst>
          </p:nvPr>
        </p:nvGraphicFramePr>
        <p:xfrm>
          <a:off x="508000" y="1828800"/>
          <a:ext cx="11236961" cy="4194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280">
                  <a:extLst>
                    <a:ext uri="{9D8B030D-6E8A-4147-A177-3AD203B41FA5}">
                      <a16:colId xmlns:a16="http://schemas.microsoft.com/office/drawing/2014/main" val="3798029556"/>
                    </a:ext>
                  </a:extLst>
                </a:gridCol>
                <a:gridCol w="4907280">
                  <a:extLst>
                    <a:ext uri="{9D8B030D-6E8A-4147-A177-3AD203B41FA5}">
                      <a16:colId xmlns:a16="http://schemas.microsoft.com/office/drawing/2014/main" val="3421736951"/>
                    </a:ext>
                  </a:extLst>
                </a:gridCol>
                <a:gridCol w="2976880">
                  <a:extLst>
                    <a:ext uri="{9D8B030D-6E8A-4147-A177-3AD203B41FA5}">
                      <a16:colId xmlns:a16="http://schemas.microsoft.com/office/drawing/2014/main" val="983516591"/>
                    </a:ext>
                  </a:extLst>
                </a:gridCol>
                <a:gridCol w="2001521">
                  <a:extLst>
                    <a:ext uri="{9D8B030D-6E8A-4147-A177-3AD203B41FA5}">
                      <a16:colId xmlns:a16="http://schemas.microsoft.com/office/drawing/2014/main" val="1378327163"/>
                    </a:ext>
                  </a:extLst>
                </a:gridCol>
              </a:tblGrid>
              <a:tr h="6049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197358505"/>
                  </a:ext>
                </a:extLst>
              </a:tr>
              <a:tr h="95015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display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Menlo"/>
                        </a:rPr>
                        <a:t>block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 dirty="0">
                          <a:effectLst/>
                          <a:latin typeface="Menlo"/>
                        </a:rPr>
                        <a:t>inline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 dirty="0">
                          <a:effectLst/>
                          <a:latin typeface="Menlo"/>
                        </a:rPr>
                        <a:t>inline-</a:t>
                      </a:r>
                      <a:r>
                        <a:rPr lang="en-US" sz="2400" b="0" dirty="0" err="1">
                          <a:effectLst/>
                          <a:latin typeface="Menlo"/>
                        </a:rPr>
                        <a:t>block</a:t>
                      </a:r>
                      <a:r>
                        <a:rPr lang="en-US" sz="2400" b="0" dirty="0" err="1">
                          <a:effectLst/>
                          <a:latin typeface="quote-cjk-patch"/>
                        </a:rPr>
                        <a:t>,</a:t>
                      </a:r>
                      <a:r>
                        <a:rPr lang="en-US" sz="2400" b="0" dirty="0" err="1">
                          <a:effectLst/>
                          <a:latin typeface="Menlo"/>
                        </a:rPr>
                        <a:t>flex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,</a:t>
                      </a:r>
                    </a:p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Menlo"/>
                        </a:rPr>
                        <a:t>grid</a:t>
                      </a:r>
                      <a:r>
                        <a:rPr lang="en-US" sz="24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 dirty="0">
                          <a:effectLst/>
                          <a:latin typeface="Menlo"/>
                        </a:rPr>
                        <a:t>none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quote-cjk-patch"/>
                        </a:rPr>
                        <a:t>Defines how an element is displayed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display: flex;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00120529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position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static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relative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absolute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fixed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sticky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quote-cjk-patch"/>
                        </a:rPr>
                        <a:t>Positioning method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position: absolute;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01742251"/>
                  </a:ext>
                </a:extLst>
              </a:tr>
              <a:tr h="60497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Menlo"/>
                        </a:rPr>
                        <a:t>float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left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right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none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quote-cjk-patch"/>
                        </a:rPr>
                        <a:t>Element floating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float: left;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85194801"/>
                  </a:ext>
                </a:extLst>
              </a:tr>
              <a:tr h="678505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clear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left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right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both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400" b="0">
                          <a:effectLst/>
                          <a:latin typeface="Menlo"/>
                        </a:rPr>
                        <a:t>none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quote-cjk-patch"/>
                        </a:rPr>
                        <a:t>Clearing floats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clear: both;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7580305"/>
                  </a:ext>
                </a:extLst>
              </a:tr>
              <a:tr h="60497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z-index</a:t>
                      </a:r>
                      <a:endParaRPr lang="en-US" sz="2400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Menlo"/>
                        </a:rPr>
                        <a:t>auto</a:t>
                      </a:r>
                      <a:r>
                        <a:rPr lang="en-US" sz="2400" b="0">
                          <a:effectLst/>
                          <a:latin typeface="quote-cjk-patch"/>
                        </a:rPr>
                        <a:t>, number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400" b="0">
                          <a:effectLst/>
                          <a:latin typeface="quote-cjk-patch"/>
                        </a:rPr>
                        <a:t>Stack order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400" b="0" dirty="0">
                          <a:effectLst/>
                          <a:latin typeface="Menlo"/>
                        </a:rPr>
                        <a:t>z-index: 10;</a:t>
                      </a:r>
                      <a:endParaRPr lang="en-US" sz="24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467102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3213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17EBF-6BEF-8E8B-D0C8-5DD5AC83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Flexbox Layout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59E8C4-CA1B-2D57-EFBB-792A795B4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949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FlexBox</a:t>
            </a:r>
            <a:r>
              <a:rPr lang="en-US" dirty="0"/>
              <a:t> is a one-dimensional layout method for arranging items in rows or columns. </a:t>
            </a:r>
          </a:p>
        </p:txBody>
      </p:sp>
      <p:pic>
        <p:nvPicPr>
          <p:cNvPr id="15" name="Picture 14" descr="A diagram of a diagram&#10;&#10;AI-generated content may be incorrect.">
            <a:extLst>
              <a:ext uri="{FF2B5EF4-FFF2-40B4-BE49-F238E27FC236}">
                <a16:creationId xmlns:a16="http://schemas.microsoft.com/office/drawing/2014/main" id="{D04AE924-0911-A0F5-1FB6-22C2053E8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8" y="2897472"/>
            <a:ext cx="5131088" cy="2565544"/>
          </a:xfrm>
          <a:prstGeom prst="rect">
            <a:avLst/>
          </a:prstGeom>
        </p:spPr>
      </p:pic>
      <p:pic>
        <p:nvPicPr>
          <p:cNvPr id="13" name="Picture 12" descr="A diagram of a diagram&#10;&#10;AI-generated content may be incorrect.">
            <a:extLst>
              <a:ext uri="{FF2B5EF4-FFF2-40B4-BE49-F238E27FC236}">
                <a16:creationId xmlns:a16="http://schemas.microsoft.com/office/drawing/2014/main" id="{E71C5001-4BEF-BD0D-D945-BF1D2AD48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165" y="2933959"/>
            <a:ext cx="5131087" cy="2565543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85593ABC-92DB-92FA-0CA4-36D3F54E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https://www.geeksforgeeks.org/css/introduction-to-css-flexbox/</a:t>
            </a:r>
          </a:p>
        </p:txBody>
      </p:sp>
    </p:spTree>
    <p:extLst>
      <p:ext uri="{BB962C8B-B14F-4D97-AF65-F5344CB8AC3E}">
        <p14:creationId xmlns:p14="http://schemas.microsoft.com/office/powerpoint/2010/main" val="284068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16473D-885A-462B-763B-7ADF6610D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CE65E-DE0A-94AC-ADCB-2E379647B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Flexbox Layout Properties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FD53E3-E64D-BF76-6616-D665B0907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197422"/>
              </p:ext>
            </p:extLst>
          </p:nvPr>
        </p:nvGraphicFramePr>
        <p:xfrm>
          <a:off x="432225" y="2205289"/>
          <a:ext cx="11327551" cy="3974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895">
                  <a:extLst>
                    <a:ext uri="{9D8B030D-6E8A-4147-A177-3AD203B41FA5}">
                      <a16:colId xmlns:a16="http://schemas.microsoft.com/office/drawing/2014/main" val="581144482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1495882747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3610408656"/>
                    </a:ext>
                  </a:extLst>
                </a:gridCol>
                <a:gridCol w="2585296">
                  <a:extLst>
                    <a:ext uri="{9D8B030D-6E8A-4147-A177-3AD203B41FA5}">
                      <a16:colId xmlns:a16="http://schemas.microsoft.com/office/drawing/2014/main" val="2383528300"/>
                    </a:ext>
                  </a:extLst>
                </a:gridCol>
              </a:tblGrid>
              <a:tr h="4448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26056" marR="126056" marT="78785" marB="78785" anchor="ctr"/>
                </a:tc>
                <a:extLst>
                  <a:ext uri="{0D108BD9-81ED-4DB2-BD59-A6C34878D82A}">
                    <a16:rowId xmlns:a16="http://schemas.microsoft.com/office/drawing/2014/main" val="2491742108"/>
                  </a:ext>
                </a:extLst>
              </a:tr>
              <a:tr h="64839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flex-direction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row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column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row-reverse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column-reverse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Flex container direction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flex-direction: row;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94542" marT="78785" marB="78785" anchor="ctr"/>
                </a:tc>
                <a:extLst>
                  <a:ext uri="{0D108BD9-81ED-4DB2-BD59-A6C34878D82A}">
                    <a16:rowId xmlns:a16="http://schemas.microsoft.com/office/drawing/2014/main" val="2727573482"/>
                  </a:ext>
                </a:extLst>
              </a:tr>
              <a:tr h="64839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justify-content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flex-start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flex-end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center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space-between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space-around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Horizontal alignment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justify-content: center;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94542" marT="78785" marB="78785" anchor="ctr"/>
                </a:tc>
                <a:extLst>
                  <a:ext uri="{0D108BD9-81ED-4DB2-BD59-A6C34878D82A}">
                    <a16:rowId xmlns:a16="http://schemas.microsoft.com/office/drawing/2014/main" val="3799403990"/>
                  </a:ext>
                </a:extLst>
              </a:tr>
              <a:tr h="64839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align-items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Menlo"/>
                        </a:rPr>
                        <a:t>stretch</a:t>
                      </a:r>
                      <a:r>
                        <a:rPr lang="en-US" sz="19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 dirty="0">
                          <a:effectLst/>
                          <a:latin typeface="Menlo"/>
                        </a:rPr>
                        <a:t>flex-start</a:t>
                      </a:r>
                      <a:r>
                        <a:rPr lang="en-US" sz="19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 dirty="0">
                          <a:effectLst/>
                          <a:latin typeface="Menlo"/>
                        </a:rPr>
                        <a:t>flex-end</a:t>
                      </a:r>
                      <a:r>
                        <a:rPr lang="en-US" sz="19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 dirty="0">
                          <a:effectLst/>
                          <a:latin typeface="Menlo"/>
                        </a:rPr>
                        <a:t>center</a:t>
                      </a:r>
                      <a:r>
                        <a:rPr lang="en-US" sz="1900" b="0" dirty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 dirty="0">
                          <a:effectLst/>
                          <a:latin typeface="Menlo"/>
                        </a:rPr>
                        <a:t>baseline</a:t>
                      </a:r>
                      <a:endParaRPr lang="en-US" sz="1900" b="0" dirty="0">
                        <a:effectLst/>
                        <a:latin typeface="quote-cjk-patch"/>
                      </a:endParaRP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Vertical alignment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align-items: center;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94542" marT="78785" marB="78785" anchor="ctr"/>
                </a:tc>
                <a:extLst>
                  <a:ext uri="{0D108BD9-81ED-4DB2-BD59-A6C34878D82A}">
                    <a16:rowId xmlns:a16="http://schemas.microsoft.com/office/drawing/2014/main" val="4290306035"/>
                  </a:ext>
                </a:extLst>
              </a:tr>
              <a:tr h="44487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flex-wrap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nowrap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wrap</a:t>
                      </a:r>
                      <a:r>
                        <a:rPr lang="en-US" sz="19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1900" b="0">
                          <a:effectLst/>
                          <a:latin typeface="Menlo"/>
                        </a:rPr>
                        <a:t>wrap-reverse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Wrapping behavior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flex-wrap: wrap;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94542" marT="78785" marB="78785" anchor="ctr"/>
                </a:tc>
                <a:extLst>
                  <a:ext uri="{0D108BD9-81ED-4DB2-BD59-A6C34878D82A}">
                    <a16:rowId xmlns:a16="http://schemas.microsoft.com/office/drawing/2014/main" val="2900606922"/>
                  </a:ext>
                </a:extLst>
              </a:tr>
              <a:tr h="44487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flex-grow flex-shrink flex-basis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Shorthand for flex items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flex: 1 0 auto;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126056" marR="94542" marT="78785" marB="78785" anchor="ctr"/>
                </a:tc>
                <a:extLst>
                  <a:ext uri="{0D108BD9-81ED-4DB2-BD59-A6C34878D82A}">
                    <a16:rowId xmlns:a16="http://schemas.microsoft.com/office/drawing/2014/main" val="751096291"/>
                  </a:ext>
                </a:extLst>
              </a:tr>
              <a:tr h="69435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Menlo"/>
                        </a:rPr>
                        <a:t>gap</a:t>
                      </a:r>
                      <a:endParaRPr lang="en-US" sz="1900" b="0">
                        <a:effectLst/>
                        <a:latin typeface="quote-cjk-patch"/>
                      </a:endParaRPr>
                    </a:p>
                  </a:txBody>
                  <a:tcPr marL="94542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900" b="0">
                          <a:effectLst/>
                          <a:latin typeface="quote-cjk-patch"/>
                        </a:rPr>
                        <a:t>Space between flex items</a:t>
                      </a:r>
                    </a:p>
                  </a:txBody>
                  <a:tcPr marL="126056" marR="126056" marT="78785" marB="7878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900" b="0" dirty="0">
                          <a:effectLst/>
                          <a:latin typeface="Menlo"/>
                        </a:rPr>
                        <a:t>gap: 1rem;</a:t>
                      </a:r>
                      <a:endParaRPr lang="en-US" sz="1900" b="0" dirty="0">
                        <a:effectLst/>
                        <a:latin typeface="quote-cjk-patch"/>
                      </a:endParaRPr>
                    </a:p>
                  </a:txBody>
                  <a:tcPr marL="126056" marR="94542" marT="78785" marB="78785" anchor="ctr"/>
                </a:tc>
                <a:extLst>
                  <a:ext uri="{0D108BD9-81ED-4DB2-BD59-A6C34878D82A}">
                    <a16:rowId xmlns:a16="http://schemas.microsoft.com/office/drawing/2014/main" val="2213334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2005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A80DA-F474-92A3-AE62-8D2B6D017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CSS Grid Layout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F3B80-8B4B-72C2-A677-72EB8F4BD3A1}"/>
              </a:ext>
            </a:extLst>
          </p:cNvPr>
          <p:cNvSpPr txBox="1"/>
          <p:nvPr/>
        </p:nvSpPr>
        <p:spPr>
          <a:xfrm>
            <a:off x="1270000" y="1924820"/>
            <a:ext cx="10434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Grid Layout </a:t>
            </a:r>
            <a:r>
              <a:rPr lang="en-US" sz="2000" dirty="0"/>
              <a:t>is a two-dimensional layout system for developing responsive webpages.</a:t>
            </a:r>
          </a:p>
        </p:txBody>
      </p:sp>
      <p:pic>
        <p:nvPicPr>
          <p:cNvPr id="4098" name="Picture 2" descr="CSS Grid Lines">
            <a:extLst>
              <a:ext uri="{FF2B5EF4-FFF2-40B4-BE49-F238E27FC236}">
                <a16:creationId xmlns:a16="http://schemas.microsoft.com/office/drawing/2014/main" id="{251D2397-CB40-5F73-A5DF-F5AF07395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4406" y="2392384"/>
            <a:ext cx="6463188" cy="382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A4ACCF-C7A1-85A1-424F-F371BC2CF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https://www.tutorialspoint.com/css/css_grid_layout.htm</a:t>
            </a:r>
          </a:p>
        </p:txBody>
      </p:sp>
    </p:spTree>
    <p:extLst>
      <p:ext uri="{BB962C8B-B14F-4D97-AF65-F5344CB8AC3E}">
        <p14:creationId xmlns:p14="http://schemas.microsoft.com/office/powerpoint/2010/main" val="1833884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4C5BE0-AC20-CAB0-5833-4ABDC547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4B25B-C323-253D-053C-573F3C007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 Grid Layout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EEEBB8-9DBB-56BF-3F41-DF543E36D4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6981181"/>
              </p:ext>
            </p:extLst>
          </p:nvPr>
        </p:nvGraphicFramePr>
        <p:xfrm>
          <a:off x="699713" y="1971039"/>
          <a:ext cx="10984287" cy="4638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4367">
                  <a:extLst>
                    <a:ext uri="{9D8B030D-6E8A-4147-A177-3AD203B41FA5}">
                      <a16:colId xmlns:a16="http://schemas.microsoft.com/office/drawing/2014/main" val="490371735"/>
                    </a:ext>
                  </a:extLst>
                </a:gridCol>
                <a:gridCol w="1901829">
                  <a:extLst>
                    <a:ext uri="{9D8B030D-6E8A-4147-A177-3AD203B41FA5}">
                      <a16:colId xmlns:a16="http://schemas.microsoft.com/office/drawing/2014/main" val="3396615840"/>
                    </a:ext>
                  </a:extLst>
                </a:gridCol>
                <a:gridCol w="2771771">
                  <a:extLst>
                    <a:ext uri="{9D8B030D-6E8A-4147-A177-3AD203B41FA5}">
                      <a16:colId xmlns:a16="http://schemas.microsoft.com/office/drawing/2014/main" val="3182253107"/>
                    </a:ext>
                  </a:extLst>
                </a:gridCol>
                <a:gridCol w="3576320">
                  <a:extLst>
                    <a:ext uri="{9D8B030D-6E8A-4147-A177-3AD203B41FA5}">
                      <a16:colId xmlns:a16="http://schemas.microsoft.com/office/drawing/2014/main" val="3950283526"/>
                    </a:ext>
                  </a:extLst>
                </a:gridCol>
              </a:tblGrid>
              <a:tr h="45388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33707" marR="133707" marT="83567" marB="83567" anchor="ctr"/>
                </a:tc>
                <a:extLst>
                  <a:ext uri="{0D108BD9-81ED-4DB2-BD59-A6C34878D82A}">
                    <a16:rowId xmlns:a16="http://schemas.microsoft.com/office/drawing/2014/main" val="546614390"/>
                  </a:ext>
                </a:extLst>
              </a:tr>
              <a:tr h="66154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grid-template-columns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track sizes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Defines grid columns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grid-template-columns: 1fr 1fr;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3707" marR="100280" marT="83567" marB="83567" anchor="ctr"/>
                </a:tc>
                <a:extLst>
                  <a:ext uri="{0D108BD9-81ED-4DB2-BD59-A6C34878D82A}">
                    <a16:rowId xmlns:a16="http://schemas.microsoft.com/office/drawing/2014/main" val="3201256760"/>
                  </a:ext>
                </a:extLst>
              </a:tr>
              <a:tr h="66154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grid-template-rows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track sizes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Defines grid rows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grid-template-rows: 100px auto;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3707" marR="100280" marT="83567" marB="83567" anchor="ctr"/>
                </a:tc>
                <a:extLst>
                  <a:ext uri="{0D108BD9-81ED-4DB2-BD59-A6C34878D82A}">
                    <a16:rowId xmlns:a16="http://schemas.microsoft.com/office/drawing/2014/main" val="1393273796"/>
                  </a:ext>
                </a:extLst>
              </a:tr>
              <a:tr h="88928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grid-template-areas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area names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Defines grid areas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grid-template-areas: "header header" "sidebar main";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3707" marR="100280" marT="83567" marB="83567" anchor="ctr"/>
                </a:tc>
                <a:extLst>
                  <a:ext uri="{0D108BD9-81ED-4DB2-BD59-A6C34878D82A}">
                    <a16:rowId xmlns:a16="http://schemas.microsoft.com/office/drawing/2014/main" val="1095443059"/>
                  </a:ext>
                </a:extLst>
              </a:tr>
              <a:tr h="63211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grid-column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line numbers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Column placement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grid-column: 1 / 3;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3707" marR="100280" marT="83567" marB="83567" anchor="ctr"/>
                </a:tc>
                <a:extLst>
                  <a:ext uri="{0D108BD9-81ED-4DB2-BD59-A6C34878D82A}">
                    <a16:rowId xmlns:a16="http://schemas.microsoft.com/office/drawing/2014/main" val="1751731811"/>
                  </a:ext>
                </a:extLst>
              </a:tr>
              <a:tr h="63211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grid-row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line numbers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Row placement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grid-row: 2 / 4;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3707" marR="100280" marT="83567" marB="83567" anchor="ctr"/>
                </a:tc>
                <a:extLst>
                  <a:ext uri="{0D108BD9-81ED-4DB2-BD59-A6C34878D82A}">
                    <a16:rowId xmlns:a16="http://schemas.microsoft.com/office/drawing/2014/main" val="187738585"/>
                  </a:ext>
                </a:extLst>
              </a:tr>
              <a:tr h="708430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grid-gap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0280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Space between grid items</a:t>
                      </a:r>
                    </a:p>
                  </a:txBody>
                  <a:tcPr marL="133707" marR="133707" marT="83567" marB="8356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Menlo"/>
                        </a:rPr>
                        <a:t>grid-gap: 20px;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33707" marR="100280" marT="83567" marB="83567" anchor="ctr"/>
                </a:tc>
                <a:extLst>
                  <a:ext uri="{0D108BD9-81ED-4DB2-BD59-A6C34878D82A}">
                    <a16:rowId xmlns:a16="http://schemas.microsoft.com/office/drawing/2014/main" val="2640631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4962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3C7C8-D4AE-52DA-2E3B-1A3FB8BA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Transitions &amp; Animations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6BEA99-A7BB-A241-4D5C-92355B355C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087777"/>
              </p:ext>
            </p:extLst>
          </p:nvPr>
        </p:nvGraphicFramePr>
        <p:xfrm>
          <a:off x="325120" y="1924820"/>
          <a:ext cx="11584968" cy="4401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4043">
                  <a:extLst>
                    <a:ext uri="{9D8B030D-6E8A-4147-A177-3AD203B41FA5}">
                      <a16:colId xmlns:a16="http://schemas.microsoft.com/office/drawing/2014/main" val="3219861325"/>
                    </a:ext>
                  </a:extLst>
                </a:gridCol>
                <a:gridCol w="4430045">
                  <a:extLst>
                    <a:ext uri="{9D8B030D-6E8A-4147-A177-3AD203B41FA5}">
                      <a16:colId xmlns:a16="http://schemas.microsoft.com/office/drawing/2014/main" val="3043856956"/>
                    </a:ext>
                  </a:extLst>
                </a:gridCol>
                <a:gridCol w="2306035">
                  <a:extLst>
                    <a:ext uri="{9D8B030D-6E8A-4147-A177-3AD203B41FA5}">
                      <a16:colId xmlns:a16="http://schemas.microsoft.com/office/drawing/2014/main" val="2476629622"/>
                    </a:ext>
                  </a:extLst>
                </a:gridCol>
                <a:gridCol w="3504845">
                  <a:extLst>
                    <a:ext uri="{9D8B030D-6E8A-4147-A177-3AD203B41FA5}">
                      <a16:colId xmlns:a16="http://schemas.microsoft.com/office/drawing/2014/main" val="2112594218"/>
                    </a:ext>
                  </a:extLst>
                </a:gridCol>
              </a:tblGrid>
              <a:tr h="53397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02136" marR="136181" marT="85113" marB="851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36181" marR="136181" marT="85113" marB="85113" anchor="ctr"/>
                </a:tc>
                <a:extLst>
                  <a:ext uri="{0D108BD9-81ED-4DB2-BD59-A6C34878D82A}">
                    <a16:rowId xmlns:a16="http://schemas.microsoft.com/office/drawing/2014/main" val="414094096"/>
                  </a:ext>
                </a:extLst>
              </a:tr>
              <a:tr h="83343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transition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2136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property duration timing-function delay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Transition shorthand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transition: all 0.3s ease;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6181" marR="102136" marT="85113" marB="85113" anchor="ctr"/>
                </a:tc>
                <a:extLst>
                  <a:ext uri="{0D108BD9-81ED-4DB2-BD59-A6C34878D82A}">
                    <a16:rowId xmlns:a16="http://schemas.microsoft.com/office/drawing/2014/main" val="2378728639"/>
                  </a:ext>
                </a:extLst>
              </a:tr>
              <a:tr h="83343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animation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2136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name duration timing-function delay iteration-count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Animation shorthand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animation: slide 1s ease-in-out;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6181" marR="102136" marT="85113" marB="85113" anchor="ctr"/>
                </a:tc>
                <a:extLst>
                  <a:ext uri="{0D108BD9-81ED-4DB2-BD59-A6C34878D82A}">
                    <a16:rowId xmlns:a16="http://schemas.microsoft.com/office/drawing/2014/main" val="418609478"/>
                  </a:ext>
                </a:extLst>
              </a:tr>
              <a:tr h="83343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transform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2136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translate()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rotate()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scale()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skew()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2D/3D transformations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transform: translateX(50px);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6181" marR="102136" marT="85113" marB="85113" anchor="ctr"/>
                </a:tc>
                <a:extLst>
                  <a:ext uri="{0D108BD9-81ED-4DB2-BD59-A6C34878D82A}">
                    <a16:rowId xmlns:a16="http://schemas.microsoft.com/office/drawing/2014/main" val="1896452206"/>
                  </a:ext>
                </a:extLst>
              </a:tr>
              <a:tr h="83343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opacity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2136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0-1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Element transparency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opacity: 0.8;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6181" marR="102136" marT="85113" marB="85113" anchor="ctr"/>
                </a:tc>
                <a:extLst>
                  <a:ext uri="{0D108BD9-81ED-4DB2-BD59-A6C34878D82A}">
                    <a16:rowId xmlns:a16="http://schemas.microsoft.com/office/drawing/2014/main" val="74111665"/>
                  </a:ext>
                </a:extLst>
              </a:tr>
              <a:tr h="533978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visibility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2136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visible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hidden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collapse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Element visibility</a:t>
                      </a:r>
                    </a:p>
                  </a:txBody>
                  <a:tcPr marL="136181" marR="136181" marT="85113" marB="8511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Menlo"/>
                        </a:rPr>
                        <a:t>visibility: hidden;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36181" marR="102136" marT="85113" marB="85113" anchor="ctr"/>
                </a:tc>
                <a:extLst>
                  <a:ext uri="{0D108BD9-81ED-4DB2-BD59-A6C34878D82A}">
                    <a16:rowId xmlns:a16="http://schemas.microsoft.com/office/drawing/2014/main" val="26569295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365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F597C-B56C-1CFA-2213-A1D7E9A7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Responsive Design</a:t>
            </a:r>
          </a:p>
        </p:txBody>
      </p:sp>
      <p:pic>
        <p:nvPicPr>
          <p:cNvPr id="5122" name="Picture 2" descr="How to Build a Simple Responsive Layout with CSS Grid">
            <a:extLst>
              <a:ext uri="{FF2B5EF4-FFF2-40B4-BE49-F238E27FC236}">
                <a16:creationId xmlns:a16="http://schemas.microsoft.com/office/drawing/2014/main" id="{6E590A7A-8431-86A5-D6ED-3C3E3BEAC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38524" y="1966293"/>
            <a:ext cx="7914951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69186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A5789-DF37-D579-C560-549D0E850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E07E5A-66ED-72C6-DC7D-A9E24C15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Media Queries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73C045-30E4-5574-DBFB-97F5748A4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534888"/>
              </p:ext>
            </p:extLst>
          </p:nvPr>
        </p:nvGraphicFramePr>
        <p:xfrm>
          <a:off x="699713" y="1966293"/>
          <a:ext cx="10458325" cy="4452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5759">
                  <a:extLst>
                    <a:ext uri="{9D8B030D-6E8A-4147-A177-3AD203B41FA5}">
                      <a16:colId xmlns:a16="http://schemas.microsoft.com/office/drawing/2014/main" val="1644497278"/>
                    </a:ext>
                  </a:extLst>
                </a:gridCol>
                <a:gridCol w="2434941">
                  <a:extLst>
                    <a:ext uri="{9D8B030D-6E8A-4147-A177-3AD203B41FA5}">
                      <a16:colId xmlns:a16="http://schemas.microsoft.com/office/drawing/2014/main" val="2395285108"/>
                    </a:ext>
                  </a:extLst>
                </a:gridCol>
                <a:gridCol w="2225032">
                  <a:extLst>
                    <a:ext uri="{9D8B030D-6E8A-4147-A177-3AD203B41FA5}">
                      <a16:colId xmlns:a16="http://schemas.microsoft.com/office/drawing/2014/main" val="4057658584"/>
                    </a:ext>
                  </a:extLst>
                </a:gridCol>
                <a:gridCol w="4242593">
                  <a:extLst>
                    <a:ext uri="{9D8B030D-6E8A-4147-A177-3AD203B41FA5}">
                      <a16:colId xmlns:a16="http://schemas.microsoft.com/office/drawing/2014/main" val="3481459866"/>
                    </a:ext>
                  </a:extLst>
                </a:gridCol>
              </a:tblGrid>
              <a:tr h="47937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Values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35831" marR="135831" marT="84895" marB="84895" anchor="ctr"/>
                </a:tc>
                <a:extLst>
                  <a:ext uri="{0D108BD9-81ED-4DB2-BD59-A6C34878D82A}">
                    <a16:rowId xmlns:a16="http://schemas.microsoft.com/office/drawing/2014/main" val="3337972502"/>
                  </a:ext>
                </a:extLst>
              </a:tr>
              <a:tr h="479372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@media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screen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print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speech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Media type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@media screen { ... }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01874" marT="84895" marB="84895" anchor="ctr"/>
                </a:tc>
                <a:extLst>
                  <a:ext uri="{0D108BD9-81ED-4DB2-BD59-A6C34878D82A}">
                    <a16:rowId xmlns:a16="http://schemas.microsoft.com/office/drawing/2014/main" val="3479553897"/>
                  </a:ext>
                </a:extLst>
              </a:tr>
              <a:tr h="69868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min-width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Minimum width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@media (min-width: 768px) { ... }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01874" marT="84895" marB="84895" anchor="ctr"/>
                </a:tc>
                <a:extLst>
                  <a:ext uri="{0D108BD9-81ED-4DB2-BD59-A6C34878D82A}">
                    <a16:rowId xmlns:a16="http://schemas.microsoft.com/office/drawing/2014/main" val="3774117991"/>
                  </a:ext>
                </a:extLst>
              </a:tr>
              <a:tr h="69868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max-width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Maximum width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@media (max-width: 767px) { ... }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01874" marT="84895" marB="84895" anchor="ctr"/>
                </a:tc>
                <a:extLst>
                  <a:ext uri="{0D108BD9-81ED-4DB2-BD59-A6C34878D82A}">
                    <a16:rowId xmlns:a16="http://schemas.microsoft.com/office/drawing/2014/main" val="4122985788"/>
                  </a:ext>
                </a:extLst>
              </a:tr>
              <a:tr h="69868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min-height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Minimum height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@media (min-height: 600px) { ... }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01874" marT="84895" marB="84895" anchor="ctr"/>
                </a:tc>
                <a:extLst>
                  <a:ext uri="{0D108BD9-81ED-4DB2-BD59-A6C34878D82A}">
                    <a16:rowId xmlns:a16="http://schemas.microsoft.com/office/drawing/2014/main" val="2375219115"/>
                  </a:ext>
                </a:extLst>
              </a:tr>
              <a:tr h="69868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max-height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length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Maximum height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@media (max-height: 599px) { ... }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01874" marT="84895" marB="84895" anchor="ctr"/>
                </a:tc>
                <a:extLst>
                  <a:ext uri="{0D108BD9-81ED-4DB2-BD59-A6C34878D82A}">
                    <a16:rowId xmlns:a16="http://schemas.microsoft.com/office/drawing/2014/main" val="733963425"/>
                  </a:ext>
                </a:extLst>
              </a:tr>
              <a:tr h="698684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orientation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01874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portrait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landscape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Screen orientation</a:t>
                      </a:r>
                    </a:p>
                  </a:txBody>
                  <a:tcPr marL="135831" marR="135831" marT="84895" marB="848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Menlo"/>
                        </a:rPr>
                        <a:t>@media (orientation: landscape) { ... }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35831" marR="101874" marT="84895" marB="84895" anchor="ctr"/>
                </a:tc>
                <a:extLst>
                  <a:ext uri="{0D108BD9-81ED-4DB2-BD59-A6C34878D82A}">
                    <a16:rowId xmlns:a16="http://schemas.microsoft.com/office/drawing/2014/main" val="1934770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1005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AC44CD-64A7-8741-4CDB-F34155CE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Pseudo-classes &amp; Pseudo-elements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CB98BE-383D-7838-9360-6CA8BD726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9320547"/>
              </p:ext>
            </p:extLst>
          </p:nvPr>
        </p:nvGraphicFramePr>
        <p:xfrm>
          <a:off x="721360" y="1833339"/>
          <a:ext cx="10586719" cy="4675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8486">
                  <a:extLst>
                    <a:ext uri="{9D8B030D-6E8A-4147-A177-3AD203B41FA5}">
                      <a16:colId xmlns:a16="http://schemas.microsoft.com/office/drawing/2014/main" val="2188511898"/>
                    </a:ext>
                  </a:extLst>
                </a:gridCol>
                <a:gridCol w="2918486">
                  <a:extLst>
                    <a:ext uri="{9D8B030D-6E8A-4147-A177-3AD203B41FA5}">
                      <a16:colId xmlns:a16="http://schemas.microsoft.com/office/drawing/2014/main" val="591559002"/>
                    </a:ext>
                  </a:extLst>
                </a:gridCol>
                <a:gridCol w="4749747">
                  <a:extLst>
                    <a:ext uri="{9D8B030D-6E8A-4147-A177-3AD203B41FA5}">
                      <a16:colId xmlns:a16="http://schemas.microsoft.com/office/drawing/2014/main" val="1108650426"/>
                    </a:ext>
                  </a:extLst>
                </a:gridCol>
              </a:tblGrid>
              <a:tr h="5022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Selector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19686623"/>
                  </a:ext>
                </a:extLst>
              </a:tr>
              <a:tr h="50224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:hover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Mouse over element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a:hover { color: blue;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904010202"/>
                  </a:ext>
                </a:extLst>
              </a:tr>
              <a:tr h="50224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:focus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Element has focus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input:focus { border-color: blue;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827976392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:active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Element being activated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button:active { transform: scale(0.98);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076733049"/>
                  </a:ext>
                </a:extLst>
              </a:tr>
              <a:tr h="50224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:first-child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First child element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li:first-child { font-weight: bold;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3126868462"/>
                  </a:ext>
                </a:extLst>
              </a:tr>
              <a:tr h="50224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:last-child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Last child element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li:last-child { margin-bottom: 0;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68456110"/>
                  </a:ext>
                </a:extLst>
              </a:tr>
              <a:tr h="527637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:nth-child()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Specific child element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tr:nth-child(even) { background: #f5f5f5;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7827537"/>
                  </a:ext>
                </a:extLst>
              </a:tr>
              <a:tr h="567351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::before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Before element content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.element::before { content: "→ ";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722960298"/>
                  </a:ext>
                </a:extLst>
              </a:tr>
              <a:tr h="502243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::after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After element content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Menlo"/>
                        </a:rPr>
                        <a:t>.element::after { content: ""; }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15970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7136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5A0C5-1A79-1563-66DB-DB4D50EA0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CSS Variables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FCEAC64-BF48-E341-7922-9BF34EAADF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4090289"/>
              </p:ext>
            </p:extLst>
          </p:nvPr>
        </p:nvGraphicFramePr>
        <p:xfrm>
          <a:off x="782320" y="1924820"/>
          <a:ext cx="10444479" cy="30535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555">
                  <a:extLst>
                    <a:ext uri="{9D8B030D-6E8A-4147-A177-3AD203B41FA5}">
                      <a16:colId xmlns:a16="http://schemas.microsoft.com/office/drawing/2014/main" val="2404843704"/>
                    </a:ext>
                  </a:extLst>
                </a:gridCol>
                <a:gridCol w="2521555">
                  <a:extLst>
                    <a:ext uri="{9D8B030D-6E8A-4147-A177-3AD203B41FA5}">
                      <a16:colId xmlns:a16="http://schemas.microsoft.com/office/drawing/2014/main" val="2876145574"/>
                    </a:ext>
                  </a:extLst>
                </a:gridCol>
                <a:gridCol w="2521555">
                  <a:extLst>
                    <a:ext uri="{9D8B030D-6E8A-4147-A177-3AD203B41FA5}">
                      <a16:colId xmlns:a16="http://schemas.microsoft.com/office/drawing/2014/main" val="4162051705"/>
                    </a:ext>
                  </a:extLst>
                </a:gridCol>
                <a:gridCol w="2879814">
                  <a:extLst>
                    <a:ext uri="{9D8B030D-6E8A-4147-A177-3AD203B41FA5}">
                      <a16:colId xmlns:a16="http://schemas.microsoft.com/office/drawing/2014/main" val="510370341"/>
                    </a:ext>
                  </a:extLst>
                </a:gridCol>
              </a:tblGrid>
              <a:tr h="834402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Scope</a:t>
                      </a: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Syntax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Example</a:t>
                      </a:r>
                    </a:p>
                  </a:txBody>
                  <a:tcPr marL="121920" marR="121920" marT="76200" marB="76200" anchor="ctr"/>
                </a:tc>
                <a:extLst>
                  <a:ext uri="{0D108BD9-81ED-4DB2-BD59-A6C34878D82A}">
                    <a16:rowId xmlns:a16="http://schemas.microsoft.com/office/drawing/2014/main" val="3637923656"/>
                  </a:ext>
                </a:extLst>
              </a:tr>
              <a:tr h="81709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Global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:root { --var: value;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Available throughout document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:root { --primary: blue;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210241399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Local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.class { --var: value;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Available within element &amp; children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>
                          <a:effectLst/>
                          <a:latin typeface="Menlo"/>
                        </a:rPr>
                        <a:t>.card { --padding: 1rem; }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4156711255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Element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Menlo"/>
                        </a:rPr>
                        <a:t>element { --var: value; }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Scoped to specific element</a:t>
                      </a:r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Menlo"/>
                        </a:rPr>
                        <a:t>header { --</a:t>
                      </a:r>
                      <a:r>
                        <a:rPr lang="en-US" b="0" dirty="0" err="1">
                          <a:effectLst/>
                          <a:latin typeface="Menlo"/>
                        </a:rPr>
                        <a:t>bg</a:t>
                      </a:r>
                      <a:r>
                        <a:rPr lang="en-US" b="0" dirty="0">
                          <a:effectLst/>
                          <a:latin typeface="Menlo"/>
                        </a:rPr>
                        <a:t>: black; }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/>
                </a:tc>
                <a:extLst>
                  <a:ext uri="{0D108BD9-81ED-4DB2-BD59-A6C34878D82A}">
                    <a16:rowId xmlns:a16="http://schemas.microsoft.com/office/drawing/2014/main" val="1510998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0126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5E86D-407E-2D7D-CA63-B81BA3E0B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EBB535B7-A5BD-BF84-1A85-B87D28852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E55F793-EA47-01DC-0F20-728E7E5AB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3DAED99-21C3-96B8-0876-8FF41FBCA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0E752D-4D53-A83D-295B-B4350B0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512BF-77DF-90D8-5BEB-4E0C53033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CSS Variables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B8366-42F3-C6E0-D938-EB292B536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:root {</a:t>
            </a:r>
          </a:p>
          <a:p>
            <a:pPr marL="0" indent="0">
              <a:buNone/>
            </a:pPr>
            <a:r>
              <a:rPr lang="en-US" sz="1700" dirty="0"/>
              <a:t>  --primary-color: #3b82f6;</a:t>
            </a:r>
          </a:p>
          <a:p>
            <a:pPr marL="0" indent="0">
              <a:buNone/>
            </a:pPr>
            <a:r>
              <a:rPr lang="en-US" sz="1700" dirty="0"/>
              <a:t>  --font-size: 16px;</a:t>
            </a:r>
          </a:p>
          <a:p>
            <a:pPr marL="0" indent="0">
              <a:buNone/>
            </a:pPr>
            <a:r>
              <a:rPr lang="en-US" sz="1700" dirty="0"/>
              <a:t>  --spacing: 1rem;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  <a:p>
            <a:pPr marL="0" indent="0">
              <a:buNone/>
            </a:pPr>
            <a:r>
              <a:rPr lang="en-US" sz="1700" dirty="0"/>
              <a:t>.header {</a:t>
            </a:r>
          </a:p>
          <a:p>
            <a:pPr marL="0" indent="0">
              <a:buNone/>
            </a:pPr>
            <a:r>
              <a:rPr lang="en-US" sz="1700" dirty="0"/>
              <a:t>  color: var(--primary-color);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  <a:p>
            <a:pPr marL="0" indent="0">
              <a:buNone/>
            </a:pPr>
            <a:r>
              <a:rPr lang="en-US" sz="1700" dirty="0"/>
              <a:t>.main {</a:t>
            </a:r>
          </a:p>
          <a:p>
            <a:pPr marL="0" indent="0">
              <a:buNone/>
            </a:pPr>
            <a:r>
              <a:rPr lang="en-US" sz="1700" dirty="0"/>
              <a:t>  font-size: var(--font-size); 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  <a:p>
            <a:pPr marL="0" indent="0">
              <a:buNone/>
            </a:pPr>
            <a:r>
              <a:rPr lang="en-US" sz="1700" dirty="0"/>
              <a:t>.footer {</a:t>
            </a:r>
          </a:p>
          <a:p>
            <a:pPr marL="0" indent="0">
              <a:buNone/>
            </a:pPr>
            <a:r>
              <a:rPr lang="en-US" sz="1700" dirty="0"/>
              <a:t>  padding: var(--spacing); </a:t>
            </a:r>
          </a:p>
          <a:p>
            <a:pPr marL="0" indent="0">
              <a:buNone/>
            </a:pPr>
            <a:r>
              <a:rPr lang="en-US" sz="17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1560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C18E4-79BB-4DDA-9CAD-AAC1CEA36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12D2DBC-999A-DEC6-C290-BB02B5A01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29E176-5C6C-0547-5305-463A623D1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9A17F4-79B9-E455-971E-392B53A0E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1310BF-1672-C549-0587-7AB9CF542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DA8C53-A11B-11DB-4BD2-D48A4DF05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DF542-F7D5-DCAD-066E-F69F26F8A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Shadows &amp; Filters</a:t>
            </a:r>
          </a:p>
        </p:txBody>
      </p:sp>
      <p:pic>
        <p:nvPicPr>
          <p:cNvPr id="6146" name="Picture 2" descr="Lightbox">
            <a:extLst>
              <a:ext uri="{FF2B5EF4-FFF2-40B4-BE49-F238E27FC236}">
                <a16:creationId xmlns:a16="http://schemas.microsoft.com/office/drawing/2014/main" id="{D51A198E-349A-E769-1B33-736FF033F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350" y="1885279"/>
            <a:ext cx="6764903" cy="414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ECA424-8C36-EF68-558F-58EFFE402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https://www.geeksforgeeks.org/css/understanding-css-shadows-box-shadow-vs-drop-shadow/</a:t>
            </a:r>
          </a:p>
        </p:txBody>
      </p:sp>
    </p:spTree>
    <p:extLst>
      <p:ext uri="{BB962C8B-B14F-4D97-AF65-F5344CB8AC3E}">
        <p14:creationId xmlns:p14="http://schemas.microsoft.com/office/powerpoint/2010/main" val="28926388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AD0A78-69B8-1653-D28E-4269C347D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8FA78-D305-60DE-7AA7-212C6FCA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Shadows &amp; Filters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9D21FEA7-82E5-1DBC-EA70-BC074776A1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6915164"/>
              </p:ext>
            </p:extLst>
          </p:nvPr>
        </p:nvGraphicFramePr>
        <p:xfrm>
          <a:off x="515407" y="1966293"/>
          <a:ext cx="11161187" cy="44521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3873">
                  <a:extLst>
                    <a:ext uri="{9D8B030D-6E8A-4147-A177-3AD203B41FA5}">
                      <a16:colId xmlns:a16="http://schemas.microsoft.com/office/drawing/2014/main" val="3134414036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8300985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471637663"/>
                    </a:ext>
                  </a:extLst>
                </a:gridCol>
                <a:gridCol w="4859234">
                  <a:extLst>
                    <a:ext uri="{9D8B030D-6E8A-4147-A177-3AD203B41FA5}">
                      <a16:colId xmlns:a16="http://schemas.microsoft.com/office/drawing/2014/main" val="3415870534"/>
                    </a:ext>
                  </a:extLst>
                </a:gridCol>
              </a:tblGrid>
              <a:tr h="651855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Category</a:t>
                      </a:r>
                    </a:p>
                  </a:txBody>
                  <a:tcPr marL="138529" marR="184705" marT="115441" marB="11544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Property</a:t>
                      </a: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Common Values</a:t>
                      </a: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quote-cjk-patch"/>
                        </a:rPr>
                        <a:t>Usage Example</a:t>
                      </a:r>
                    </a:p>
                  </a:txBody>
                  <a:tcPr marL="184705" marR="184705" marT="115441" marB="115441" anchor="ctr"/>
                </a:tc>
                <a:extLst>
                  <a:ext uri="{0D108BD9-81ED-4DB2-BD59-A6C34878D82A}">
                    <a16:rowId xmlns:a16="http://schemas.microsoft.com/office/drawing/2014/main" val="1864123338"/>
                  </a:ext>
                </a:extLst>
              </a:tr>
              <a:tr h="9500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quote-cjk-patch"/>
                        </a:rPr>
                        <a:t>Shadows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8529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box-shadow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2px 2px 10px #000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box-shadow: 0 4px 8px rgba(0,0,0,0.1);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38529" marT="115441" marB="115441" anchor="ctr"/>
                </a:tc>
                <a:extLst>
                  <a:ext uri="{0D108BD9-81ED-4DB2-BD59-A6C34878D82A}">
                    <a16:rowId xmlns:a16="http://schemas.microsoft.com/office/drawing/2014/main" val="1958694906"/>
                  </a:ext>
                </a:extLst>
              </a:tr>
              <a:tr h="9500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quote-cjk-patch"/>
                        </a:rPr>
                        <a:t>Shadows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8529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text-shadow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1px 1px 2px #000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text-shadow: 2px 2px 4px rgba(0,0,0,0.5);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38529" marT="115441" marB="115441" anchor="ctr"/>
                </a:tc>
                <a:extLst>
                  <a:ext uri="{0D108BD9-81ED-4DB2-BD59-A6C34878D82A}">
                    <a16:rowId xmlns:a16="http://schemas.microsoft.com/office/drawing/2014/main" val="3131578700"/>
                  </a:ext>
                </a:extLst>
              </a:tr>
              <a:tr h="9500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quote-cjk-patch"/>
                        </a:rPr>
                        <a:t>Filters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8529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filter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blur()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brightness()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Menlo"/>
                        </a:rPr>
                        <a:t>filter: blur(5px) brightness(150%);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84705" marR="138529" marT="115441" marB="115441" anchor="ctr"/>
                </a:tc>
                <a:extLst>
                  <a:ext uri="{0D108BD9-81ED-4DB2-BD59-A6C34878D82A}">
                    <a16:rowId xmlns:a16="http://schemas.microsoft.com/office/drawing/2014/main" val="667493480"/>
                  </a:ext>
                </a:extLst>
              </a:tr>
              <a:tr h="95007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2000" b="1">
                          <a:effectLst/>
                          <a:latin typeface="quote-cjk-patch"/>
                        </a:rPr>
                        <a:t>Filters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38529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backdrop-filter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>
                          <a:effectLst/>
                          <a:latin typeface="Menlo"/>
                        </a:rPr>
                        <a:t>blur()</a:t>
                      </a:r>
                      <a:r>
                        <a:rPr lang="en-US" sz="2000" b="0">
                          <a:effectLst/>
                          <a:latin typeface="quote-cjk-patch"/>
                        </a:rPr>
                        <a:t>, </a:t>
                      </a:r>
                      <a:r>
                        <a:rPr lang="en-US" sz="2000" b="0">
                          <a:effectLst/>
                          <a:latin typeface="Menlo"/>
                        </a:rPr>
                        <a:t>grayscale()</a:t>
                      </a:r>
                      <a:endParaRPr lang="en-US" sz="2000" b="0">
                        <a:effectLst/>
                        <a:latin typeface="quote-cjk-patch"/>
                      </a:endParaRPr>
                    </a:p>
                  </a:txBody>
                  <a:tcPr marL="184705" marR="184705" marT="115441" marB="11544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2000" b="0" dirty="0">
                          <a:effectLst/>
                          <a:latin typeface="Menlo"/>
                        </a:rPr>
                        <a:t>backdrop-filter: blur(10px);</a:t>
                      </a:r>
                      <a:endParaRPr lang="en-US" sz="2000" b="0" dirty="0">
                        <a:effectLst/>
                        <a:latin typeface="quote-cjk-patch"/>
                      </a:endParaRPr>
                    </a:p>
                  </a:txBody>
                  <a:tcPr marL="184705" marR="138529" marT="115441" marB="115441" anchor="ctr"/>
                </a:tc>
                <a:extLst>
                  <a:ext uri="{0D108BD9-81ED-4DB2-BD59-A6C34878D82A}">
                    <a16:rowId xmlns:a16="http://schemas.microsoft.com/office/drawing/2014/main" val="70217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7963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AB6023-3317-071C-C48E-CDD1FE60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91BB1-B253-6FB2-1AED-AE7E733AF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✅ Use </a:t>
            </a:r>
            <a:r>
              <a:rPr lang="en-US" sz="2000" b="1"/>
              <a:t>External CSS</a:t>
            </a:r>
            <a:br>
              <a:rPr lang="en-US" sz="2000"/>
            </a:br>
            <a:r>
              <a:rPr lang="en-US" sz="2000"/>
              <a:t>✅ Keep </a:t>
            </a:r>
            <a:r>
              <a:rPr lang="en-US" sz="2000" b="1"/>
              <a:t>naming consistent</a:t>
            </a:r>
            <a:br>
              <a:rPr lang="en-US" sz="2000"/>
            </a:br>
            <a:r>
              <a:rPr lang="en-US" sz="2000"/>
              <a:t>✅ Comment your code</a:t>
            </a:r>
            <a:br>
              <a:rPr lang="en-US" sz="2000"/>
            </a:br>
            <a:r>
              <a:rPr lang="en-US" sz="2000"/>
              <a:t>✅ Avoid too much !important</a:t>
            </a:r>
            <a:br>
              <a:rPr lang="en-US" sz="2000"/>
            </a:br>
            <a:r>
              <a:rPr lang="en-US" sz="2000"/>
              <a:t>✅ Test in multiple browsers</a:t>
            </a:r>
          </a:p>
        </p:txBody>
      </p:sp>
    </p:spTree>
    <p:extLst>
      <p:ext uri="{BB962C8B-B14F-4D97-AF65-F5344CB8AC3E}">
        <p14:creationId xmlns:p14="http://schemas.microsoft.com/office/powerpoint/2010/main" val="2748997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4837</TotalTime>
  <Words>1753</Words>
  <Application>Microsoft Office PowerPoint</Application>
  <PresentationFormat>Widescreen</PresentationFormat>
  <Paragraphs>470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Aptos Display</vt:lpstr>
      <vt:lpstr>Arial</vt:lpstr>
      <vt:lpstr>Courier New</vt:lpstr>
      <vt:lpstr>Menlo</vt:lpstr>
      <vt:lpstr>quote-cjk-patch</vt:lpstr>
      <vt:lpstr>Office Theme</vt:lpstr>
      <vt:lpstr>CSS – Cascading Stylesheet</vt:lpstr>
      <vt:lpstr>CSS</vt:lpstr>
      <vt:lpstr>Why Use CSS?</vt:lpstr>
      <vt:lpstr>CSS Syntax</vt:lpstr>
      <vt:lpstr>CSS – Using Method</vt:lpstr>
      <vt:lpstr>Inline CSS</vt:lpstr>
      <vt:lpstr>Internal CSS</vt:lpstr>
      <vt:lpstr>External CSS</vt:lpstr>
      <vt:lpstr>PowerPoint Presentation</vt:lpstr>
      <vt:lpstr>Confusion Solve Method</vt:lpstr>
      <vt:lpstr>Confusion Solve Method</vt:lpstr>
      <vt:lpstr>Selectors</vt:lpstr>
      <vt:lpstr>Color Formats Supported in CSS</vt:lpstr>
      <vt:lpstr>Border &amp; Outline Properties</vt:lpstr>
      <vt:lpstr>Backgrounds</vt:lpstr>
      <vt:lpstr>Box Model </vt:lpstr>
      <vt:lpstr>Box Model Properties </vt:lpstr>
      <vt:lpstr>Fonts &amp; Text</vt:lpstr>
      <vt:lpstr>Layout</vt:lpstr>
      <vt:lpstr>Layout Properties</vt:lpstr>
      <vt:lpstr>Flexbox Layout</vt:lpstr>
      <vt:lpstr>Flexbox Layout Properties</vt:lpstr>
      <vt:lpstr>CSS Grid Layout</vt:lpstr>
      <vt:lpstr>CSS Grid Layout</vt:lpstr>
      <vt:lpstr>Transitions &amp; Animations</vt:lpstr>
      <vt:lpstr>Responsive Design</vt:lpstr>
      <vt:lpstr>Media Queries</vt:lpstr>
      <vt:lpstr>Pseudo-classes &amp; Pseudo-elements</vt:lpstr>
      <vt:lpstr>CSS Variables</vt:lpstr>
      <vt:lpstr>CSS Variables Example</vt:lpstr>
      <vt:lpstr>Shadows &amp; Filters</vt:lpstr>
      <vt:lpstr>Shadows &amp; Filters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Mahadi Hassan</dc:creator>
  <cp:lastModifiedBy>Mahadi Hassan</cp:lastModifiedBy>
  <cp:revision>14</cp:revision>
  <dcterms:created xsi:type="dcterms:W3CDTF">2025-10-24T16:24:00Z</dcterms:created>
  <dcterms:modified xsi:type="dcterms:W3CDTF">2025-11-15T01:36:09Z</dcterms:modified>
</cp:coreProperties>
</file>