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9" r:id="rId4"/>
    <p:sldId id="270" r:id="rId5"/>
    <p:sldId id="284" r:id="rId6"/>
    <p:sldId id="286" r:id="rId7"/>
    <p:sldId id="285" r:id="rId8"/>
    <p:sldId id="288" r:id="rId9"/>
    <p:sldId id="262" r:id="rId10"/>
    <p:sldId id="263" r:id="rId11"/>
    <p:sldId id="292" r:id="rId12"/>
    <p:sldId id="264" r:id="rId13"/>
    <p:sldId id="268" r:id="rId14"/>
    <p:sldId id="271" r:id="rId15"/>
    <p:sldId id="265" r:id="rId16"/>
    <p:sldId id="290" r:id="rId17"/>
    <p:sldId id="291" r:id="rId18"/>
    <p:sldId id="281" r:id="rId19"/>
    <p:sldId id="280" r:id="rId20"/>
    <p:sldId id="267" r:id="rId21"/>
    <p:sldId id="272" r:id="rId22"/>
    <p:sldId id="273" r:id="rId23"/>
    <p:sldId id="274" r:id="rId24"/>
    <p:sldId id="275" r:id="rId25"/>
    <p:sldId id="276" r:id="rId26"/>
    <p:sldId id="277" r:id="rId27"/>
    <p:sldId id="282" r:id="rId28"/>
    <p:sldId id="279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4E20D-18D9-88A4-E3AF-7AB3346DD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A6BA91-A9D0-87FC-8325-C597F63CE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830D3-2D57-6ABD-184A-6F772DD01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8476A-2A93-3B8A-9AC2-35E64916B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1DDBC-26A3-4A85-06E5-9E403E8BB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9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9B94-151E-1DF0-BCB7-21A89EB5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58664-305B-7C18-A3E6-1A122BBF0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1EA0-E9BF-FECA-8AF1-34FF039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1253C-5452-1708-9844-7CFC8F9F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3AFDA-B787-368F-B750-838594990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31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CC1C7-C371-1793-CBDB-82A94E171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A3792F-C0AE-E1D1-7509-EC1D608FC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CEDEE-14A3-F09D-3AAD-147DEF6CC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EB056-3E4D-30F0-E7D8-AEC0E4F9A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2FFAA-E843-121A-FFDD-CA8B9C428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26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133F6-6BBC-A4C5-8688-6149D39C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78482-89C8-D00B-36D2-862CA8754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4BB20-71ED-C8DB-82AD-250E65ECE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D716B-0AAC-AFCE-C8B6-FB4668BD0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6B79A6-D4DB-CEB8-C2B1-7738379FA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F1C1F-153B-D63A-9D0F-96707411B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341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D675-951E-0A6E-2D0E-06732ACE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D11B-2EE8-0970-4093-A1D856DA5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306663-1D84-14B5-E93A-FFB5BE4C4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48567-2AF7-2AF7-1E0B-1C61B18EE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D6067-C772-E666-7B83-0F69F180B9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3229D9-35A3-C413-1497-BA62B95D2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B15E36-D506-7CFE-2D42-2CC9F94D6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628DBD-F1F0-D016-FE74-BE10589C1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248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5CDB-4487-CA32-F03F-B8846A712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8D7E85-C5A5-3CB4-8E81-25FAEA86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C4161B-865F-3D1F-849F-EAE3250FC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94B29-0A3C-5E8C-00F2-D47D3695E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87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84D10-C4B8-617B-87F2-D3E08657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014850-48E4-27BE-83BD-77276040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75AC8-FAD7-CF7B-55D1-90442B2F5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608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21D0-7316-6C4F-2512-4BB42CB13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9F5D0-881A-EBE3-9248-5D5F2A8806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8361B-B4E0-1CC2-FC59-B829632D0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C6B05-EC88-AC5B-A549-0F5169E3A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BBCC53-8CFA-C119-9EDE-EA70B91D4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DEC70-2818-67AF-8A57-A46A4C361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35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8390C-91BD-85E7-5B1E-8EA557BF7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CDE7D7-4AF3-8224-EB49-EFF55EB71C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DADA0-1815-12D8-9D00-DCA4753C9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6A3F3-327A-5C19-865A-84D676FC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91607-487B-D1BB-5A1E-D95BD12F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E63A8-3F30-0F06-FFB5-DE354955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21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25CA7-DE9D-5F28-EBC4-6659DC622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F4B832-30FA-261F-6714-ED1A2459C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198BB-230A-E4AA-D7CC-09748BDFC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A6E7D-999B-B1FE-5D06-F4ADE3675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054EB-40E4-3C44-8926-54EB8D1E0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234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22DF98-87DB-58B5-E0BD-D3CEAD69ED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9DE4D-0EA0-95F0-0F3D-FA8622863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5E9C0-9530-CB86-8F7F-1FB720925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29536-12A8-97A6-FCEB-ABD312A62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2C16A-A8B8-986B-5982-286661EB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3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A0498D-62BD-3782-1DD8-34E1CDA30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1A33F-24A4-09EA-0AC1-0B6E28028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86D90-ABEC-BF64-6DCB-D69911883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5FBE3-EDB4-440D-A119-5967DD7F6BB4}" type="datetimeFigureOut">
              <a:rPr lang="en-US" smtClean="0"/>
              <a:t>31-Oct-25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49AC8-B2C5-77F5-9A92-A0F5FC44A9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B2DB7-56E6-EC6A-DFFB-C1F916423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92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bg1"/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34538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23905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23905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3E874-2E8C-36B0-2C72-E8C27D091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42409" y="895483"/>
            <a:ext cx="5786232" cy="3011190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chemeClr val="bg1"/>
                </a:solidFill>
              </a:rPr>
              <a:t>CSS – Cascading Stylesheet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897606-F392-E214-B145-0926D6ED6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6270" y="4142096"/>
            <a:ext cx="5338511" cy="1055142"/>
          </a:xfrm>
        </p:spPr>
        <p:txBody>
          <a:bodyPr>
            <a:normAutofit/>
          </a:bodyPr>
          <a:lstStyle/>
          <a:p>
            <a:r>
              <a:rPr lang="en-US" sz="2000" i="1">
                <a:solidFill>
                  <a:schemeClr val="bg1"/>
                </a:solidFill>
              </a:rPr>
              <a:t>Prepared By </a:t>
            </a:r>
          </a:p>
          <a:p>
            <a:r>
              <a:rPr lang="en-US" sz="2000" i="1">
                <a:solidFill>
                  <a:schemeClr val="bg1"/>
                </a:solidFill>
              </a:rPr>
              <a:t>Mahadi Hassan</a:t>
            </a:r>
          </a:p>
        </p:txBody>
      </p:sp>
      <p:sp>
        <p:nvSpPr>
          <p:cNvPr id="35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9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6" name="Oval 45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168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33C3B-BE2F-4946-5624-4BD2F4FCD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F38FD1-48F7-5E65-4321-934E15CCB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CSS = </a:t>
            </a:r>
            <a:r>
              <a:rPr lang="en-US" sz="2000" b="1"/>
              <a:t>Cascading Style Sheets</a:t>
            </a:r>
            <a:endParaRPr lang="en-US" sz="2000"/>
          </a:p>
          <a:p>
            <a:pPr marL="0" indent="0">
              <a:buNone/>
            </a:pPr>
            <a:r>
              <a:rPr lang="en-US" sz="2000"/>
              <a:t>- It defines </a:t>
            </a:r>
            <a:r>
              <a:rPr lang="en-US" sz="2000" b="1"/>
              <a:t>how HTML elements are displayed</a:t>
            </a:r>
            <a:r>
              <a:rPr lang="en-US" sz="2000"/>
              <a:t>.</a:t>
            </a:r>
          </a:p>
          <a:p>
            <a:pPr marL="0" indent="0">
              <a:buNone/>
            </a:pPr>
            <a:r>
              <a:rPr lang="en-US" sz="2000"/>
              <a:t>- Controls </a:t>
            </a:r>
            <a:r>
              <a:rPr lang="en-US" sz="2000" b="1"/>
              <a:t>colors, layouts, fonts, spacing, and animations</a:t>
            </a:r>
            <a:r>
              <a:rPr lang="en-US" sz="2000"/>
              <a:t>.</a:t>
            </a:r>
          </a:p>
          <a:p>
            <a:pPr marL="0" indent="0">
              <a:buNone/>
            </a:pPr>
            <a:r>
              <a:rPr lang="en-US" sz="2000"/>
              <a:t>- Works with HTML and JavaScript.</a:t>
            </a:r>
          </a:p>
          <a:p>
            <a:pPr marL="0" indent="0">
              <a:buNone/>
            </a:pPr>
            <a:r>
              <a:rPr lang="en-US" sz="2000" b="1">
                <a:highlight>
                  <a:srgbClr val="FFFF00"/>
                </a:highlight>
              </a:rPr>
              <a:t>Note:</a:t>
            </a:r>
            <a:r>
              <a:rPr lang="en-US" sz="2000"/>
              <a:t> </a:t>
            </a:r>
            <a:r>
              <a:rPr lang="en-US" sz="2000" b="1"/>
              <a:t>HTML = structure</a:t>
            </a:r>
            <a:r>
              <a:rPr lang="en-US" sz="2000"/>
              <a:t>, </a:t>
            </a:r>
            <a:r>
              <a:rPr lang="en-US" sz="2000" b="1"/>
              <a:t>CSS = design</a:t>
            </a:r>
            <a:r>
              <a:rPr lang="en-US" sz="2000"/>
              <a:t>, </a:t>
            </a:r>
            <a:r>
              <a:rPr lang="en-US" sz="2000" b="1"/>
              <a:t>JS = interaction</a:t>
            </a:r>
            <a:r>
              <a:rPr lang="en-US" sz="2000"/>
              <a:t>.</a:t>
            </a:r>
          </a:p>
          <a:p>
            <a:pPr marL="0" indent="0">
              <a:buNone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355055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05A44-8A6C-341F-0179-91503DF2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128B905-5E6F-BB70-D48E-4CD5A3F5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Why Use CSS?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D0C0F80-FD1B-AB83-380E-0EBC64A69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dirty="0"/>
              <a:t>Separate content from design</a:t>
            </a:r>
          </a:p>
          <a:p>
            <a:r>
              <a:rPr lang="en-US" dirty="0"/>
              <a:t>Reuse styles across multiple pages</a:t>
            </a:r>
          </a:p>
          <a:p>
            <a:r>
              <a:rPr lang="en-US" dirty="0"/>
              <a:t>Create responsive, modern layouts</a:t>
            </a:r>
          </a:p>
          <a:p>
            <a:r>
              <a:rPr lang="en-US" dirty="0"/>
              <a:t>Improve website speed and consistency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229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C79FCD-3A0C-820F-2B2A-9765ABF2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Syntax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0DE700-090E-34F1-C7E6-76A8F578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 dirty="0"/>
              <a:t>Basic CSS Syntax: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selector { property: value; }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b="1" dirty="0"/>
              <a:t>Explanation:</a:t>
            </a:r>
            <a:r>
              <a:rPr lang="en-US" dirty="0"/>
              <a:t> Selector – which element we will style; Property – which aspect of the element we want to change; Value – how we style that property.</a:t>
            </a:r>
            <a:br>
              <a:rPr lang="en-US" dirty="0"/>
            </a:br>
            <a:r>
              <a:rPr lang="en-US" b="1" dirty="0"/>
              <a:t>Example:</a:t>
            </a:r>
            <a:r>
              <a:rPr lang="en-US" dirty="0"/>
              <a:t> </a:t>
            </a:r>
            <a:r>
              <a:rPr lang="en-US" dirty="0">
                <a:solidFill>
                  <a:srgbClr val="00B0F0"/>
                </a:solidFill>
              </a:rPr>
              <a:t>p { color: blue; font-size: 18px; }</a:t>
            </a:r>
          </a:p>
        </p:txBody>
      </p:sp>
    </p:spTree>
    <p:extLst>
      <p:ext uri="{BB962C8B-B14F-4D97-AF65-F5344CB8AC3E}">
        <p14:creationId xmlns:p14="http://schemas.microsoft.com/office/powerpoint/2010/main" val="2640579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4ADF1-A220-9154-1930-22C88BA7A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9F0609-6C80-9109-387F-0B9424260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– Using Method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4422CA6-0408-5827-AA01-E9CCD8604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CSS can be applied in </a:t>
            </a:r>
            <a:r>
              <a:rPr lang="en-US" b="1" dirty="0"/>
              <a:t>three main ways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b="1" dirty="0"/>
              <a:t>Inline CSS</a:t>
            </a:r>
            <a:r>
              <a:rPr lang="en-US" dirty="0"/>
              <a:t> – directly in the HTML element</a:t>
            </a:r>
          </a:p>
          <a:p>
            <a:pPr marL="0" indent="0">
              <a:buNone/>
            </a:pPr>
            <a:r>
              <a:rPr lang="en-US" b="1" dirty="0"/>
              <a:t>Internal CSS</a:t>
            </a:r>
            <a:r>
              <a:rPr lang="en-US" dirty="0"/>
              <a:t> – inside a &lt;style&gt; tag in the HTML &lt;head&gt;</a:t>
            </a:r>
          </a:p>
          <a:p>
            <a:pPr marL="0" indent="0">
              <a:buNone/>
            </a:pPr>
            <a:r>
              <a:rPr lang="en-US" b="1" dirty="0"/>
              <a:t>External CSS</a:t>
            </a:r>
            <a:r>
              <a:rPr lang="en-US" dirty="0"/>
              <a:t> – in a separate .</a:t>
            </a:r>
            <a:r>
              <a:rPr lang="en-US" dirty="0" err="1"/>
              <a:t>css</a:t>
            </a:r>
            <a:r>
              <a:rPr lang="en-US" dirty="0"/>
              <a:t> file linked to HTML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684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009DB-BFB4-AF75-C100-C8FCF8E75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03DFEC-2D6C-42D7-38C5-752DBD746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Inline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1D35AAE-6D42-4FA0-510F-915257D8C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91440" lvl="1" indent="0" algn="ctr">
              <a:buNone/>
            </a:pPr>
            <a:r>
              <a:rPr lang="en-US" sz="2800" dirty="0"/>
              <a:t>&lt;p style="color: red; font-size: 18px;"&gt;</a:t>
            </a:r>
            <a:r>
              <a:rPr lang="en-US" sz="2800" dirty="0">
                <a:solidFill>
                  <a:srgbClr val="FF0000"/>
                </a:solidFill>
              </a:rPr>
              <a:t>Hello World</a:t>
            </a:r>
            <a:r>
              <a:rPr lang="en-US" sz="2800" dirty="0"/>
              <a:t>!&lt;/p&gt;</a:t>
            </a:r>
          </a:p>
        </p:txBody>
      </p:sp>
    </p:spTree>
    <p:extLst>
      <p:ext uri="{BB962C8B-B14F-4D97-AF65-F5344CB8AC3E}">
        <p14:creationId xmlns:p14="http://schemas.microsoft.com/office/powerpoint/2010/main" val="3570495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CB1F2-3AD3-3D8C-2F75-1036BCC4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06BD73-3708-5A56-7E0D-34CF4CBB8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Internal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4CAADB60-9213-381B-329E-6F601648F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622744"/>
            <a:ext cx="9724031" cy="5032055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dirty="0"/>
              <a:t>&lt;html&gt;</a:t>
            </a:r>
          </a:p>
          <a:p>
            <a:pPr marL="0" indent="0">
              <a:buNone/>
            </a:pPr>
            <a:r>
              <a:rPr lang="en-US" sz="2000" dirty="0"/>
              <a:t>         &lt;head&gt;</a:t>
            </a:r>
          </a:p>
          <a:p>
            <a:pPr marL="0" indent="0">
              <a:buNone/>
            </a:pPr>
            <a:r>
              <a:rPr lang="en-US" sz="2000" dirty="0"/>
              <a:t>                      &lt;style&gt;</a:t>
            </a:r>
          </a:p>
          <a:p>
            <a:pPr marL="0" indent="0">
              <a:buNone/>
            </a:pPr>
            <a:r>
              <a:rPr lang="en-US" sz="2000" dirty="0"/>
              <a:t>                                    h1 {</a:t>
            </a:r>
          </a:p>
          <a:p>
            <a:pPr marL="0" indent="0">
              <a:buNone/>
            </a:pPr>
            <a:r>
              <a:rPr lang="en-US" sz="2000" dirty="0"/>
              <a:t>                                                color: red;</a:t>
            </a:r>
          </a:p>
          <a:p>
            <a:pPr marL="0" indent="0">
              <a:buNone/>
            </a:pPr>
            <a:r>
              <a:rPr lang="en-US" sz="2000" dirty="0"/>
              <a:t>                                        }</a:t>
            </a:r>
          </a:p>
          <a:p>
            <a:pPr marL="0" indent="0">
              <a:buNone/>
            </a:pPr>
            <a:r>
              <a:rPr lang="en-US" sz="2000" dirty="0"/>
              <a:t>                      &lt;/style&gt;</a:t>
            </a:r>
          </a:p>
          <a:p>
            <a:pPr marL="0" indent="0">
              <a:buNone/>
            </a:pPr>
            <a:r>
              <a:rPr lang="en-US" sz="2000" dirty="0"/>
              <a:t>          &lt;/head&gt;</a:t>
            </a:r>
          </a:p>
          <a:p>
            <a:pPr marL="0" indent="0">
              <a:buNone/>
            </a:pPr>
            <a:r>
              <a:rPr lang="en-US" sz="2000" dirty="0"/>
              <a:t>          &lt;body&gt;</a:t>
            </a:r>
          </a:p>
          <a:p>
            <a:pPr marL="0" indent="0">
              <a:buNone/>
            </a:pPr>
            <a:r>
              <a:rPr lang="en-US" sz="2000" dirty="0"/>
              <a:t>                       &lt;h1&gt;</a:t>
            </a:r>
            <a:r>
              <a:rPr lang="en-US" sz="2000" dirty="0">
                <a:solidFill>
                  <a:srgbClr val="FF0000"/>
                </a:solidFill>
              </a:rPr>
              <a:t>This is CSS Page</a:t>
            </a:r>
            <a:r>
              <a:rPr lang="en-US" sz="2000" dirty="0"/>
              <a:t>&lt;/h1&gt;</a:t>
            </a:r>
          </a:p>
          <a:p>
            <a:pPr marL="0" indent="0">
              <a:buNone/>
            </a:pPr>
            <a:r>
              <a:rPr lang="en-US" sz="2000" dirty="0"/>
              <a:t>          &lt;/body&gt;</a:t>
            </a:r>
          </a:p>
          <a:p>
            <a:pPr marL="0" indent="0">
              <a:buNone/>
            </a:pPr>
            <a:r>
              <a:rPr lang="en-US" sz="2000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488051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707E8-EE41-DE45-7AD5-7BEE611F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3FCB91-4F6E-9FCF-2CF3-6651D291F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External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3F3434E-4505-68A6-FD18-F3905EF3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35200"/>
            <a:ext cx="6583681" cy="3766355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Html.html</a:t>
            </a:r>
          </a:p>
          <a:p>
            <a:pPr marL="0" indent="0">
              <a:buNone/>
            </a:pPr>
            <a:r>
              <a:rPr lang="en-US" sz="2000" dirty="0"/>
              <a:t>&lt;html&gt;</a:t>
            </a:r>
          </a:p>
          <a:p>
            <a:pPr marL="0" indent="0">
              <a:buNone/>
            </a:pPr>
            <a:r>
              <a:rPr lang="en-US" sz="2000" dirty="0"/>
              <a:t>            &lt;head&gt;</a:t>
            </a:r>
          </a:p>
          <a:p>
            <a:pPr marL="0" indent="0">
              <a:buNone/>
            </a:pPr>
            <a:r>
              <a:rPr lang="en-US" sz="2000" dirty="0"/>
              <a:t>                           &lt;link </a:t>
            </a:r>
            <a:r>
              <a:rPr lang="en-US" sz="2000" dirty="0" err="1"/>
              <a:t>rel</a:t>
            </a:r>
            <a:r>
              <a:rPr lang="en-US" sz="2000" dirty="0"/>
              <a:t>=“stylesheet.css” </a:t>
            </a:r>
            <a:r>
              <a:rPr lang="en-US" sz="2000" dirty="0" err="1"/>
              <a:t>href</a:t>
            </a:r>
            <a:r>
              <a:rPr lang="en-US" sz="2000" dirty="0"/>
              <a:t>=“Style.css”&gt;</a:t>
            </a:r>
          </a:p>
          <a:p>
            <a:pPr marL="0" indent="0">
              <a:buNone/>
            </a:pPr>
            <a:r>
              <a:rPr lang="en-US" sz="2000" dirty="0"/>
              <a:t>            &lt;/head&gt;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             &lt;body&gt;</a:t>
            </a:r>
          </a:p>
          <a:p>
            <a:pPr marL="0" indent="0">
              <a:buNone/>
            </a:pPr>
            <a:r>
              <a:rPr lang="en-US" sz="2000" dirty="0"/>
              <a:t>                             &lt;h1 &gt;This is CSS Page&lt;/h1&gt;</a:t>
            </a:r>
          </a:p>
          <a:p>
            <a:pPr marL="0" indent="0">
              <a:buNone/>
            </a:pPr>
            <a:r>
              <a:rPr lang="en-US" sz="2000" dirty="0"/>
              <a:t>             &lt;/body&gt;</a:t>
            </a:r>
          </a:p>
          <a:p>
            <a:pPr marL="0" indent="0">
              <a:buNone/>
            </a:pPr>
            <a:r>
              <a:rPr lang="en-US" sz="2000" dirty="0"/>
              <a:t>&lt;/html&gt;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BBE437-7DA5-8584-5ABB-FB6A6C4EEA36}"/>
              </a:ext>
            </a:extLst>
          </p:cNvPr>
          <p:cNvSpPr txBox="1"/>
          <p:nvPr/>
        </p:nvSpPr>
        <p:spPr>
          <a:xfrm>
            <a:off x="8249920" y="2235200"/>
            <a:ext cx="3332480" cy="1200329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Style.css</a:t>
            </a:r>
          </a:p>
          <a:p>
            <a:r>
              <a:rPr lang="en-US" dirty="0"/>
              <a:t>h1{</a:t>
            </a:r>
          </a:p>
          <a:p>
            <a:r>
              <a:rPr lang="en-US" dirty="0"/>
              <a:t>color: red;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746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9A4E88-77D2-47B3-CA4A-DED518B6CC7F}"/>
              </a:ext>
            </a:extLst>
          </p:cNvPr>
          <p:cNvSpPr txBox="1"/>
          <p:nvPr/>
        </p:nvSpPr>
        <p:spPr>
          <a:xfrm>
            <a:off x="1371599" y="294538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Confusion in CSS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7B0A4-25C8-BC33-D294-1F35BA269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10139681" cy="36833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3200" dirty="0"/>
              <a:t>What will be happen if we will  use three method in one element for same attribute  ?</a:t>
            </a:r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4452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02CB07-4AB2-3CF8-F679-668B11D33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Confusion Solve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F65D8-5D12-65A4-EAA7-775437463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b="1" dirty="0"/>
              <a:t>CSS Priority Order (Cascade Rule)</a:t>
            </a:r>
            <a:r>
              <a:rPr lang="en-US" sz="3600" dirty="0"/>
              <a:t>:“Cascade” means </a:t>
            </a:r>
            <a:r>
              <a:rPr lang="en-US" sz="3600" b="1" dirty="0"/>
              <a:t>the order of importance</a:t>
            </a:r>
            <a:r>
              <a:rPr lang="en-US" sz="3600" dirty="0"/>
              <a:t> when multiple styles affect the same element.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911358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F31BE-772E-F4BD-C712-639A29EB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96CB8D-CF61-2512-D9AA-C43582CE8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Confusion Solve Method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F614F96-E211-3274-C065-16658DCCE3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253242"/>
              </p:ext>
            </p:extLst>
          </p:nvPr>
        </p:nvGraphicFramePr>
        <p:xfrm>
          <a:off x="432225" y="2680131"/>
          <a:ext cx="11327550" cy="3024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395">
                  <a:extLst>
                    <a:ext uri="{9D8B030D-6E8A-4147-A177-3AD203B41FA5}">
                      <a16:colId xmlns:a16="http://schemas.microsoft.com/office/drawing/2014/main" val="3655734161"/>
                    </a:ext>
                  </a:extLst>
                </a:gridCol>
                <a:gridCol w="2254418">
                  <a:extLst>
                    <a:ext uri="{9D8B030D-6E8A-4147-A177-3AD203B41FA5}">
                      <a16:colId xmlns:a16="http://schemas.microsoft.com/office/drawing/2014/main" val="4208724351"/>
                    </a:ext>
                  </a:extLst>
                </a:gridCol>
                <a:gridCol w="5967012">
                  <a:extLst>
                    <a:ext uri="{9D8B030D-6E8A-4147-A177-3AD203B41FA5}">
                      <a16:colId xmlns:a16="http://schemas.microsoft.com/office/drawing/2014/main" val="2069074842"/>
                    </a:ext>
                  </a:extLst>
                </a:gridCol>
                <a:gridCol w="1742725">
                  <a:extLst>
                    <a:ext uri="{9D8B030D-6E8A-4147-A177-3AD203B41FA5}">
                      <a16:colId xmlns:a16="http://schemas.microsoft.com/office/drawing/2014/main" val="3997920561"/>
                    </a:ext>
                  </a:extLst>
                </a:gridCol>
              </a:tblGrid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Priority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Method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Example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Notes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77287623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1️⃣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Inline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&lt;h1 style="color:red;"&gt;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Highest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701193176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2️⃣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Internal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&lt;style&gt;h1{color:blue;}&lt;/style&gt;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Medium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97995937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3️⃣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External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h1{color:green;}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Lowest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1581098979"/>
                  </a:ext>
                </a:extLst>
              </a:tr>
              <a:tr h="902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⚡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!important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color:purple !important;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Overrides all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11790456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0740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DDD3C2-A8F9-1B95-024C-36276432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Selectors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8F3D33-F213-22BC-1EC8-0A51ED5585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2643265"/>
              </p:ext>
            </p:extLst>
          </p:nvPr>
        </p:nvGraphicFramePr>
        <p:xfrm>
          <a:off x="432225" y="2191344"/>
          <a:ext cx="11327550" cy="4002061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  <a:tableStyleId>{5C22544A-7EE6-4342-B048-85BDC9FD1C3A}</a:tableStyleId>
              </a:tblPr>
              <a:tblGrid>
                <a:gridCol w="2723794">
                  <a:extLst>
                    <a:ext uri="{9D8B030D-6E8A-4147-A177-3AD203B41FA5}">
                      <a16:colId xmlns:a16="http://schemas.microsoft.com/office/drawing/2014/main" val="4227829448"/>
                    </a:ext>
                  </a:extLst>
                </a:gridCol>
                <a:gridCol w="2764509">
                  <a:extLst>
                    <a:ext uri="{9D8B030D-6E8A-4147-A177-3AD203B41FA5}">
                      <a16:colId xmlns:a16="http://schemas.microsoft.com/office/drawing/2014/main" val="4294903804"/>
                    </a:ext>
                  </a:extLst>
                </a:gridCol>
                <a:gridCol w="5839247">
                  <a:extLst>
                    <a:ext uri="{9D8B030D-6E8A-4147-A177-3AD203B41FA5}">
                      <a16:colId xmlns:a16="http://schemas.microsoft.com/office/drawing/2014/main" val="4051813662"/>
                    </a:ext>
                  </a:extLst>
                </a:gridCol>
              </a:tblGrid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>
                          <a:solidFill>
                            <a:schemeClr val="bg1"/>
                          </a:solidFill>
                        </a:rPr>
                        <a:t>Selector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>
                          <a:solidFill>
                            <a:schemeClr val="bg1"/>
                          </a:solidFill>
                        </a:rPr>
                        <a:t>Example</a:t>
                      </a:r>
                    </a:p>
                  </a:txBody>
                  <a:tcPr marL="157022" marR="148270" marT="120786" marB="12078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marL="157022" marR="148270" marT="120786" marB="12078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012068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Element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p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all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&lt;p&gt;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 tags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311887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Class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.box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elements with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class="box"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223445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#main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element with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id="main"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466770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Grouping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h1, h2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Styles multiple elements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072972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Universal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*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all elements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756761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Descendant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div p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&lt;p&gt;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 inside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&lt;div&gt;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16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1623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D12498-55BE-647C-DDE0-E249A9E00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</a:rPr>
              <a:t>Box Model</a:t>
            </a:r>
            <a:br>
              <a:rPr lang="en-US" sz="3400" b="1">
                <a:solidFill>
                  <a:srgbClr val="FFFFFF"/>
                </a:solidFill>
              </a:rPr>
            </a:br>
            <a:endParaRPr lang="en-US" sz="3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5640D-96AE-D3F5-6DEA-662DDFED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1055624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Elements are boxes made up of: </a:t>
            </a:r>
          </a:p>
          <a:p>
            <a:r>
              <a:rPr lang="en-US" dirty="0"/>
              <a:t>  Content</a:t>
            </a:r>
          </a:p>
          <a:p>
            <a:r>
              <a:rPr lang="en-US" dirty="0"/>
              <a:t>  Padding</a:t>
            </a:r>
          </a:p>
          <a:p>
            <a:r>
              <a:rPr lang="en-US" dirty="0"/>
              <a:t>  Border</a:t>
            </a:r>
          </a:p>
          <a:p>
            <a:r>
              <a:rPr lang="en-US" dirty="0"/>
              <a:t>  Margin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49AD33-FA13-F266-CDB9-55E573AF5527}"/>
              </a:ext>
            </a:extLst>
          </p:cNvPr>
          <p:cNvSpPr/>
          <p:nvPr/>
        </p:nvSpPr>
        <p:spPr>
          <a:xfrm>
            <a:off x="7782560" y="2824480"/>
            <a:ext cx="3942080" cy="27838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Margin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BC5BC1-2C89-7B0F-596F-371B768E06C6}"/>
              </a:ext>
            </a:extLst>
          </p:cNvPr>
          <p:cNvSpPr/>
          <p:nvPr/>
        </p:nvSpPr>
        <p:spPr>
          <a:xfrm>
            <a:off x="8275320" y="3184516"/>
            <a:ext cx="2956560" cy="19507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Border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1F4FE-1A5E-F50C-27FC-1265CD157B5D}"/>
              </a:ext>
            </a:extLst>
          </p:cNvPr>
          <p:cNvSpPr/>
          <p:nvPr/>
        </p:nvSpPr>
        <p:spPr>
          <a:xfrm>
            <a:off x="8765540" y="3512498"/>
            <a:ext cx="1976120" cy="14078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Padding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BF8AA0-F2FF-954C-7418-69EA282365F9}"/>
              </a:ext>
            </a:extLst>
          </p:cNvPr>
          <p:cNvSpPr/>
          <p:nvPr/>
        </p:nvSpPr>
        <p:spPr>
          <a:xfrm>
            <a:off x="8967470" y="3828889"/>
            <a:ext cx="1597660" cy="77502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11094999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FA2715-1C24-F757-E147-0DDD9B41F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Borders, Margins, Padding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A2C955-8657-D25D-3D6D-68A9B9ECE5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278636"/>
              </p:ext>
            </p:extLst>
          </p:nvPr>
        </p:nvGraphicFramePr>
        <p:xfrm>
          <a:off x="644056" y="2202030"/>
          <a:ext cx="10927830" cy="401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525">
                  <a:extLst>
                    <a:ext uri="{9D8B030D-6E8A-4147-A177-3AD203B41FA5}">
                      <a16:colId xmlns:a16="http://schemas.microsoft.com/office/drawing/2014/main" val="3163019689"/>
                    </a:ext>
                  </a:extLst>
                </a:gridCol>
                <a:gridCol w="7416305">
                  <a:extLst>
                    <a:ext uri="{9D8B030D-6E8A-4147-A177-3AD203B41FA5}">
                      <a16:colId xmlns:a16="http://schemas.microsoft.com/office/drawing/2014/main" val="2601631075"/>
                    </a:ext>
                  </a:extLst>
                </a:gridCol>
              </a:tblGrid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/>
                        <a:t>Property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/>
                        <a:t>Use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3430484357"/>
                  </a:ext>
                </a:extLst>
              </a:tr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>
                          <a:latin typeface="Courier New" panose="02070309020205020404" pitchFamily="49" charset="0"/>
                        </a:rPr>
                        <a:t>width</a:t>
                      </a:r>
                      <a:r>
                        <a:rPr lang="en-US" sz="3100"/>
                        <a:t> / </a:t>
                      </a:r>
                      <a:r>
                        <a:rPr lang="en-US" sz="3100">
                          <a:latin typeface="Courier New" panose="02070309020205020404" pitchFamily="49" charset="0"/>
                        </a:rPr>
                        <a:t>height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/>
                        <a:t>Set element size</a:t>
                      </a:r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1694093230"/>
                  </a:ext>
                </a:extLst>
              </a:tr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>
                          <a:latin typeface="Courier New" panose="02070309020205020404" pitchFamily="49" charset="0"/>
                        </a:rPr>
                        <a:t>padding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/>
                        <a:t>Space inside border</a:t>
                      </a:r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2997733471"/>
                  </a:ext>
                </a:extLst>
              </a:tr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>
                          <a:latin typeface="Courier New" panose="02070309020205020404" pitchFamily="49" charset="0"/>
                        </a:rPr>
                        <a:t>margin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/>
                        <a:t>Space outside border</a:t>
                      </a:r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3838906714"/>
                  </a:ext>
                </a:extLst>
              </a:tr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>
                          <a:latin typeface="Courier New" panose="02070309020205020404" pitchFamily="49" charset="0"/>
                        </a:rPr>
                        <a:t>border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/>
                        <a:t>Add border style, width, and color</a:t>
                      </a:r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2856689054"/>
                  </a:ext>
                </a:extLst>
              </a:tr>
              <a:tr h="668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>
                          <a:latin typeface="Courier New" panose="02070309020205020404" pitchFamily="49" charset="0"/>
                        </a:rPr>
                        <a:t>box-sizing</a:t>
                      </a:r>
                      <a:endParaRPr lang="en-US" sz="3100"/>
                    </a:p>
                  </a:txBody>
                  <a:tcPr marL="159968" marR="159968" marT="79984" marB="7998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/>
                        <a:t>Include padding/border in element size</a:t>
                      </a:r>
                    </a:p>
                  </a:txBody>
                  <a:tcPr marL="159968" marR="159968" marT="79984" marB="79984" anchor="ctr"/>
                </a:tc>
                <a:extLst>
                  <a:ext uri="{0D108BD9-81ED-4DB2-BD59-A6C34878D82A}">
                    <a16:rowId xmlns:a16="http://schemas.microsoft.com/office/drawing/2014/main" val="1013638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4708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587245-EC73-D777-34FB-96FE57A82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Layout Properties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FC3CC1F-D14A-8DA2-37FF-817FD16E66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09891"/>
              </p:ext>
            </p:extLst>
          </p:nvPr>
        </p:nvGraphicFramePr>
        <p:xfrm>
          <a:off x="849022" y="2112579"/>
          <a:ext cx="10517898" cy="4192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4660">
                  <a:extLst>
                    <a:ext uri="{9D8B030D-6E8A-4147-A177-3AD203B41FA5}">
                      <a16:colId xmlns:a16="http://schemas.microsoft.com/office/drawing/2014/main" val="3798029556"/>
                    </a:ext>
                  </a:extLst>
                </a:gridCol>
                <a:gridCol w="6153238">
                  <a:extLst>
                    <a:ext uri="{9D8B030D-6E8A-4147-A177-3AD203B41FA5}">
                      <a16:colId xmlns:a16="http://schemas.microsoft.com/office/drawing/2014/main" val="1378327163"/>
                    </a:ext>
                  </a:extLst>
                </a:gridCol>
              </a:tblGrid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Property</a:t>
                      </a:r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Description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197358505"/>
                  </a:ext>
                </a:extLst>
              </a:tr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display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2500">
                          <a:latin typeface="Courier New" panose="02070309020205020404" pitchFamily="49" charset="0"/>
                        </a:rPr>
                        <a:t>block</a:t>
                      </a:r>
                      <a:r>
                        <a:rPr lang="sv-SE" sz="2500"/>
                        <a:t>, </a:t>
                      </a:r>
                      <a:r>
                        <a:rPr lang="sv-SE" sz="2500">
                          <a:latin typeface="Courier New" panose="02070309020205020404" pitchFamily="49" charset="0"/>
                        </a:rPr>
                        <a:t>inline</a:t>
                      </a:r>
                      <a:r>
                        <a:rPr lang="sv-SE" sz="2500"/>
                        <a:t>, </a:t>
                      </a:r>
                      <a:r>
                        <a:rPr lang="sv-SE" sz="2500">
                          <a:latin typeface="Courier New" panose="02070309020205020404" pitchFamily="49" charset="0"/>
                        </a:rPr>
                        <a:t>flex</a:t>
                      </a:r>
                      <a:r>
                        <a:rPr lang="sv-SE" sz="2500"/>
                        <a:t>, </a:t>
                      </a:r>
                      <a:r>
                        <a:rPr lang="sv-SE" sz="2500">
                          <a:latin typeface="Courier New" panose="02070309020205020404" pitchFamily="49" charset="0"/>
                        </a:rPr>
                        <a:t>grid</a:t>
                      </a:r>
                      <a:r>
                        <a:rPr lang="sv-SE" sz="2500"/>
                        <a:t>, etc.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2700120529"/>
                  </a:ext>
                </a:extLst>
              </a:tr>
              <a:tr h="925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position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static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relative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absolute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fixed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sticky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2401742251"/>
                  </a:ext>
                </a:extLst>
              </a:tr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top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left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right</a:t>
                      </a:r>
                      <a:r>
                        <a:rPr lang="en-US" sz="2500"/>
                        <a:t>,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bottom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Position offsets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3185194801"/>
                  </a:ext>
                </a:extLst>
              </a:tr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z-index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Controls stacking order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27580305"/>
                  </a:ext>
                </a:extLst>
              </a:tr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float</a:t>
                      </a:r>
                      <a:r>
                        <a:rPr lang="en-US" sz="2500"/>
                        <a:t> / </a:t>
                      </a:r>
                      <a:r>
                        <a:rPr lang="en-US" sz="2500">
                          <a:latin typeface="Courier New" panose="02070309020205020404" pitchFamily="49" charset="0"/>
                        </a:rPr>
                        <a:t>clear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Old layout method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2467102196"/>
                  </a:ext>
                </a:extLst>
              </a:tr>
              <a:tr h="544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Courier New" panose="02070309020205020404" pitchFamily="49" charset="0"/>
                        </a:rPr>
                        <a:t>overflow</a:t>
                      </a:r>
                      <a:endParaRPr lang="en-US" sz="2500"/>
                    </a:p>
                  </a:txBody>
                  <a:tcPr marL="126563" marR="126563" marT="63280" marB="632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Controls hidden/scroll content</a:t>
                      </a:r>
                    </a:p>
                  </a:txBody>
                  <a:tcPr marL="126563" marR="126563" marT="63280" marB="63280" anchor="ctr"/>
                </a:tc>
                <a:extLst>
                  <a:ext uri="{0D108BD9-81ED-4DB2-BD59-A6C34878D82A}">
                    <a16:rowId xmlns:a16="http://schemas.microsoft.com/office/drawing/2014/main" val="24622347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3143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04D10-7B2E-6830-C84E-C1DE8173C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Color Properties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E2FCD6-FCE7-A4A8-80CC-CE67FE4087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7344986"/>
              </p:ext>
            </p:extLst>
          </p:nvPr>
        </p:nvGraphicFramePr>
        <p:xfrm>
          <a:off x="644056" y="2443280"/>
          <a:ext cx="10927830" cy="2139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2079">
                  <a:extLst>
                    <a:ext uri="{9D8B030D-6E8A-4147-A177-3AD203B41FA5}">
                      <a16:colId xmlns:a16="http://schemas.microsoft.com/office/drawing/2014/main" val="3360217959"/>
                    </a:ext>
                  </a:extLst>
                </a:gridCol>
                <a:gridCol w="3245078">
                  <a:extLst>
                    <a:ext uri="{9D8B030D-6E8A-4147-A177-3AD203B41FA5}">
                      <a16:colId xmlns:a16="http://schemas.microsoft.com/office/drawing/2014/main" val="123070820"/>
                    </a:ext>
                  </a:extLst>
                </a:gridCol>
                <a:gridCol w="5100673">
                  <a:extLst>
                    <a:ext uri="{9D8B030D-6E8A-4147-A177-3AD203B41FA5}">
                      <a16:colId xmlns:a16="http://schemas.microsoft.com/office/drawing/2014/main" val="4410542"/>
                    </a:ext>
                  </a:extLst>
                </a:gridCol>
              </a:tblGrid>
              <a:tr h="577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/>
                        <a:t>Property</a:t>
                      </a:r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Description</a:t>
                      </a:r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Example</a:t>
                      </a:r>
                    </a:p>
                  </a:txBody>
                  <a:tcPr marL="134433" marR="134433" marT="67216" marB="67216" anchor="ctr"/>
                </a:tc>
                <a:extLst>
                  <a:ext uri="{0D108BD9-81ED-4DB2-BD59-A6C34878D82A}">
                    <a16:rowId xmlns:a16="http://schemas.microsoft.com/office/drawing/2014/main" val="1309669611"/>
                  </a:ext>
                </a:extLst>
              </a:tr>
              <a:tr h="577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color</a:t>
                      </a:r>
                      <a:endParaRPr lang="en-US" sz="2700"/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Sets </a:t>
                      </a:r>
                      <a:r>
                        <a:rPr lang="en-US" sz="2700" b="1"/>
                        <a:t>text color</a:t>
                      </a:r>
                      <a:endParaRPr lang="en-US" sz="2700"/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color: white;</a:t>
                      </a:r>
                      <a:endParaRPr lang="en-US" sz="2700"/>
                    </a:p>
                  </a:txBody>
                  <a:tcPr marL="134433" marR="134433" marT="67216" marB="67216" anchor="ctr"/>
                </a:tc>
                <a:extLst>
                  <a:ext uri="{0D108BD9-81ED-4DB2-BD59-A6C34878D82A}">
                    <a16:rowId xmlns:a16="http://schemas.microsoft.com/office/drawing/2014/main" val="3931756379"/>
                  </a:ext>
                </a:extLst>
              </a:tr>
              <a:tr h="984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background-color</a:t>
                      </a:r>
                      <a:endParaRPr lang="en-US" sz="2700"/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Sets </a:t>
                      </a:r>
                      <a:r>
                        <a:rPr lang="en-US" sz="2700" b="1"/>
                        <a:t>background color</a:t>
                      </a:r>
                      <a:endParaRPr lang="en-US" sz="2700"/>
                    </a:p>
                  </a:txBody>
                  <a:tcPr marL="134433" marR="134433" marT="67216" marB="672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Courier New" panose="02070309020205020404" pitchFamily="49" charset="0"/>
                        </a:rPr>
                        <a:t>background-color: blue;</a:t>
                      </a:r>
                      <a:endParaRPr lang="en-US" sz="2700" dirty="0"/>
                    </a:p>
                  </a:txBody>
                  <a:tcPr marL="134433" marR="134433" marT="67216" marB="67216" anchor="ctr"/>
                </a:tc>
                <a:extLst>
                  <a:ext uri="{0D108BD9-81ED-4DB2-BD59-A6C34878D82A}">
                    <a16:rowId xmlns:a16="http://schemas.microsoft.com/office/drawing/2014/main" val="1575242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8484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97E436-9C7B-5C9E-29E4-DE6F01696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Color Formats Supported in CSS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F6F3897-D4E0-6454-1743-13E8665495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4988696"/>
              </p:ext>
            </p:extLst>
          </p:nvPr>
        </p:nvGraphicFramePr>
        <p:xfrm>
          <a:off x="644056" y="2311453"/>
          <a:ext cx="10927830" cy="3795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20">
                  <a:extLst>
                    <a:ext uri="{9D8B030D-6E8A-4147-A177-3AD203B41FA5}">
                      <a16:colId xmlns:a16="http://schemas.microsoft.com/office/drawing/2014/main" val="4203382933"/>
                    </a:ext>
                  </a:extLst>
                </a:gridCol>
                <a:gridCol w="4374058">
                  <a:extLst>
                    <a:ext uri="{9D8B030D-6E8A-4147-A177-3AD203B41FA5}">
                      <a16:colId xmlns:a16="http://schemas.microsoft.com/office/drawing/2014/main" val="3633792897"/>
                    </a:ext>
                  </a:extLst>
                </a:gridCol>
                <a:gridCol w="4303752">
                  <a:extLst>
                    <a:ext uri="{9D8B030D-6E8A-4147-A177-3AD203B41FA5}">
                      <a16:colId xmlns:a16="http://schemas.microsoft.com/office/drawing/2014/main" val="2581621948"/>
                    </a:ext>
                  </a:extLst>
                </a:gridCol>
              </a:tblGrid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Format</a:t>
                      </a:r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Example</a:t>
                      </a:r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Description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1750963271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Color name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red</a:t>
                      </a:r>
                      <a:r>
                        <a:rPr lang="en-US" sz="2600"/>
                        <a:t>, </a:t>
                      </a:r>
                      <a:r>
                        <a:rPr lang="en-US" sz="2600">
                          <a:latin typeface="Courier New" panose="02070309020205020404" pitchFamily="49" charset="0"/>
                        </a:rPr>
                        <a:t>blue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Predefined color names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880429000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HEX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#FF0000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Hexadecimal color code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035901876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RGB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rgb(255, 0, 0)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Red, Green, Blue values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674838253"/>
                  </a:ext>
                </a:extLst>
              </a:tr>
              <a:tr h="96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RGBA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rgba(255, 0, 0, 0.5)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RGB + transparency (opacity)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2556504624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HSL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hsl(0, 100%, 50%)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Hue, Saturation, Lightness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68461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367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4C16B-3886-01D3-5A69-ABDFF6F5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873B7E-7E33-4DF4-9DFE-B659911F4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Colors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06B8F-7DDF-61C5-5F94-211423FB4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body {</a:t>
            </a:r>
          </a:p>
          <a:p>
            <a:pPr marL="0" indent="0">
              <a:buNone/>
            </a:pPr>
            <a:r>
              <a:rPr lang="en-US" sz="2000"/>
              <a:t>  color: white;</a:t>
            </a:r>
          </a:p>
          <a:p>
            <a:pPr marL="0" indent="0">
              <a:buNone/>
            </a:pPr>
            <a:r>
              <a:rPr lang="en-US" sz="2000"/>
              <a:t>  background-color: #3498db;</a:t>
            </a:r>
          </a:p>
          <a:p>
            <a:pPr marL="0" indent="0">
              <a:buNone/>
            </a:pPr>
            <a:r>
              <a:rPr lang="en-US" sz="2000"/>
              <a:t>  background-image: url('bg.jpg');</a:t>
            </a:r>
          </a:p>
          <a:p>
            <a:pPr marL="0" indent="0">
              <a:buNone/>
            </a:pPr>
            <a:r>
              <a:rPr lang="en-US" sz="2000"/>
              <a:t>  background-size: cover;</a:t>
            </a:r>
          </a:p>
          <a:p>
            <a:pPr marL="0" indent="0">
              <a:buNone/>
            </a:pPr>
            <a:r>
              <a:rPr lang="en-US" sz="2000"/>
              <a:t>  background-repeat: no-repeat;</a:t>
            </a:r>
          </a:p>
          <a:p>
            <a:pPr marL="0" indent="0">
              <a:buNone/>
            </a:pPr>
            <a:r>
              <a:rPr lang="en-US" sz="200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73136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59759-DA1D-E1EC-9998-E1E23384F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Backgrounds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2F84A0-2D6B-5E84-68A6-D0571B95E0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1885279"/>
            <a:ext cx="9724031" cy="411627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CSS backgrounds can have: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Color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solid color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Image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single or multiple images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Gradients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linear or radial gradients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Properties: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background-color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color of element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background-image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sets image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background-repeat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repeat behavior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background-size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size of image 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cover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contain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px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background-position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starting point of image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background-attachment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→ scrolls or fixed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61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ABFA0-217E-9A3E-6A61-C951896B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Fonts &amp; Text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0D3474ED-995B-5B78-2DDA-5016721791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7342952"/>
              </p:ext>
            </p:extLst>
          </p:nvPr>
        </p:nvGraphicFramePr>
        <p:xfrm>
          <a:off x="1450218" y="2112579"/>
          <a:ext cx="9315505" cy="4192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5017">
                  <a:extLst>
                    <a:ext uri="{9D8B030D-6E8A-4147-A177-3AD203B41FA5}">
                      <a16:colId xmlns:a16="http://schemas.microsoft.com/office/drawing/2014/main" val="3510215751"/>
                    </a:ext>
                  </a:extLst>
                </a:gridCol>
                <a:gridCol w="5410488">
                  <a:extLst>
                    <a:ext uri="{9D8B030D-6E8A-4147-A177-3AD203B41FA5}">
                      <a16:colId xmlns:a16="http://schemas.microsoft.com/office/drawing/2014/main" val="1147906588"/>
                    </a:ext>
                  </a:extLst>
                </a:gridCol>
              </a:tblGrid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Property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Use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1986145502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font-family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Set font type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2091218193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font-size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Set text size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1795870194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font-weight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Set boldness of text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3038201969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font-style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Italicize or oblique text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1808119047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text-align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Align text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41424340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text-decoration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Underline, line-through, etc.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4197640550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text-transform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Uppercase, lowercase, capitalize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1796207377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letter-spacing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Adjust spacing between letters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3075279064"/>
                  </a:ext>
                </a:extLst>
              </a:tr>
              <a:tr h="419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Courier New" panose="02070309020205020404" pitchFamily="49" charset="0"/>
                        </a:rPr>
                        <a:t>line-height</a:t>
                      </a:r>
                      <a:endParaRPr lang="en-US" sz="1900"/>
                    </a:p>
                  </a:txBody>
                  <a:tcPr marL="94095" marR="94095" marT="47047" marB="470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Set spacing between lines</a:t>
                      </a:r>
                    </a:p>
                  </a:txBody>
                  <a:tcPr marL="94095" marR="94095" marT="47047" marB="47047" anchor="ctr"/>
                </a:tc>
                <a:extLst>
                  <a:ext uri="{0D108BD9-81ED-4DB2-BD59-A6C34878D82A}">
                    <a16:rowId xmlns:a16="http://schemas.microsoft.com/office/drawing/2014/main" val="2515909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0570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417EBF-6BEF-8E8B-D0C8-5DD5AC830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Flexbox Layout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D5627EA-98D5-9A10-7068-196E0C8D2A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33695"/>
              </p:ext>
            </p:extLst>
          </p:nvPr>
        </p:nvGraphicFramePr>
        <p:xfrm>
          <a:off x="927311" y="2112579"/>
          <a:ext cx="10361320" cy="4192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33423">
                  <a:extLst>
                    <a:ext uri="{9D8B030D-6E8A-4147-A177-3AD203B41FA5}">
                      <a16:colId xmlns:a16="http://schemas.microsoft.com/office/drawing/2014/main" val="4049345765"/>
                    </a:ext>
                  </a:extLst>
                </a:gridCol>
                <a:gridCol w="6027897">
                  <a:extLst>
                    <a:ext uri="{9D8B030D-6E8A-4147-A177-3AD203B41FA5}">
                      <a16:colId xmlns:a16="http://schemas.microsoft.com/office/drawing/2014/main" val="1499617798"/>
                    </a:ext>
                  </a:extLst>
                </a:gridCol>
              </a:tblGrid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/>
                        <a:t>Property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/>
                        <a:t>Use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3407676409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display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Define flex container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3617058661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justify-content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Align flex items horizontally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1825847921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align-items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Align flex items vertically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232194025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flex-wrap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Wrap flex items to next line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643778428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gap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Set space between flex items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3548448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682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CA80DA-F474-92A3-AE62-8D2B6D01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Grid Layout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30E6DF-A2C7-8BAE-A32E-E0334F8430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4303309"/>
              </p:ext>
            </p:extLst>
          </p:nvPr>
        </p:nvGraphicFramePr>
        <p:xfrm>
          <a:off x="644056" y="2442821"/>
          <a:ext cx="10927829" cy="353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4909">
                  <a:extLst>
                    <a:ext uri="{9D8B030D-6E8A-4147-A177-3AD203B41FA5}">
                      <a16:colId xmlns:a16="http://schemas.microsoft.com/office/drawing/2014/main" val="490371735"/>
                    </a:ext>
                  </a:extLst>
                </a:gridCol>
                <a:gridCol w="6032920">
                  <a:extLst>
                    <a:ext uri="{9D8B030D-6E8A-4147-A177-3AD203B41FA5}">
                      <a16:colId xmlns:a16="http://schemas.microsoft.com/office/drawing/2014/main" val="3950283526"/>
                    </a:ext>
                  </a:extLst>
                </a:gridCol>
              </a:tblGrid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/>
                        <a:t>Property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/>
                        <a:t>Use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546614390"/>
                  </a:ext>
                </a:extLst>
              </a:tr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display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Define grid container</a:t>
                      </a:r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1393273796"/>
                  </a:ext>
                </a:extLst>
              </a:tr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grid-template-columns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Set column layout</a:t>
                      </a:r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1095443059"/>
                  </a:ext>
                </a:extLst>
              </a:tr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grid-template-rows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Set row layout</a:t>
                      </a:r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1751731811"/>
                  </a:ext>
                </a:extLst>
              </a:tr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gap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Set space between grid items</a:t>
                      </a:r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187738585"/>
                  </a:ext>
                </a:extLst>
              </a:tr>
              <a:tr h="588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Courier New" panose="02070309020205020404" pitchFamily="49" charset="0"/>
                        </a:rPr>
                        <a:t>grid-column</a:t>
                      </a:r>
                      <a:r>
                        <a:rPr lang="en-US" sz="2700"/>
                        <a:t> / </a:t>
                      </a:r>
                      <a:r>
                        <a:rPr lang="en-US" sz="2700">
                          <a:latin typeface="Courier New" panose="02070309020205020404" pitchFamily="49" charset="0"/>
                        </a:rPr>
                        <a:t>grid-row</a:t>
                      </a:r>
                      <a:endParaRPr lang="en-US" sz="2700"/>
                    </a:p>
                  </a:txBody>
                  <a:tcPr marL="140664" marR="140664" marT="70332" marB="7033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/>
                        <a:t>Span element across rows/columns</a:t>
                      </a:r>
                    </a:p>
                  </a:txBody>
                  <a:tcPr marL="140664" marR="140664" marT="70332" marB="70332" anchor="ctr"/>
                </a:tc>
                <a:extLst>
                  <a:ext uri="{0D108BD9-81ED-4DB2-BD59-A6C34878D82A}">
                    <a16:rowId xmlns:a16="http://schemas.microsoft.com/office/drawing/2014/main" val="2640631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8842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3C7C8-D4AE-52DA-2E3B-1A3FB8BA7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Transitions &amp; Animations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EA99-A7BB-A241-4D5C-92355B355C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881190"/>
              </p:ext>
            </p:extLst>
          </p:nvPr>
        </p:nvGraphicFramePr>
        <p:xfrm>
          <a:off x="752593" y="2794709"/>
          <a:ext cx="10710755" cy="2828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269">
                  <a:extLst>
                    <a:ext uri="{9D8B030D-6E8A-4147-A177-3AD203B41FA5}">
                      <a16:colId xmlns:a16="http://schemas.microsoft.com/office/drawing/2014/main" val="3219861325"/>
                    </a:ext>
                  </a:extLst>
                </a:gridCol>
                <a:gridCol w="6484486">
                  <a:extLst>
                    <a:ext uri="{9D8B030D-6E8A-4147-A177-3AD203B41FA5}">
                      <a16:colId xmlns:a16="http://schemas.microsoft.com/office/drawing/2014/main" val="2112594218"/>
                    </a:ext>
                  </a:extLst>
                </a:gridCol>
              </a:tblGrid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/>
                        <a:t>Property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/>
                        <a:t>Use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414094096"/>
                  </a:ext>
                </a:extLst>
              </a:tr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transition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Smoothly change properties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1896452206"/>
                  </a:ext>
                </a:extLst>
              </a:tr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@keyframes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Define animation steps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74111665"/>
                  </a:ext>
                </a:extLst>
              </a:tr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animation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Apply keyframe animation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2656929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2365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9F597C-B56C-1CFA-2213-A1D7E9A7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Responsive Design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5D9B6B-121F-41BF-056A-2CB28F0E7B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3988135"/>
              </p:ext>
            </p:extLst>
          </p:nvPr>
        </p:nvGraphicFramePr>
        <p:xfrm>
          <a:off x="2094135" y="2645357"/>
          <a:ext cx="8027671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2248">
                  <a:extLst>
                    <a:ext uri="{9D8B030D-6E8A-4147-A177-3AD203B41FA5}">
                      <a16:colId xmlns:a16="http://schemas.microsoft.com/office/drawing/2014/main" val="1644497278"/>
                    </a:ext>
                  </a:extLst>
                </a:gridCol>
                <a:gridCol w="4015423">
                  <a:extLst>
                    <a:ext uri="{9D8B030D-6E8A-4147-A177-3AD203B41FA5}">
                      <a16:colId xmlns:a16="http://schemas.microsoft.com/office/drawing/2014/main" val="3481459866"/>
                    </a:ext>
                  </a:extLst>
                </a:gridCol>
              </a:tblGrid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/>
                        <a:t>Property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/>
                        <a:t>Use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3337972502"/>
                  </a:ext>
                </a:extLst>
              </a:tr>
              <a:tr h="1210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@media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Apply styles based on screen size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733963425"/>
                  </a:ext>
                </a:extLst>
              </a:tr>
              <a:tr h="1210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min-width</a:t>
                      </a:r>
                      <a:r>
                        <a:rPr lang="en-US" sz="3300"/>
                        <a:t> / </a:t>
                      </a:r>
                      <a:r>
                        <a:rPr lang="en-US" sz="3300">
                          <a:latin typeface="Courier New" panose="02070309020205020404" pitchFamily="49" charset="0"/>
                        </a:rPr>
                        <a:t>max-width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Define responsive breakpoints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1934770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6918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AC44CD-64A7-8741-4CDB-F34155CE7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Pseudo-classes &amp; Pseudo-elements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CB98BE-383D-7838-9360-6CA8BD7262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2215547"/>
              </p:ext>
            </p:extLst>
          </p:nvPr>
        </p:nvGraphicFramePr>
        <p:xfrm>
          <a:off x="1072884" y="2112579"/>
          <a:ext cx="10070173" cy="4192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2651">
                  <a:extLst>
                    <a:ext uri="{9D8B030D-6E8A-4147-A177-3AD203B41FA5}">
                      <a16:colId xmlns:a16="http://schemas.microsoft.com/office/drawing/2014/main" val="2188511898"/>
                    </a:ext>
                  </a:extLst>
                </a:gridCol>
                <a:gridCol w="6237522">
                  <a:extLst>
                    <a:ext uri="{9D8B030D-6E8A-4147-A177-3AD203B41FA5}">
                      <a16:colId xmlns:a16="http://schemas.microsoft.com/office/drawing/2014/main" val="1108650426"/>
                    </a:ext>
                  </a:extLst>
                </a:gridCol>
              </a:tblGrid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/>
                        <a:t>Property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/>
                        <a:t>Use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319686623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:hover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Style element on mouse hover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3126868462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:focus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Style element on focus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4168456110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:nth-child(n)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Style specific child elements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77827537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::before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Insert content before element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722960298"/>
                  </a:ext>
                </a:extLst>
              </a:tr>
              <a:tr h="69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>
                          <a:latin typeface="Courier New" panose="02070309020205020404" pitchFamily="49" charset="0"/>
                        </a:rPr>
                        <a:t>::after</a:t>
                      </a:r>
                      <a:endParaRPr lang="en-US" sz="3200"/>
                    </a:p>
                  </a:txBody>
                  <a:tcPr marL="167700" marR="167700" marT="83851" marB="83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/>
                        <a:t>Insert content after element</a:t>
                      </a:r>
                    </a:p>
                  </a:txBody>
                  <a:tcPr marL="167700" marR="167700" marT="83851" marB="83851" anchor="ctr"/>
                </a:tc>
                <a:extLst>
                  <a:ext uri="{0D108BD9-81ED-4DB2-BD59-A6C34878D82A}">
                    <a16:rowId xmlns:a16="http://schemas.microsoft.com/office/drawing/2014/main" val="11597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136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C5A0C5-1A79-1563-66DB-DB4D50EA0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Variables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FCEAC64-BF48-E341-7922-9BF34EAADF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6994311"/>
              </p:ext>
            </p:extLst>
          </p:nvPr>
        </p:nvGraphicFramePr>
        <p:xfrm>
          <a:off x="2864866" y="2645357"/>
          <a:ext cx="6486208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7998">
                  <a:extLst>
                    <a:ext uri="{9D8B030D-6E8A-4147-A177-3AD203B41FA5}">
                      <a16:colId xmlns:a16="http://schemas.microsoft.com/office/drawing/2014/main" val="2404843704"/>
                    </a:ext>
                  </a:extLst>
                </a:gridCol>
                <a:gridCol w="3458210">
                  <a:extLst>
                    <a:ext uri="{9D8B030D-6E8A-4147-A177-3AD203B41FA5}">
                      <a16:colId xmlns:a16="http://schemas.microsoft.com/office/drawing/2014/main" val="510370341"/>
                    </a:ext>
                  </a:extLst>
                </a:gridCol>
              </a:tblGrid>
              <a:tr h="707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dirty="0"/>
                        <a:t>Property</a:t>
                      </a:r>
                      <a:endParaRPr lang="en-US" sz="3300" dirty="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/>
                        <a:t>Use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3637923656"/>
                  </a:ext>
                </a:extLst>
              </a:tr>
              <a:tr h="1210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>
                          <a:latin typeface="Courier New" panose="02070309020205020404" pitchFamily="49" charset="0"/>
                        </a:rPr>
                        <a:t>--var-name</a:t>
                      </a:r>
                      <a:endParaRPr lang="en-US" sz="330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Define reusable variable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4156711255"/>
                  </a:ext>
                </a:extLst>
              </a:tr>
              <a:tr h="1210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>
                          <a:latin typeface="Courier New" panose="02070309020205020404" pitchFamily="49" charset="0"/>
                        </a:rPr>
                        <a:t>var(--var-name)</a:t>
                      </a:r>
                      <a:endParaRPr lang="en-US" sz="3300" dirty="0"/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Use variable value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1510998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0126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AD0A78-69B8-1653-D28E-4269C347D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18FA78-D305-60DE-7AA7-212C6FCA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Shadows &amp; Filters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0A2FEA6-0865-5E6C-5B09-5B6D2B9D09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Shadows add depth and dimension to elements or text.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Types: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Box Shadow (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box-shadow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</a:rPr>
              <a:t>)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for elements (divs, buttons)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Text Shadow (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text-shadow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</a:rPr>
              <a:t>)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for 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79635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AB6023-3317-071C-C48E-CDD1FE60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1BB1-B253-6FB2-1AED-AE7E733AF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✅ Use </a:t>
            </a:r>
            <a:r>
              <a:rPr lang="en-US" sz="2000" b="1"/>
              <a:t>External CSS</a:t>
            </a:r>
            <a:br>
              <a:rPr lang="en-US" sz="2000"/>
            </a:br>
            <a:r>
              <a:rPr lang="en-US" sz="2000"/>
              <a:t>✅ Keep </a:t>
            </a:r>
            <a:r>
              <a:rPr lang="en-US" sz="2000" b="1"/>
              <a:t>naming consistent</a:t>
            </a:r>
            <a:br>
              <a:rPr lang="en-US" sz="2000"/>
            </a:br>
            <a:r>
              <a:rPr lang="en-US" sz="2000"/>
              <a:t>✅ Comment your code</a:t>
            </a:r>
            <a:br>
              <a:rPr lang="en-US" sz="2000"/>
            </a:br>
            <a:r>
              <a:rPr lang="en-US" sz="2000"/>
              <a:t>✅ Avoid too much !important</a:t>
            </a:r>
            <a:br>
              <a:rPr lang="en-US" sz="2000"/>
            </a:br>
            <a:r>
              <a:rPr lang="en-US" sz="2000"/>
              <a:t>✅ Test in multiple browsers</a:t>
            </a:r>
          </a:p>
        </p:txBody>
      </p:sp>
    </p:spTree>
    <p:extLst>
      <p:ext uri="{BB962C8B-B14F-4D97-AF65-F5344CB8AC3E}">
        <p14:creationId xmlns:p14="http://schemas.microsoft.com/office/powerpoint/2010/main" val="2748997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4607</TotalTime>
  <Words>1051</Words>
  <Application>Microsoft Office PowerPoint</Application>
  <PresentationFormat>Widescreen</PresentationFormat>
  <Paragraphs>275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Arial Unicode MS</vt:lpstr>
      <vt:lpstr>Courier New</vt:lpstr>
      <vt:lpstr>Office Theme</vt:lpstr>
      <vt:lpstr>CSS – Cascading Stylesheet</vt:lpstr>
      <vt:lpstr>CSS</vt:lpstr>
      <vt:lpstr>Why Use CSS?</vt:lpstr>
      <vt:lpstr>CSS Syntax</vt:lpstr>
      <vt:lpstr>CSS – Using Method</vt:lpstr>
      <vt:lpstr>Inline CSS</vt:lpstr>
      <vt:lpstr>Internal CSS</vt:lpstr>
      <vt:lpstr>External CSS</vt:lpstr>
      <vt:lpstr>PowerPoint Presentation</vt:lpstr>
      <vt:lpstr>Confusion Solve Method</vt:lpstr>
      <vt:lpstr>Confusion Solve Method</vt:lpstr>
      <vt:lpstr>Selectors</vt:lpstr>
      <vt:lpstr>Box Model </vt:lpstr>
      <vt:lpstr>Borders, Margins, Padding</vt:lpstr>
      <vt:lpstr>Layout Properties</vt:lpstr>
      <vt:lpstr>Color Properties</vt:lpstr>
      <vt:lpstr>Color Formats Supported in CSS</vt:lpstr>
      <vt:lpstr>Colors Example</vt:lpstr>
      <vt:lpstr>Backgrounds</vt:lpstr>
      <vt:lpstr>Fonts &amp; Text</vt:lpstr>
      <vt:lpstr>Flexbox Layout</vt:lpstr>
      <vt:lpstr>CSS Grid Layout</vt:lpstr>
      <vt:lpstr>Transitions &amp; Animations</vt:lpstr>
      <vt:lpstr>Responsive Design</vt:lpstr>
      <vt:lpstr>Pseudo-classes &amp; Pseudo-elements</vt:lpstr>
      <vt:lpstr>CSS Variables</vt:lpstr>
      <vt:lpstr>Shadows &amp; Filters</vt:lpstr>
      <vt:lpstr>Best Practices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10</cp:revision>
  <dcterms:created xsi:type="dcterms:W3CDTF">2025-10-24T16:24:00Z</dcterms:created>
  <dcterms:modified xsi:type="dcterms:W3CDTF">2025-10-31T15:36:41Z</dcterms:modified>
</cp:coreProperties>
</file>