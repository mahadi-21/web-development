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70" r:id="rId4"/>
    <p:sldId id="258" r:id="rId5"/>
    <p:sldId id="260" r:id="rId6"/>
    <p:sldId id="296" r:id="rId7"/>
    <p:sldId id="297" r:id="rId8"/>
    <p:sldId id="261" r:id="rId9"/>
    <p:sldId id="299" r:id="rId10"/>
    <p:sldId id="298" r:id="rId11"/>
    <p:sldId id="262" r:id="rId12"/>
    <p:sldId id="301" r:id="rId13"/>
    <p:sldId id="300" r:id="rId14"/>
    <p:sldId id="263" r:id="rId15"/>
    <p:sldId id="286" r:id="rId16"/>
    <p:sldId id="302" r:id="rId17"/>
    <p:sldId id="264" r:id="rId18"/>
    <p:sldId id="304" r:id="rId19"/>
    <p:sldId id="303" r:id="rId20"/>
    <p:sldId id="305" r:id="rId21"/>
    <p:sldId id="265" r:id="rId22"/>
    <p:sldId id="287" r:id="rId23"/>
    <p:sldId id="266" r:id="rId24"/>
    <p:sldId id="288" r:id="rId25"/>
    <p:sldId id="267" r:id="rId26"/>
    <p:sldId id="289" r:id="rId27"/>
    <p:sldId id="268" r:id="rId28"/>
    <p:sldId id="269" r:id="rId29"/>
    <p:sldId id="307" r:id="rId30"/>
    <p:sldId id="308" r:id="rId31"/>
    <p:sldId id="309" r:id="rId32"/>
    <p:sldId id="310" r:id="rId33"/>
    <p:sldId id="311" r:id="rId34"/>
    <p:sldId id="312" r:id="rId35"/>
    <p:sldId id="313" r:id="rId36"/>
    <p:sldId id="315" r:id="rId37"/>
    <p:sldId id="316" r:id="rId38"/>
    <p:sldId id="317" r:id="rId39"/>
    <p:sldId id="273" r:id="rId40"/>
    <p:sldId id="291" r:id="rId41"/>
    <p:sldId id="272" r:id="rId42"/>
    <p:sldId id="293" r:id="rId43"/>
    <p:sldId id="306" r:id="rId44"/>
    <p:sldId id="271" r:id="rId45"/>
    <p:sldId id="274" r:id="rId46"/>
    <p:sldId id="294" r:id="rId47"/>
    <p:sldId id="276" r:id="rId48"/>
    <p:sldId id="277" r:id="rId49"/>
    <p:sldId id="278" r:id="rId50"/>
    <p:sldId id="279" r:id="rId51"/>
    <p:sldId id="280" r:id="rId5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94660"/>
  </p:normalViewPr>
  <p:slideViewPr>
    <p:cSldViewPr snapToGrid="0">
      <p:cViewPr varScale="1">
        <p:scale>
          <a:sx n="53" d="100"/>
          <a:sy n="53" d="100"/>
        </p:scale>
        <p:origin x="82" y="6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ED8E96-3AD4-DFC8-86CD-D34A4E69AA5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0D3542-AB6A-CE60-9B53-8C3BA407DE3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0909B1-CFD6-4459-E0E1-B105FF9E7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17-Jan-26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D57CD-1DD2-FDB0-0787-696A2A601E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0006BC-978B-08DB-963A-3A9DA38CF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4640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8EA107-39FC-B47C-B340-749E499D0D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4A915F-8EA4-9B57-56BB-AB2E3D80BB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19C19A-FDB4-1694-3AD6-9E1C52F0DC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17-Jan-26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027F51-2DA8-D796-E62C-2D4D78B970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4F0E15-D1D5-371C-F6C9-90D732E6B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2696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5B574-410D-915B-BEBA-6015DAEC9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C876576-F77B-12A7-ED32-7D69A2D4EA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03C57-7470-ADDE-421D-30AA1922F8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17-Jan-26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2F2059-E76F-6629-3D01-0A74F4FD02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3A68B4-2B3A-E127-1958-37A3BE2A03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8534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BFD7F9-D053-ACD3-393F-360E1EBB8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D8CA8E-6B89-04F1-2834-7A698FEB19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E2E0A7-1A4E-A6C0-CA4B-C1267DD3EA5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0B3FE5-96CF-810E-C491-08B5BAA6C4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17-Jan-26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0C240E-21C2-8E62-B7A9-5A7F60410A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D6D50C-EFDD-3160-13AE-E44EDF53F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47406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51DC5-E289-E9FC-DCA6-49912172C9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6BE90D-85A9-21CE-7D93-903244E4B3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4686CB-4A6E-729A-4937-6C39A65A2B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E483B8A-BD29-FA99-2614-B247BA2769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A52DE7-6B84-63DC-ED0D-7D7374634BC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3F9D3B3-5EDD-1FB2-97B2-5D39F0D377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17-Jan-26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5C98FD-95B3-0E38-EE52-D35C74CBC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FF9BBF-7FA8-4F1C-AFFA-C184D09BC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82324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7ED26-F912-CA8E-1796-3626ECED99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4E0645-E82A-6AD1-9664-EB90B1085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17-Jan-26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98D792-B54A-F3D6-06B4-F4E6265576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D88DB1-47CA-6574-95A5-EBBFBA03A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9963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AB1DD3-1AD6-4302-52AE-804EEC01BD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17-Jan-26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3BEC5C4-DE9F-8CB7-FD02-5618686168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D0042C-35A0-1441-BF40-068BABC480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3656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B60E5-5C92-D6BC-9D6F-1E46692889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47C38E-6A1E-108D-8CF0-E57A955580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C5CB27-23FA-9FE1-B3B1-B034AA7DF2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351800C-FBA2-AD22-E8A8-B058BFAED2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17-Jan-26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92728E-D102-E722-469A-4B04AA66FD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570068-1B86-FD4D-178D-06BA46682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374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0654D-F982-6BFB-AC70-B8187432B2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B95D1AF-F113-834F-1AEE-DDFBD0334AF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6E85F4-3559-5810-E1B2-A25CC38B735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7A7131-0D26-1D65-517A-723612747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17-Jan-26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84F17E-5736-05F7-822A-60F407D98F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BB6455-6E1B-72F6-C7FC-75EA98BA5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52776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17340C-B7A2-EDA9-E0C2-333A3DF4B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A91ECA4-875B-F0AF-8829-596F94F2A6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EBA3D0-58FE-83CA-BF12-65487E14F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17-Jan-26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B355AB-81DD-155D-9021-1E0906E88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42423A-270C-D514-515F-88490BAA6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77810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509A30-AACA-E0EC-F9A0-DBB0837E49B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1354C6-F13B-D57C-64B2-B154950230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BF2753-A45C-9F21-3D2C-7AF6DB134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E880B5-267B-4D76-B3D0-B16F3D4A0BE9}" type="datetimeFigureOut">
              <a:rPr lang="en-US" smtClean="0"/>
              <a:t>17-Jan-26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1CBDF1-76FC-6012-FF55-A78EE9A793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7935F2-C507-6690-7341-8FCC5B0798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05748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0B9C1B-66B5-E6FE-0895-0D0193B101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16CB84-B086-0C09-9702-250C0CC1E9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0774D2-1409-03AD-66DF-8609A70EF12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E880B5-267B-4D76-B3D0-B16F3D4A0BE9}" type="datetimeFigureOut">
              <a:rPr lang="en-US" smtClean="0"/>
              <a:t>17-Jan-26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1F209A-4C0E-AEC1-C8DB-874ABA5333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495EE27-5CBC-14C3-6306-216074CB0F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07CF2A-C184-485E-9894-381503FBD0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48764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A656E4-9519-F68F-168F-E4156E17E3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PHP Basics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0ABA7F-A9EC-8999-3147-8E35E74C97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lnSpc>
                <a:spcPct val="50000"/>
              </a:lnSpc>
            </a:pP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Prepared By </a:t>
            </a:r>
          </a:p>
          <a:p>
            <a:pPr>
              <a:lnSpc>
                <a:spcPct val="50000"/>
              </a:lnSpc>
            </a:pPr>
            <a:r>
              <a:rPr lang="en-US" i="1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Mahadi Hassan</a:t>
            </a:r>
          </a:p>
        </p:txBody>
      </p:sp>
    </p:spTree>
    <p:extLst>
      <p:ext uri="{BB962C8B-B14F-4D97-AF65-F5344CB8AC3E}">
        <p14:creationId xmlns:p14="http://schemas.microsoft.com/office/powerpoint/2010/main" val="2538222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E3EA69-89A0-AB75-0CB5-1DA28B14B1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PHP 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248B0B-E73C-A6EE-58CF-C248256CFD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>
              <a:lnSpc>
                <a:spcPct val="150000"/>
              </a:lnSpc>
              <a:buNone/>
            </a:pPr>
            <a:r>
              <a:rPr lang="en-US" b="1" dirty="0"/>
              <a:t>PHP</a:t>
            </a:r>
            <a:r>
              <a:rPr lang="en-US" dirty="0"/>
              <a:t> stands for </a:t>
            </a:r>
            <a:r>
              <a:rPr lang="en-US" b="1" dirty="0"/>
              <a:t>PHP: Hypertext Preprocessor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It is a </a:t>
            </a:r>
            <a:r>
              <a:rPr lang="en-US" b="1" dirty="0"/>
              <a:t>server-side scripting language</a:t>
            </a:r>
            <a:r>
              <a:rPr lang="en-US" dirty="0"/>
              <a:t> mainly used to create </a:t>
            </a:r>
            <a:r>
              <a:rPr lang="en-US" b="1" dirty="0"/>
              <a:t>dynamic web pages and web applications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943191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99CDE-02E0-D2A9-0355-5872F8086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will we learn PHP in Web Development 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A1A07A-FEB7-4BE4-9198-5E71672D65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dirty="0">
                <a:latin typeface="Arial" panose="020B0604020202020204" pitchFamily="34" charset="0"/>
              </a:rPr>
              <a:t>We Learn PHP for: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Server-side scripting language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Creates </a:t>
            </a:r>
            <a:r>
              <a:rPr lang="en-US" altLang="en-US" b="1" dirty="0">
                <a:latin typeface="Arial" panose="020B0604020202020204" pitchFamily="34" charset="0"/>
              </a:rPr>
              <a:t>dynamic websites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Handles </a:t>
            </a:r>
            <a:r>
              <a:rPr lang="en-US" altLang="en-US" b="1" dirty="0">
                <a:latin typeface="Arial" panose="020B0604020202020204" pitchFamily="34" charset="0"/>
              </a:rPr>
              <a:t>forms, sessions &amp; login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Connects with </a:t>
            </a:r>
            <a:r>
              <a:rPr lang="en-US" altLang="en-US" b="1" dirty="0">
                <a:latin typeface="Arial" panose="020B0604020202020204" pitchFamily="34" charset="0"/>
              </a:rPr>
              <a:t>databases (MySQL)</a:t>
            </a:r>
            <a:endParaRPr lang="en-US" altLang="en-US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Used in real projects (WordPress, Laravel)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Easy to learn &amp; widely supported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14032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38A6FB-0E7D-B556-0391-96EA470C50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Feature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AD8C6-45ED-C469-002D-0CB005F608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Open-source &amp; free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Server-side scripting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Easy to learn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Platform independent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Supports databases (MySQL, SQLite)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Fast &amp; secure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Embedded with HTML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latin typeface="Arial" panose="020B0604020202020204" pitchFamily="34" charset="0"/>
              </a:rPr>
              <a:t>Large community support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04264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538B09A-2AAC-AB8A-38F9-8501A049E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AD2EA-32CA-D54C-2FAE-75FF686309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535D90-3021-008E-72EE-86229B0361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Variables</a:t>
            </a:r>
            <a:endParaRPr lang="en-US" dirty="0"/>
          </a:p>
          <a:p>
            <a:r>
              <a:rPr lang="en-US" dirty="0"/>
              <a:t>Store data values</a:t>
            </a:r>
          </a:p>
          <a:p>
            <a:r>
              <a:rPr lang="en-US" dirty="0"/>
              <a:t>Start with $ sign</a:t>
            </a:r>
          </a:p>
          <a:p>
            <a:r>
              <a:rPr lang="en-US" dirty="0"/>
              <a:t>Example: $name = "Mahadi";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78702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F4A9F3A-7FF9-2437-8140-7A919ED24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3EBE1A-9956-4C83-2E06-DFD969099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Constants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F748B7-6A77-8DFA-1144-D181020365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Constants</a:t>
            </a:r>
            <a:endParaRPr lang="en-US" dirty="0"/>
          </a:p>
          <a:p>
            <a:r>
              <a:rPr lang="en-US" dirty="0"/>
              <a:t>Fixed values (cannot change)</a:t>
            </a:r>
          </a:p>
          <a:p>
            <a:r>
              <a:rPr lang="en-US" dirty="0"/>
              <a:t>Defined using define() or const</a:t>
            </a:r>
          </a:p>
          <a:p>
            <a:r>
              <a:rPr lang="en-US" dirty="0"/>
              <a:t>Example: define("SITE_NAME", "My Website");</a:t>
            </a:r>
          </a:p>
          <a:p>
            <a:pPr marL="0" indent="0">
              <a:buNone/>
            </a:pPr>
            <a:r>
              <a:rPr lang="en-US" b="1" dirty="0"/>
              <a:t>Data Types</a:t>
            </a:r>
            <a:endParaRPr lang="en-US" dirty="0"/>
          </a:p>
          <a:p>
            <a:r>
              <a:rPr lang="en-US" dirty="0"/>
              <a:t>String ("Hello")</a:t>
            </a:r>
          </a:p>
          <a:p>
            <a:r>
              <a:rPr lang="en-US" dirty="0"/>
              <a:t>Integer (10)</a:t>
            </a:r>
          </a:p>
          <a:p>
            <a:r>
              <a:rPr lang="en-US" dirty="0"/>
              <a:t>Float (3.14)</a:t>
            </a:r>
          </a:p>
          <a:p>
            <a:r>
              <a:rPr lang="en-US" dirty="0"/>
              <a:t>Boolean (true / false)</a:t>
            </a:r>
          </a:p>
          <a:p>
            <a:r>
              <a:rPr lang="en-US" dirty="0"/>
              <a:t>Array ([1, 2, 3])</a:t>
            </a:r>
          </a:p>
          <a:p>
            <a:r>
              <a:rPr lang="en-US" dirty="0"/>
              <a:t>Object</a:t>
            </a:r>
          </a:p>
          <a:p>
            <a:r>
              <a:rPr lang="en-US" dirty="0"/>
              <a:t>NULL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79505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DF2020-8A21-6E6A-A170-DC771149E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9F09A-B5F9-4489-051F-A3A61E040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73A7D4-231F-A278-1377-9EC85084EA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Data Types</a:t>
            </a:r>
            <a:endParaRPr lang="en-US" dirty="0"/>
          </a:p>
          <a:p>
            <a:r>
              <a:rPr lang="en-US" dirty="0"/>
              <a:t>String ("Hello")</a:t>
            </a:r>
          </a:p>
          <a:p>
            <a:r>
              <a:rPr lang="en-US" dirty="0"/>
              <a:t>Integer (10)</a:t>
            </a:r>
          </a:p>
          <a:p>
            <a:r>
              <a:rPr lang="en-US" dirty="0"/>
              <a:t>Float (3.14)</a:t>
            </a:r>
          </a:p>
          <a:p>
            <a:r>
              <a:rPr lang="en-US" dirty="0"/>
              <a:t>Boolean (true / false)</a:t>
            </a:r>
          </a:p>
          <a:p>
            <a:r>
              <a:rPr lang="en-US" dirty="0"/>
              <a:t>Array ([1, 2, 3])</a:t>
            </a:r>
          </a:p>
          <a:p>
            <a:r>
              <a:rPr lang="en-US" dirty="0"/>
              <a:t>Object</a:t>
            </a:r>
          </a:p>
          <a:p>
            <a:r>
              <a:rPr lang="en-US" dirty="0"/>
              <a:t>NULL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55098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3DE73D4-5F90-0942-2A46-96F294E5E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6E80FC-D383-A845-B907-A8A00B8C5C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69D111-EA02-C890-83D0-430946C0C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Arithmetic Operators</a:t>
            </a:r>
            <a:endParaRPr lang="en-US" dirty="0"/>
          </a:p>
          <a:p>
            <a:r>
              <a:rPr lang="en-US" dirty="0"/>
              <a:t>Addition   = +   </a:t>
            </a:r>
          </a:p>
          <a:p>
            <a:r>
              <a:rPr lang="en-US" dirty="0"/>
              <a:t>Subtraction  = - </a:t>
            </a:r>
          </a:p>
          <a:p>
            <a:r>
              <a:rPr lang="en-US" dirty="0"/>
              <a:t>Multiplication   = * </a:t>
            </a:r>
          </a:p>
          <a:p>
            <a:r>
              <a:rPr lang="en-US" dirty="0"/>
              <a:t>Division    = / </a:t>
            </a:r>
          </a:p>
          <a:p>
            <a:r>
              <a:rPr lang="en-US" dirty="0"/>
              <a:t>Modulus = %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90015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829A39C-CDD4-3076-322F-4CF06B3CC5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57534-8313-6E1D-C0B7-E462DCA930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0B4060-E1C9-7B40-1202-414EA8CBEB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Comparison Operators</a:t>
            </a:r>
            <a:endParaRPr lang="en-US" dirty="0"/>
          </a:p>
          <a:p>
            <a:r>
              <a:rPr lang="en-US" dirty="0"/>
              <a:t>Equal  : ==  </a:t>
            </a:r>
          </a:p>
          <a:p>
            <a:r>
              <a:rPr lang="en-US" dirty="0"/>
              <a:t>Not equal : !=   </a:t>
            </a:r>
          </a:p>
          <a:p>
            <a:r>
              <a:rPr lang="en-US" dirty="0"/>
              <a:t>Greater than : &gt;   </a:t>
            </a:r>
          </a:p>
          <a:p>
            <a:r>
              <a:rPr lang="en-US" dirty="0"/>
              <a:t>Less than: &lt;     </a:t>
            </a:r>
          </a:p>
          <a:p>
            <a:r>
              <a:rPr lang="en-US" dirty="0"/>
              <a:t>Greater or equal: &gt;=    </a:t>
            </a:r>
          </a:p>
          <a:p>
            <a:r>
              <a:rPr lang="en-US" dirty="0"/>
              <a:t>Less or equal: &lt;=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472513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96F57B-8D7C-E223-C784-026DF134C1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85CCB7-371E-AD76-0A3F-BF2D89D4FE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59CCE2-BF7A-0A6E-6CC4-C7D12F716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Logical Operators</a:t>
            </a:r>
            <a:endParaRPr lang="en-US" dirty="0"/>
          </a:p>
          <a:p>
            <a:r>
              <a:rPr lang="en-US" dirty="0"/>
              <a:t>AND = &amp;&amp;    </a:t>
            </a:r>
          </a:p>
          <a:p>
            <a:r>
              <a:rPr lang="en-US" dirty="0"/>
              <a:t>OR   = ||  </a:t>
            </a:r>
          </a:p>
          <a:p>
            <a:r>
              <a:rPr lang="en-US" dirty="0"/>
              <a:t>NOT= ! </a:t>
            </a:r>
          </a:p>
          <a:p>
            <a:pPr marL="0" indent="0">
              <a:buNone/>
            </a:pPr>
            <a:r>
              <a:rPr lang="en-US" b="1" dirty="0"/>
              <a:t>Assignment Operators</a:t>
            </a:r>
            <a:endParaRPr lang="en-US" dirty="0"/>
          </a:p>
          <a:p>
            <a:r>
              <a:rPr lang="en-US" dirty="0"/>
              <a:t>= , += , -= , *= , /=</a:t>
            </a:r>
          </a:p>
          <a:p>
            <a:pPr marL="0" indent="0">
              <a:buNone/>
            </a:pPr>
            <a:r>
              <a:rPr lang="en-US" b="1" dirty="0"/>
              <a:t>Increment / Decrement</a:t>
            </a:r>
            <a:endParaRPr lang="en-US" dirty="0"/>
          </a:p>
          <a:p>
            <a:r>
              <a:rPr lang="en-US" dirty="0"/>
              <a:t>++ , --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0994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8443907-0131-E452-B54F-6A5C45508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E8DF4-8158-B712-7AC4-589F0168C9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Structures (if-else)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D712AF-6F98-9CC2-772F-C98CA619D6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IF-Else</a:t>
            </a:r>
          </a:p>
          <a:p>
            <a:pPr marL="0" indent="0">
              <a:buNone/>
            </a:pPr>
            <a:r>
              <a:rPr lang="en-US" dirty="0"/>
              <a:t>Example: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Diamond 3">
            <a:extLst>
              <a:ext uri="{FF2B5EF4-FFF2-40B4-BE49-F238E27FC236}">
                <a16:creationId xmlns:a16="http://schemas.microsoft.com/office/drawing/2014/main" id="{B54CA6AD-76E7-D42C-E5E0-8677772887DC}"/>
              </a:ext>
            </a:extLst>
          </p:cNvPr>
          <p:cNvSpPr/>
          <p:nvPr/>
        </p:nvSpPr>
        <p:spPr>
          <a:xfrm>
            <a:off x="4744497" y="2542233"/>
            <a:ext cx="2703006" cy="2260879"/>
          </a:xfrm>
          <a:prstGeom prst="diamon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If condition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DB2B08-4679-7E59-1B4D-1BC3A90901BA}"/>
              </a:ext>
            </a:extLst>
          </p:cNvPr>
          <p:cNvSpPr/>
          <p:nvPr/>
        </p:nvSpPr>
        <p:spPr>
          <a:xfrm>
            <a:off x="8611437" y="4807421"/>
            <a:ext cx="2270928" cy="9344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Execute this</a:t>
            </a:r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68416B9E-ADFA-D602-3410-CE358355397D}"/>
              </a:ext>
            </a:extLst>
          </p:cNvPr>
          <p:cNvCxnSpPr>
            <a:stCxn id="4" idx="3"/>
            <a:endCxn id="5" idx="0"/>
          </p:cNvCxnSpPr>
          <p:nvPr/>
        </p:nvCxnSpPr>
        <p:spPr>
          <a:xfrm>
            <a:off x="7447503" y="3672673"/>
            <a:ext cx="2299398" cy="1134748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5DCF71D9-415C-B014-F28F-C843EDFDB525}"/>
              </a:ext>
            </a:extLst>
          </p:cNvPr>
          <p:cNvSpPr/>
          <p:nvPr/>
        </p:nvSpPr>
        <p:spPr>
          <a:xfrm>
            <a:off x="1438589" y="4807421"/>
            <a:ext cx="2270928" cy="93449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Execute this</a:t>
            </a: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2ABCC2D-7474-824A-017E-3C90DA4B4771}"/>
              </a:ext>
            </a:extLst>
          </p:cNvPr>
          <p:cNvCxnSpPr>
            <a:cxnSpLocks/>
            <a:stCxn id="4" idx="1"/>
            <a:endCxn id="10" idx="0"/>
          </p:cNvCxnSpPr>
          <p:nvPr/>
        </p:nvCxnSpPr>
        <p:spPr>
          <a:xfrm rot="10800000" flipV="1">
            <a:off x="2574053" y="3672673"/>
            <a:ext cx="2170444" cy="1134748"/>
          </a:xfrm>
          <a:prstGeom prst="bentConnector2">
            <a:avLst/>
          </a:prstGeom>
          <a:ln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399CACC6-9BC8-FD57-9C9B-170F0BED5E56}"/>
              </a:ext>
            </a:extLst>
          </p:cNvPr>
          <p:cNvSpPr/>
          <p:nvPr/>
        </p:nvSpPr>
        <p:spPr>
          <a:xfrm>
            <a:off x="7887956" y="3024554"/>
            <a:ext cx="1386673" cy="4044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YES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F1BDE5-6BB8-9DA4-0DA1-E6AF6881629B}"/>
              </a:ext>
            </a:extLst>
          </p:cNvPr>
          <p:cNvSpPr/>
          <p:nvPr/>
        </p:nvSpPr>
        <p:spPr>
          <a:xfrm>
            <a:off x="2917371" y="3095878"/>
            <a:ext cx="1386673" cy="4044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NO</a:t>
            </a:r>
          </a:p>
        </p:txBody>
      </p:sp>
    </p:spTree>
    <p:extLst>
      <p:ext uri="{BB962C8B-B14F-4D97-AF65-F5344CB8AC3E}">
        <p14:creationId xmlns:p14="http://schemas.microsoft.com/office/powerpoint/2010/main" val="10947475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BA461F2-AE44-C66D-25A7-9B7F374F51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E3CC13-B0B3-037B-72DA-5A6473348F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Structures (switch)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D5C6B-8B47-9AF0-5016-2CF5AB016B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b="1" dirty="0"/>
              <a:t>Switch:</a:t>
            </a:r>
            <a:endParaRPr lang="en-US" b="1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54A4DFAD-159D-6A38-833C-006537282754}"/>
              </a:ext>
            </a:extLst>
          </p:cNvPr>
          <p:cNvGrpSpPr/>
          <p:nvPr/>
        </p:nvGrpSpPr>
        <p:grpSpPr>
          <a:xfrm>
            <a:off x="2733143" y="2723104"/>
            <a:ext cx="2371412" cy="3769772"/>
            <a:chOff x="2491992" y="2295442"/>
            <a:chExt cx="1795304" cy="4351338"/>
          </a:xfrm>
        </p:grpSpPr>
        <p:sp>
          <p:nvSpPr>
            <p:cNvPr id="10" name="Diamond 9">
              <a:extLst>
                <a:ext uri="{FF2B5EF4-FFF2-40B4-BE49-F238E27FC236}">
                  <a16:creationId xmlns:a16="http://schemas.microsoft.com/office/drawing/2014/main" id="{D958581F-0ABA-00F2-A959-7BE9C094A3DF}"/>
                </a:ext>
              </a:extLst>
            </p:cNvPr>
            <p:cNvSpPr/>
            <p:nvPr/>
          </p:nvSpPr>
          <p:spPr>
            <a:xfrm>
              <a:off x="2491992" y="2295442"/>
              <a:ext cx="1795304" cy="1256044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Case 1</a:t>
              </a:r>
            </a:p>
          </p:txBody>
        </p:sp>
        <p:sp>
          <p:nvSpPr>
            <p:cNvPr id="13" name="Diamond 12">
              <a:extLst>
                <a:ext uri="{FF2B5EF4-FFF2-40B4-BE49-F238E27FC236}">
                  <a16:creationId xmlns:a16="http://schemas.microsoft.com/office/drawing/2014/main" id="{5949265F-9762-099B-4C94-3530D6B48B31}"/>
                </a:ext>
              </a:extLst>
            </p:cNvPr>
            <p:cNvSpPr/>
            <p:nvPr/>
          </p:nvSpPr>
          <p:spPr>
            <a:xfrm>
              <a:off x="2491992" y="3843090"/>
              <a:ext cx="1795304" cy="1256044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Case 2</a:t>
              </a:r>
            </a:p>
          </p:txBody>
        </p:sp>
        <p:sp>
          <p:nvSpPr>
            <p:cNvPr id="14" name="Diamond 13">
              <a:extLst>
                <a:ext uri="{FF2B5EF4-FFF2-40B4-BE49-F238E27FC236}">
                  <a16:creationId xmlns:a16="http://schemas.microsoft.com/office/drawing/2014/main" id="{3DCA4AE9-D719-ACF7-04E5-77F88FD40DAB}"/>
                </a:ext>
              </a:extLst>
            </p:cNvPr>
            <p:cNvSpPr/>
            <p:nvPr/>
          </p:nvSpPr>
          <p:spPr>
            <a:xfrm>
              <a:off x="2491992" y="5390736"/>
              <a:ext cx="1795304" cy="1256044"/>
            </a:xfrm>
            <a:prstGeom prst="diamond">
              <a:avLst/>
            </a:prstGeom>
            <a:solidFill>
              <a:schemeClr val="bg1"/>
            </a:solidFill>
            <a:ln>
              <a:solidFill>
                <a:schemeClr val="accent3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2400" dirty="0">
                  <a:solidFill>
                    <a:schemeClr val="accent3">
                      <a:lumMod val="60000"/>
                      <a:lumOff val="40000"/>
                    </a:schemeClr>
                  </a:solidFill>
                </a:rPr>
                <a:t>default</a:t>
              </a:r>
            </a:p>
          </p:txBody>
        </p:sp>
      </p:grp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7B1E91AF-0949-9019-0C2F-1BBC0C774CAE}"/>
              </a:ext>
            </a:extLst>
          </p:cNvPr>
          <p:cNvSpPr/>
          <p:nvPr/>
        </p:nvSpPr>
        <p:spPr>
          <a:xfrm>
            <a:off x="2426669" y="1738627"/>
            <a:ext cx="2984360" cy="53573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Switch Control Statement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47244906-67C4-5C48-9C35-FB5F9BE9F9FB}"/>
              </a:ext>
            </a:extLst>
          </p:cNvPr>
          <p:cNvSpPr/>
          <p:nvPr/>
        </p:nvSpPr>
        <p:spPr>
          <a:xfrm>
            <a:off x="6300311" y="2914023"/>
            <a:ext cx="2240773" cy="66319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Statement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break;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9EA7B6DC-77EE-2066-86CB-C0466BA9EFA6}"/>
              </a:ext>
            </a:extLst>
          </p:cNvPr>
          <p:cNvSpPr/>
          <p:nvPr/>
        </p:nvSpPr>
        <p:spPr>
          <a:xfrm>
            <a:off x="6300309" y="5602699"/>
            <a:ext cx="2240773" cy="66319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Statement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break;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F3BB8ED7-AFA4-C488-B960-9CE9F9E55A98}"/>
              </a:ext>
            </a:extLst>
          </p:cNvPr>
          <p:cNvSpPr/>
          <p:nvPr/>
        </p:nvSpPr>
        <p:spPr>
          <a:xfrm>
            <a:off x="6300310" y="4288084"/>
            <a:ext cx="2240773" cy="663191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Statement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break;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E13209A0-433A-78E3-A9EC-7A99E8AB2048}"/>
              </a:ext>
            </a:extLst>
          </p:cNvPr>
          <p:cNvCxnSpPr>
            <a:stCxn id="16" idx="2"/>
            <a:endCxn id="10" idx="0"/>
          </p:cNvCxnSpPr>
          <p:nvPr/>
        </p:nvCxnSpPr>
        <p:spPr>
          <a:xfrm>
            <a:off x="3918849" y="2274365"/>
            <a:ext cx="0" cy="44873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1B732F50-BC60-A623-4969-338AD4760BA4}"/>
              </a:ext>
            </a:extLst>
          </p:cNvPr>
          <p:cNvCxnSpPr>
            <a:cxnSpLocks/>
            <a:stCxn id="10" idx="3"/>
            <a:endCxn id="17" idx="1"/>
          </p:cNvCxnSpPr>
          <p:nvPr/>
        </p:nvCxnSpPr>
        <p:spPr>
          <a:xfrm flipV="1">
            <a:off x="5104555" y="3245619"/>
            <a:ext cx="1195756" cy="215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B795C7-AF17-30F5-9447-4C8863312A8D}"/>
              </a:ext>
            </a:extLst>
          </p:cNvPr>
          <p:cNvCxnSpPr>
            <a:stCxn id="10" idx="2"/>
            <a:endCxn id="13" idx="0"/>
          </p:cNvCxnSpPr>
          <p:nvPr/>
        </p:nvCxnSpPr>
        <p:spPr>
          <a:xfrm>
            <a:off x="3918849" y="3811275"/>
            <a:ext cx="0" cy="25263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EB7FB475-AA0A-C974-63FB-DEF9053E768D}"/>
              </a:ext>
            </a:extLst>
          </p:cNvPr>
          <p:cNvCxnSpPr>
            <a:cxnSpLocks/>
            <a:stCxn id="13" idx="3"/>
            <a:endCxn id="19" idx="1"/>
          </p:cNvCxnSpPr>
          <p:nvPr/>
        </p:nvCxnSpPr>
        <p:spPr>
          <a:xfrm>
            <a:off x="5104555" y="4607991"/>
            <a:ext cx="1195755" cy="1168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36A364F-C2F5-0149-7EA5-B380C39ADEED}"/>
              </a:ext>
            </a:extLst>
          </p:cNvPr>
          <p:cNvCxnSpPr>
            <a:stCxn id="13" idx="2"/>
            <a:endCxn id="14" idx="0"/>
          </p:cNvCxnSpPr>
          <p:nvPr/>
        </p:nvCxnSpPr>
        <p:spPr>
          <a:xfrm>
            <a:off x="3918849" y="5152076"/>
            <a:ext cx="0" cy="2526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0E04AF07-9A1F-191B-3925-0974C954D657}"/>
              </a:ext>
            </a:extLst>
          </p:cNvPr>
          <p:cNvCxnSpPr>
            <a:cxnSpLocks/>
            <a:stCxn id="14" idx="3"/>
            <a:endCxn id="18" idx="1"/>
          </p:cNvCxnSpPr>
          <p:nvPr/>
        </p:nvCxnSpPr>
        <p:spPr>
          <a:xfrm flipV="1">
            <a:off x="5104555" y="5934295"/>
            <a:ext cx="1195754" cy="144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E08F29A-C666-5998-07A4-3E7D76063F0C}"/>
              </a:ext>
            </a:extLst>
          </p:cNvPr>
          <p:cNvCxnSpPr>
            <a:cxnSpLocks/>
            <a:stCxn id="17" idx="3"/>
            <a:endCxn id="47" idx="0"/>
          </p:cNvCxnSpPr>
          <p:nvPr/>
        </p:nvCxnSpPr>
        <p:spPr>
          <a:xfrm>
            <a:off x="8541084" y="3245619"/>
            <a:ext cx="1967398" cy="107891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5A420C70-CEFE-2983-D313-883147031390}"/>
              </a:ext>
            </a:extLst>
          </p:cNvPr>
          <p:cNvCxnSpPr>
            <a:cxnSpLocks/>
            <a:stCxn id="18" idx="3"/>
            <a:endCxn id="47" idx="2"/>
          </p:cNvCxnSpPr>
          <p:nvPr/>
        </p:nvCxnSpPr>
        <p:spPr>
          <a:xfrm flipV="1">
            <a:off x="8541082" y="4914822"/>
            <a:ext cx="1967400" cy="101947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B9194BF-0E1E-4400-2C95-8617B5F52573}"/>
              </a:ext>
            </a:extLst>
          </p:cNvPr>
          <p:cNvSpPr/>
          <p:nvPr/>
        </p:nvSpPr>
        <p:spPr>
          <a:xfrm>
            <a:off x="9525630" y="4324535"/>
            <a:ext cx="1965704" cy="590287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Next Statement</a:t>
            </a:r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5707AB3F-3A7C-DAC6-3D88-635F69BA7048}"/>
              </a:ext>
            </a:extLst>
          </p:cNvPr>
          <p:cNvCxnSpPr>
            <a:cxnSpLocks/>
            <a:stCxn id="19" idx="3"/>
            <a:endCxn id="47" idx="1"/>
          </p:cNvCxnSpPr>
          <p:nvPr/>
        </p:nvCxnSpPr>
        <p:spPr>
          <a:xfrm flipV="1">
            <a:off x="8541083" y="4619679"/>
            <a:ext cx="984547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3B33CF8F-47CE-350D-90ED-84BAB9131405}"/>
              </a:ext>
            </a:extLst>
          </p:cNvPr>
          <p:cNvSpPr txBox="1"/>
          <p:nvPr/>
        </p:nvSpPr>
        <p:spPr>
          <a:xfrm>
            <a:off x="5204200" y="2733319"/>
            <a:ext cx="622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True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F4DE659-CF56-6336-FE5D-D28E928398D1}"/>
              </a:ext>
            </a:extLst>
          </p:cNvPr>
          <p:cNvSpPr txBox="1"/>
          <p:nvPr/>
        </p:nvSpPr>
        <p:spPr>
          <a:xfrm>
            <a:off x="3064749" y="3741662"/>
            <a:ext cx="8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False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89BB7AE-AE21-AA34-F9D2-B1806E2C41B6}"/>
              </a:ext>
            </a:extLst>
          </p:cNvPr>
          <p:cNvSpPr txBox="1"/>
          <p:nvPr/>
        </p:nvSpPr>
        <p:spPr>
          <a:xfrm>
            <a:off x="5204200" y="4223639"/>
            <a:ext cx="622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True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BAF69DEF-CF4F-7DD4-D637-3BF6FEB0D891}"/>
              </a:ext>
            </a:extLst>
          </p:cNvPr>
          <p:cNvSpPr txBox="1"/>
          <p:nvPr/>
        </p:nvSpPr>
        <p:spPr>
          <a:xfrm>
            <a:off x="3064749" y="5113530"/>
            <a:ext cx="8541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False</a:t>
            </a:r>
          </a:p>
        </p:txBody>
      </p:sp>
    </p:spTree>
    <p:extLst>
      <p:ext uri="{BB962C8B-B14F-4D97-AF65-F5344CB8AC3E}">
        <p14:creationId xmlns:p14="http://schemas.microsoft.com/office/powerpoint/2010/main" val="28299458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EA3812-D936-AA30-2347-4ED08F9245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88742-E289-40ED-BAB7-EB86D1013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Control Structures (loops)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6F9FE7-56FC-1106-CF86-73D90AAA9B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Loops</a:t>
            </a:r>
          </a:p>
        </p:txBody>
      </p:sp>
      <p:pic>
        <p:nvPicPr>
          <p:cNvPr id="2050" name="Picture 2" descr="Loops in C++ - TechVidvan">
            <a:extLst>
              <a:ext uri="{FF2B5EF4-FFF2-40B4-BE49-F238E27FC236}">
                <a16:creationId xmlns:a16="http://schemas.microsoft.com/office/drawing/2014/main" id="{54B891D3-9569-2F9D-7931-DB9D422DB0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82746" y="1690688"/>
            <a:ext cx="3626507" cy="45902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2191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6611595-6CA6-650B-A370-64D146F41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C1FFDB-AB02-F51B-F06B-C2D8D7611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AC4038-A742-5D14-82DA-C17AC2C003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What is a Function?</a:t>
            </a:r>
            <a:endParaRPr lang="en-US" dirty="0"/>
          </a:p>
          <a:p>
            <a:r>
              <a:rPr lang="en-US" dirty="0"/>
              <a:t>A reusable block of code that perform </a:t>
            </a:r>
          </a:p>
          <a:p>
            <a:r>
              <a:rPr lang="en-US" dirty="0"/>
              <a:t>Executes a specific task</a:t>
            </a:r>
          </a:p>
          <a:p>
            <a:r>
              <a:rPr lang="en-US" dirty="0"/>
              <a:t>Improves code readability &amp; reusability</a:t>
            </a:r>
          </a:p>
        </p:txBody>
      </p:sp>
    </p:spTree>
    <p:extLst>
      <p:ext uri="{BB962C8B-B14F-4D97-AF65-F5344CB8AC3E}">
        <p14:creationId xmlns:p14="http://schemas.microsoft.com/office/powerpoint/2010/main" val="209680958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354F101-2978-345D-09E4-142CEAA54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5832B-1B3E-B041-8799-62D2EC147D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0E8CD2-65BF-5B2C-6836-5B5E698E76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Types of Functions in PHP</a:t>
            </a:r>
          </a:p>
          <a:p>
            <a:pPr>
              <a:lnSpc>
                <a:spcPct val="120000"/>
              </a:lnSpc>
            </a:pPr>
            <a:r>
              <a:rPr lang="en-US" b="1" dirty="0"/>
              <a:t>Built-in Functions</a:t>
            </a:r>
            <a:br>
              <a:rPr lang="en-US" dirty="0"/>
            </a:br>
            <a:r>
              <a:rPr lang="en-US" dirty="0"/>
              <a:t>Predefined functions provided by PHP</a:t>
            </a:r>
            <a:br>
              <a:rPr lang="en-US" dirty="0"/>
            </a:br>
            <a:r>
              <a:rPr lang="en-US" i="1" dirty="0"/>
              <a:t>Example:</a:t>
            </a:r>
            <a:r>
              <a:rPr lang="en-US" dirty="0"/>
              <a:t> </a:t>
            </a:r>
            <a:r>
              <a:rPr lang="en-US" dirty="0" err="1"/>
              <a:t>strlen</a:t>
            </a:r>
            <a:r>
              <a:rPr lang="en-US" dirty="0"/>
              <a:t>(), date()</a:t>
            </a:r>
          </a:p>
          <a:p>
            <a:pPr>
              <a:lnSpc>
                <a:spcPct val="120000"/>
              </a:lnSpc>
            </a:pPr>
            <a:r>
              <a:rPr lang="en-US" b="1" dirty="0"/>
              <a:t>User-Defined Functions</a:t>
            </a:r>
            <a:br>
              <a:rPr lang="en-US" dirty="0"/>
            </a:br>
            <a:r>
              <a:rPr lang="en-US" dirty="0" err="1"/>
              <a:t>Functions</a:t>
            </a:r>
            <a:r>
              <a:rPr lang="en-US" dirty="0"/>
              <a:t> created by the programmer</a:t>
            </a:r>
            <a:br>
              <a:rPr lang="en-US" dirty="0"/>
            </a:br>
            <a:r>
              <a:rPr lang="en-US" i="1" dirty="0"/>
              <a:t>Example:</a:t>
            </a:r>
            <a:r>
              <a:rPr lang="en-US" dirty="0"/>
              <a:t> function add() {}</a:t>
            </a:r>
          </a:p>
          <a:p>
            <a:pPr>
              <a:lnSpc>
                <a:spcPct val="120000"/>
              </a:lnSpc>
            </a:pPr>
            <a:r>
              <a:rPr lang="en-US" b="1" dirty="0"/>
              <a:t>Functions with Parameters</a:t>
            </a:r>
            <a:br>
              <a:rPr lang="en-US" dirty="0"/>
            </a:br>
            <a:r>
              <a:rPr lang="en-US" dirty="0"/>
              <a:t>Accept input values</a:t>
            </a:r>
            <a:br>
              <a:rPr lang="en-US" dirty="0"/>
            </a:br>
            <a:r>
              <a:rPr lang="en-US" i="1" dirty="0"/>
              <a:t>Example:</a:t>
            </a:r>
            <a:r>
              <a:rPr lang="en-US" dirty="0"/>
              <a:t> add($a, $b)</a:t>
            </a:r>
          </a:p>
          <a:p>
            <a:pPr>
              <a:lnSpc>
                <a:spcPct val="120000"/>
              </a:lnSpc>
            </a:pPr>
            <a:r>
              <a:rPr lang="en-US" b="1" dirty="0"/>
              <a:t>Functions with Return Value</a:t>
            </a:r>
            <a:br>
              <a:rPr lang="en-US" dirty="0"/>
            </a:br>
            <a:r>
              <a:rPr lang="en-US" dirty="0"/>
              <a:t>Return a result</a:t>
            </a:r>
            <a:br>
              <a:rPr lang="en-US" dirty="0"/>
            </a:br>
            <a:r>
              <a:rPr lang="en-US" i="1" dirty="0"/>
              <a:t>Example:</a:t>
            </a:r>
            <a:r>
              <a:rPr lang="en-US" dirty="0"/>
              <a:t> return $sum;</a:t>
            </a:r>
          </a:p>
        </p:txBody>
      </p:sp>
    </p:spTree>
    <p:extLst>
      <p:ext uri="{BB962C8B-B14F-4D97-AF65-F5344CB8AC3E}">
        <p14:creationId xmlns:p14="http://schemas.microsoft.com/office/powerpoint/2010/main" val="38950983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2C3C5AE-42EE-CDC9-8242-7472C4408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C62CE-FE19-C0CE-3A01-C030B3945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4986D-7699-6850-AABA-DD43C8473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b="1" dirty="0"/>
              <a:t>Anonymous Functions</a:t>
            </a:r>
            <a:br>
              <a:rPr lang="en-US" dirty="0"/>
            </a:br>
            <a:r>
              <a:rPr lang="en-US" dirty="0" err="1"/>
              <a:t>Functions</a:t>
            </a:r>
            <a:r>
              <a:rPr lang="en-US" dirty="0"/>
              <a:t> without a name</a:t>
            </a:r>
            <a:br>
              <a:rPr lang="en-US" dirty="0"/>
            </a:br>
            <a:r>
              <a:rPr lang="en-US" i="1" dirty="0"/>
              <a:t>Example:</a:t>
            </a:r>
            <a:r>
              <a:rPr lang="en-US" dirty="0"/>
              <a:t> $x = function() {};</a:t>
            </a:r>
          </a:p>
          <a:p>
            <a:r>
              <a:rPr lang="en-US" b="1" dirty="0"/>
              <a:t>Recursive Functions</a:t>
            </a:r>
            <a:br>
              <a:rPr lang="en-US" dirty="0"/>
            </a:br>
            <a:r>
              <a:rPr lang="en-US" dirty="0"/>
              <a:t>A function that calls itself</a:t>
            </a:r>
            <a:br>
              <a:rPr lang="en-US" dirty="0"/>
            </a:br>
            <a:r>
              <a:rPr lang="en-US" i="1" dirty="0"/>
              <a:t>Example:</a:t>
            </a:r>
            <a:r>
              <a:rPr lang="en-US" dirty="0"/>
              <a:t> factorial()</a:t>
            </a:r>
          </a:p>
          <a:p>
            <a:r>
              <a:rPr lang="en-US" b="1" dirty="0"/>
              <a:t>Arrow Functions (PHP 7.4+)</a:t>
            </a:r>
            <a:br>
              <a:rPr lang="en-US" dirty="0"/>
            </a:br>
            <a:r>
              <a:rPr lang="en-US" dirty="0"/>
              <a:t>Short syntax for anonymous functions</a:t>
            </a:r>
            <a:br>
              <a:rPr lang="en-US" dirty="0"/>
            </a:br>
            <a:r>
              <a:rPr lang="en-US" i="1" dirty="0"/>
              <a:t>Example:</a:t>
            </a:r>
            <a:r>
              <a:rPr lang="en-US" dirty="0"/>
              <a:t> </a:t>
            </a:r>
            <a:r>
              <a:rPr lang="en-US" dirty="0" err="1"/>
              <a:t>fn</a:t>
            </a:r>
            <a:r>
              <a:rPr lang="en-US" dirty="0"/>
              <a:t>($x) =&gt; $x*$x</a:t>
            </a:r>
          </a:p>
          <a:p>
            <a:r>
              <a:rPr lang="en-US" b="1" dirty="0"/>
              <a:t>Variable Functions</a:t>
            </a:r>
            <a:br>
              <a:rPr lang="en-US" dirty="0"/>
            </a:br>
            <a:r>
              <a:rPr lang="en-US" dirty="0"/>
              <a:t>Function called using a variable name</a:t>
            </a:r>
            <a:br>
              <a:rPr lang="en-US" dirty="0"/>
            </a:br>
            <a:r>
              <a:rPr lang="en-US" i="1" dirty="0"/>
              <a:t>Example:</a:t>
            </a:r>
            <a:r>
              <a:rPr lang="en-US" dirty="0"/>
              <a:t> $</a:t>
            </a:r>
            <a:r>
              <a:rPr lang="en-US" dirty="0" err="1"/>
              <a:t>func</a:t>
            </a:r>
            <a:r>
              <a:rPr lang="en-US" dirty="0"/>
              <a:t>();</a:t>
            </a:r>
          </a:p>
          <a:p>
            <a:pPr marL="0" indent="0">
              <a:buNone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0660075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EBFC49C-BD7A-1378-C443-7B4477E47A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8B3C8-253E-C561-F784-9C669139DA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Arrays (Indexed)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6C8F2F-F3AD-BE88-4AE7-EFDA66A098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Arrays</a:t>
            </a:r>
            <a:r>
              <a:rPr lang="en-US" dirty="0"/>
              <a:t> hold multiple values in a single variable.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C1AD427-26A6-61A4-69F2-3550CDC06F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4860516"/>
              </p:ext>
            </p:extLst>
          </p:nvPr>
        </p:nvGraphicFramePr>
        <p:xfrm>
          <a:off x="1808701" y="2558514"/>
          <a:ext cx="6782640" cy="110913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528">
                  <a:extLst>
                    <a:ext uri="{9D8B030D-6E8A-4147-A177-3AD203B41FA5}">
                      <a16:colId xmlns:a16="http://schemas.microsoft.com/office/drawing/2014/main" val="3488721873"/>
                    </a:ext>
                  </a:extLst>
                </a:gridCol>
                <a:gridCol w="1356528">
                  <a:extLst>
                    <a:ext uri="{9D8B030D-6E8A-4147-A177-3AD203B41FA5}">
                      <a16:colId xmlns:a16="http://schemas.microsoft.com/office/drawing/2014/main" val="2316522170"/>
                    </a:ext>
                  </a:extLst>
                </a:gridCol>
                <a:gridCol w="1356528">
                  <a:extLst>
                    <a:ext uri="{9D8B030D-6E8A-4147-A177-3AD203B41FA5}">
                      <a16:colId xmlns:a16="http://schemas.microsoft.com/office/drawing/2014/main" val="3275529828"/>
                    </a:ext>
                  </a:extLst>
                </a:gridCol>
                <a:gridCol w="1356528">
                  <a:extLst>
                    <a:ext uri="{9D8B030D-6E8A-4147-A177-3AD203B41FA5}">
                      <a16:colId xmlns:a16="http://schemas.microsoft.com/office/drawing/2014/main" val="3229418500"/>
                    </a:ext>
                  </a:extLst>
                </a:gridCol>
                <a:gridCol w="1356528">
                  <a:extLst>
                    <a:ext uri="{9D8B030D-6E8A-4147-A177-3AD203B41FA5}">
                      <a16:colId xmlns:a16="http://schemas.microsoft.com/office/drawing/2014/main" val="4033421825"/>
                    </a:ext>
                  </a:extLst>
                </a:gridCol>
              </a:tblGrid>
              <a:tr h="1109134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8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12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16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0504413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C561C06D-ED89-8251-8F23-234BD8D065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63148126"/>
              </p:ext>
            </p:extLst>
          </p:nvPr>
        </p:nvGraphicFramePr>
        <p:xfrm>
          <a:off x="1808701" y="3640015"/>
          <a:ext cx="6782640" cy="701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56528">
                  <a:extLst>
                    <a:ext uri="{9D8B030D-6E8A-4147-A177-3AD203B41FA5}">
                      <a16:colId xmlns:a16="http://schemas.microsoft.com/office/drawing/2014/main" val="3488721873"/>
                    </a:ext>
                  </a:extLst>
                </a:gridCol>
                <a:gridCol w="1356528">
                  <a:extLst>
                    <a:ext uri="{9D8B030D-6E8A-4147-A177-3AD203B41FA5}">
                      <a16:colId xmlns:a16="http://schemas.microsoft.com/office/drawing/2014/main" val="2316522170"/>
                    </a:ext>
                  </a:extLst>
                </a:gridCol>
                <a:gridCol w="1356528">
                  <a:extLst>
                    <a:ext uri="{9D8B030D-6E8A-4147-A177-3AD203B41FA5}">
                      <a16:colId xmlns:a16="http://schemas.microsoft.com/office/drawing/2014/main" val="3275529828"/>
                    </a:ext>
                  </a:extLst>
                </a:gridCol>
                <a:gridCol w="1356528">
                  <a:extLst>
                    <a:ext uri="{9D8B030D-6E8A-4147-A177-3AD203B41FA5}">
                      <a16:colId xmlns:a16="http://schemas.microsoft.com/office/drawing/2014/main" val="3229418500"/>
                    </a:ext>
                  </a:extLst>
                </a:gridCol>
                <a:gridCol w="1356528">
                  <a:extLst>
                    <a:ext uri="{9D8B030D-6E8A-4147-A177-3AD203B41FA5}">
                      <a16:colId xmlns:a16="http://schemas.microsoft.com/office/drawing/2014/main" val="4033421825"/>
                    </a:ext>
                  </a:extLst>
                </a:gridCol>
              </a:tblGrid>
              <a:tr h="701460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0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050441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DDEC92D-7DBD-26A3-6299-2DE912C90C2A}"/>
              </a:ext>
            </a:extLst>
          </p:cNvPr>
          <p:cNvSpPr txBox="1"/>
          <p:nvPr/>
        </p:nvSpPr>
        <p:spPr>
          <a:xfrm>
            <a:off x="948732" y="2772189"/>
            <a:ext cx="970501" cy="595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err="1"/>
              <a:t>arr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526375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D41582E-C6A8-5098-1325-7FC22CCB5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53305-BCDB-92F5-BD97-E88EDADA4B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Arrays (</a:t>
            </a:r>
            <a:r>
              <a:rPr lang="en-US" b="1" dirty="0"/>
              <a:t>Associative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0A7ECE-3AA1-B0B2-604B-B8BDCF36A8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Associative Array  : </a:t>
            </a:r>
            <a:r>
              <a:rPr lang="en-US" dirty="0"/>
              <a:t>An </a:t>
            </a:r>
            <a:r>
              <a:rPr lang="en-US" b="1" dirty="0"/>
              <a:t>associative array</a:t>
            </a:r>
            <a:r>
              <a:rPr lang="en-US" dirty="0"/>
              <a:t> is a collection of </a:t>
            </a:r>
            <a:r>
              <a:rPr lang="en-US" b="1" dirty="0"/>
              <a:t>key–value pairs</a:t>
            </a:r>
            <a:r>
              <a:rPr lang="en-US" dirty="0"/>
              <a:t>, where each </a:t>
            </a:r>
            <a:r>
              <a:rPr lang="en-US" b="1" dirty="0"/>
              <a:t>key</a:t>
            </a:r>
            <a:r>
              <a:rPr lang="en-US" dirty="0"/>
              <a:t> is unique and maps to a </a:t>
            </a:r>
            <a:r>
              <a:rPr lang="en-US" b="1" dirty="0"/>
              <a:t>value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dirty="0"/>
              <a:t>$student = [</a:t>
            </a:r>
          </a:p>
          <a:p>
            <a:pPr marL="0" indent="0">
              <a:buNone/>
            </a:pPr>
            <a:r>
              <a:rPr lang="en-US" dirty="0"/>
              <a:t>    "name"  =&gt; "Amit",</a:t>
            </a:r>
          </a:p>
          <a:p>
            <a:pPr marL="0" indent="0">
              <a:buNone/>
            </a:pPr>
            <a:r>
              <a:rPr lang="en-US" dirty="0"/>
              <a:t>    "age"   =&gt; 17,</a:t>
            </a:r>
          </a:p>
          <a:p>
            <a:pPr marL="0" indent="0">
              <a:buNone/>
            </a:pPr>
            <a:r>
              <a:rPr lang="en-US" dirty="0"/>
              <a:t>    "class" =&gt; "12th"</a:t>
            </a:r>
          </a:p>
          <a:p>
            <a:pPr marL="0" indent="0">
              <a:buNone/>
            </a:pPr>
            <a:r>
              <a:rPr lang="en-US" dirty="0"/>
              <a:t>];</a:t>
            </a:r>
          </a:p>
        </p:txBody>
      </p:sp>
    </p:spTree>
    <p:extLst>
      <p:ext uri="{BB962C8B-B14F-4D97-AF65-F5344CB8AC3E}">
        <p14:creationId xmlns:p14="http://schemas.microsoft.com/office/powerpoint/2010/main" val="38423574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084C55-D229-28D5-436B-D2C2C49791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AD88F1-367A-D60D-B321-5960F5C88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Arrays (</a:t>
            </a:r>
            <a:r>
              <a:rPr lang="en-US" b="1" dirty="0"/>
              <a:t>Multidimensional</a:t>
            </a:r>
            <a:r>
              <a:rPr lang="en-US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2895BD-83B7-45DE-D4F8-347794817A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Multidimensional Array : </a:t>
            </a:r>
            <a:r>
              <a:rPr lang="en-US" dirty="0"/>
              <a:t>A </a:t>
            </a:r>
            <a:r>
              <a:rPr lang="en-US" b="1" dirty="0"/>
              <a:t>multidimensional array</a:t>
            </a:r>
            <a:r>
              <a:rPr lang="en-US" dirty="0"/>
              <a:t> is an array that contains </a:t>
            </a:r>
            <a:r>
              <a:rPr lang="en-US" b="1" dirty="0"/>
              <a:t>one or more arrays inside it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/>
              <a:t>It is used to store data in a </a:t>
            </a:r>
            <a:r>
              <a:rPr lang="en-US" b="1" dirty="0"/>
              <a:t>table-like or matrix form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971A332-4372-D4D9-1500-446E5E0548A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02946075"/>
              </p:ext>
            </p:extLst>
          </p:nvPr>
        </p:nvGraphicFramePr>
        <p:xfrm>
          <a:off x="1325265" y="3418363"/>
          <a:ext cx="3960170" cy="2758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2034">
                  <a:extLst>
                    <a:ext uri="{9D8B030D-6E8A-4147-A177-3AD203B41FA5}">
                      <a16:colId xmlns:a16="http://schemas.microsoft.com/office/drawing/2014/main" val="4122821588"/>
                    </a:ext>
                  </a:extLst>
                </a:gridCol>
                <a:gridCol w="792034">
                  <a:extLst>
                    <a:ext uri="{9D8B030D-6E8A-4147-A177-3AD203B41FA5}">
                      <a16:colId xmlns:a16="http://schemas.microsoft.com/office/drawing/2014/main" val="3641241402"/>
                    </a:ext>
                  </a:extLst>
                </a:gridCol>
                <a:gridCol w="792034">
                  <a:extLst>
                    <a:ext uri="{9D8B030D-6E8A-4147-A177-3AD203B41FA5}">
                      <a16:colId xmlns:a16="http://schemas.microsoft.com/office/drawing/2014/main" val="1210464440"/>
                    </a:ext>
                  </a:extLst>
                </a:gridCol>
                <a:gridCol w="792034">
                  <a:extLst>
                    <a:ext uri="{9D8B030D-6E8A-4147-A177-3AD203B41FA5}">
                      <a16:colId xmlns:a16="http://schemas.microsoft.com/office/drawing/2014/main" val="667165798"/>
                    </a:ext>
                  </a:extLst>
                </a:gridCol>
                <a:gridCol w="792034">
                  <a:extLst>
                    <a:ext uri="{9D8B030D-6E8A-4147-A177-3AD203B41FA5}">
                      <a16:colId xmlns:a16="http://schemas.microsoft.com/office/drawing/2014/main" val="3966161432"/>
                    </a:ext>
                  </a:extLst>
                </a:gridCol>
              </a:tblGrid>
              <a:tr h="689650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4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1860134"/>
                  </a:ext>
                </a:extLst>
              </a:tr>
              <a:tr h="68965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515049"/>
                  </a:ext>
                </a:extLst>
              </a:tr>
              <a:tr h="68965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285243"/>
                  </a:ext>
                </a:extLst>
              </a:tr>
              <a:tr h="68965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59889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01576376-0419-17E9-D2FE-0845664D608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5385772"/>
              </p:ext>
            </p:extLst>
          </p:nvPr>
        </p:nvGraphicFramePr>
        <p:xfrm>
          <a:off x="6280220" y="3526970"/>
          <a:ext cx="4302370" cy="2571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0474">
                  <a:extLst>
                    <a:ext uri="{9D8B030D-6E8A-4147-A177-3AD203B41FA5}">
                      <a16:colId xmlns:a16="http://schemas.microsoft.com/office/drawing/2014/main" val="4122821588"/>
                    </a:ext>
                  </a:extLst>
                </a:gridCol>
                <a:gridCol w="860474">
                  <a:extLst>
                    <a:ext uri="{9D8B030D-6E8A-4147-A177-3AD203B41FA5}">
                      <a16:colId xmlns:a16="http://schemas.microsoft.com/office/drawing/2014/main" val="3641241402"/>
                    </a:ext>
                  </a:extLst>
                </a:gridCol>
                <a:gridCol w="860474">
                  <a:extLst>
                    <a:ext uri="{9D8B030D-6E8A-4147-A177-3AD203B41FA5}">
                      <a16:colId xmlns:a16="http://schemas.microsoft.com/office/drawing/2014/main" val="1210464440"/>
                    </a:ext>
                  </a:extLst>
                </a:gridCol>
                <a:gridCol w="860474">
                  <a:extLst>
                    <a:ext uri="{9D8B030D-6E8A-4147-A177-3AD203B41FA5}">
                      <a16:colId xmlns:a16="http://schemas.microsoft.com/office/drawing/2014/main" val="667165798"/>
                    </a:ext>
                  </a:extLst>
                </a:gridCol>
                <a:gridCol w="860474">
                  <a:extLst>
                    <a:ext uri="{9D8B030D-6E8A-4147-A177-3AD203B41FA5}">
                      <a16:colId xmlns:a16="http://schemas.microsoft.com/office/drawing/2014/main" val="3966161432"/>
                    </a:ext>
                  </a:extLst>
                </a:gridCol>
              </a:tblGrid>
              <a:tr h="642820"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name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age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height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width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01860134"/>
                  </a:ext>
                </a:extLst>
              </a:tr>
              <a:tr h="64282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P1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6515049"/>
                  </a:ext>
                </a:extLst>
              </a:tr>
              <a:tr h="64282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P2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285243"/>
                  </a:ext>
                </a:extLst>
              </a:tr>
              <a:tr h="642820">
                <a:tc>
                  <a:txBody>
                    <a:bodyPr/>
                    <a:lstStyle/>
                    <a:p>
                      <a:pPr algn="ctr"/>
                      <a:r>
                        <a:rPr lang="en-US" dirty="0">
                          <a:solidFill>
                            <a:schemeClr val="tx1"/>
                          </a:solidFill>
                        </a:rPr>
                        <a:t>p3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4598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943162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1808DA2-4335-0E68-6313-9C4FF8F8A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B7445-09F0-15A9-4871-5AB72DA552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Manipulation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3597F8-CA33-43F7-AAAA-BB9F0FD0EC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1" dirty="0"/>
              <a:t>String Manipulation</a:t>
            </a:r>
          </a:p>
          <a:p>
            <a:pPr marL="0" indent="0">
              <a:buNone/>
            </a:pPr>
            <a:r>
              <a:rPr lang="en-US" sz="2000" dirty="0"/>
              <a:t>PHP provides many functions to </a:t>
            </a:r>
            <a:r>
              <a:rPr lang="en-US" sz="2000" b="1" dirty="0"/>
              <a:t>create, modify, and inspect strings</a:t>
            </a:r>
            <a:r>
              <a:rPr lang="en-US" sz="2000" dirty="0"/>
              <a:t>.</a:t>
            </a:r>
          </a:p>
          <a:p>
            <a:pPr marL="0" indent="0">
              <a:buNone/>
            </a:pPr>
            <a:r>
              <a:rPr lang="en-US" sz="2000" b="1" dirty="0"/>
              <a:t>Examples: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$str = "Hello World";</a:t>
            </a:r>
          </a:p>
          <a:p>
            <a:pPr marL="0" indent="0">
              <a:buNone/>
            </a:pPr>
            <a:r>
              <a:rPr lang="en-US" sz="2000" dirty="0"/>
              <a:t>echo </a:t>
            </a:r>
            <a:r>
              <a:rPr lang="en-US" sz="2000" dirty="0" err="1"/>
              <a:t>strlen</a:t>
            </a:r>
            <a:r>
              <a:rPr lang="en-US" sz="2000" dirty="0"/>
              <a:t>($str); // 11</a:t>
            </a:r>
          </a:p>
          <a:p>
            <a:pPr marL="0" indent="0">
              <a:buNone/>
            </a:pPr>
            <a:r>
              <a:rPr lang="en-US" sz="2000" dirty="0"/>
              <a:t>echo </a:t>
            </a:r>
            <a:r>
              <a:rPr lang="en-US" sz="2000" dirty="0" err="1"/>
              <a:t>strtoupper</a:t>
            </a:r>
            <a:r>
              <a:rPr lang="en-US" sz="2000" dirty="0"/>
              <a:t>($str); // HELLO WORLD</a:t>
            </a:r>
          </a:p>
          <a:p>
            <a:pPr marL="0" indent="0">
              <a:buNone/>
            </a:pPr>
            <a:r>
              <a:rPr lang="en-US" sz="2000" dirty="0"/>
              <a:t>echo </a:t>
            </a:r>
            <a:r>
              <a:rPr lang="en-US" sz="2000" dirty="0" err="1"/>
              <a:t>strtolower</a:t>
            </a:r>
            <a:r>
              <a:rPr lang="en-US" sz="2000" dirty="0"/>
              <a:t>($str); // hello world</a:t>
            </a:r>
          </a:p>
          <a:p>
            <a:pPr marL="0" indent="0">
              <a:buNone/>
            </a:pPr>
            <a:r>
              <a:rPr lang="en-US" sz="2000" dirty="0"/>
              <a:t>echo </a:t>
            </a:r>
            <a:r>
              <a:rPr lang="en-US" sz="2000" dirty="0" err="1"/>
              <a:t>str_replace</a:t>
            </a:r>
            <a:r>
              <a:rPr lang="en-US" sz="2000" dirty="0"/>
              <a:t>("World", "PHP", $str); // Hello PHP</a:t>
            </a:r>
          </a:p>
          <a:p>
            <a:pPr marL="0" indent="0">
              <a:buNone/>
            </a:pPr>
            <a:r>
              <a:rPr lang="en-US" sz="2000" dirty="0"/>
              <a:t>echo </a:t>
            </a:r>
            <a:r>
              <a:rPr lang="en-US" sz="2000" dirty="0" err="1"/>
              <a:t>substr</a:t>
            </a:r>
            <a:r>
              <a:rPr lang="en-US" sz="2000" dirty="0"/>
              <a:t>($str, 6, 5); // World</a:t>
            </a:r>
          </a:p>
        </p:txBody>
      </p:sp>
    </p:spTree>
    <p:extLst>
      <p:ext uri="{BB962C8B-B14F-4D97-AF65-F5344CB8AC3E}">
        <p14:creationId xmlns:p14="http://schemas.microsoft.com/office/powerpoint/2010/main" val="20401995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46177D-1B88-1E7E-6F19-A93F7D6E4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C0794-3EF8-567A-F169-00F0D192F2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 Manipulation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18B155-A2AB-FEEE-83C5-21EE0223C3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b="1" dirty="0"/>
              <a:t>Other Useful Functions:</a:t>
            </a:r>
            <a:endParaRPr lang="en-US" sz="2000" dirty="0"/>
          </a:p>
          <a:p>
            <a:pPr marL="0" indent="0">
              <a:buNone/>
            </a:pPr>
            <a:r>
              <a:rPr lang="en-US" sz="2000" dirty="0"/>
              <a:t>trim() → remove spaces</a:t>
            </a:r>
          </a:p>
          <a:p>
            <a:pPr marL="0" indent="0">
              <a:buNone/>
            </a:pPr>
            <a:r>
              <a:rPr lang="en-US" sz="2000" dirty="0" err="1"/>
              <a:t>strpos</a:t>
            </a:r>
            <a:r>
              <a:rPr lang="en-US" sz="2000" dirty="0"/>
              <a:t>() → find position of substring</a:t>
            </a:r>
          </a:p>
          <a:p>
            <a:pPr marL="0" indent="0">
              <a:buNone/>
            </a:pPr>
            <a:r>
              <a:rPr lang="en-US" sz="2000" dirty="0"/>
              <a:t>explode() → split string into array</a:t>
            </a:r>
          </a:p>
          <a:p>
            <a:pPr marL="0" indent="0">
              <a:buNone/>
            </a:pPr>
            <a:r>
              <a:rPr lang="en-US" sz="2000" dirty="0"/>
              <a:t>implode() → join array into string</a:t>
            </a:r>
          </a:p>
        </p:txBody>
      </p:sp>
    </p:spTree>
    <p:extLst>
      <p:ext uri="{BB962C8B-B14F-4D97-AF65-F5344CB8AC3E}">
        <p14:creationId xmlns:p14="http://schemas.microsoft.com/office/powerpoint/2010/main" val="12565676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6761ED-3559-E9F9-5DA1-F5458F8A6D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72BAD-1464-34E5-C7FD-54D424934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Regular Expressions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7A359D-6A43-BBBB-B51A-C34104B899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Regular Expressions (Regex)</a:t>
            </a:r>
          </a:p>
          <a:p>
            <a:pPr marL="0" indent="0">
              <a:buNone/>
            </a:pPr>
            <a:r>
              <a:rPr lang="en-US" b="1" dirty="0"/>
              <a:t>Pattern matching</a:t>
            </a:r>
            <a:r>
              <a:rPr lang="en-US" dirty="0"/>
              <a:t> in strings.</a:t>
            </a:r>
          </a:p>
          <a:p>
            <a:pPr marL="0" indent="0">
              <a:buNone/>
            </a:pPr>
            <a:r>
              <a:rPr lang="en-US" dirty="0" err="1"/>
              <a:t>preg_match</a:t>
            </a:r>
            <a:r>
              <a:rPr lang="en-US" dirty="0"/>
              <a:t>() → check if pattern exists.</a:t>
            </a:r>
          </a:p>
          <a:p>
            <a:pPr marL="0" indent="0">
              <a:buNone/>
            </a:pPr>
            <a:r>
              <a:rPr lang="en-US" dirty="0" err="1"/>
              <a:t>preg_replace</a:t>
            </a:r>
            <a:r>
              <a:rPr lang="en-US" dirty="0"/>
              <a:t>() → replace pattern.</a:t>
            </a:r>
          </a:p>
          <a:p>
            <a:pPr marL="0" indent="0">
              <a:buNone/>
            </a:pPr>
            <a:r>
              <a:rPr lang="en-US" dirty="0" err="1"/>
              <a:t>preg_split</a:t>
            </a:r>
            <a:r>
              <a:rPr lang="en-US" dirty="0"/>
              <a:t>() → split by pattern.</a:t>
            </a:r>
          </a:p>
          <a:p>
            <a:pPr marL="0" indent="0">
              <a:buNone/>
            </a:pPr>
            <a:r>
              <a:rPr lang="en-US" b="1" dirty="0"/>
              <a:t>Examples: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$str = "My email is test@example.com";</a:t>
            </a:r>
          </a:p>
          <a:p>
            <a:pPr marL="0" indent="0">
              <a:buNone/>
            </a:pPr>
            <a:r>
              <a:rPr lang="en-US" dirty="0"/>
              <a:t>if(</a:t>
            </a:r>
            <a:r>
              <a:rPr lang="en-US" dirty="0" err="1"/>
              <a:t>preg_match</a:t>
            </a:r>
            <a:r>
              <a:rPr lang="en-US" dirty="0"/>
              <a:t>("/[a-z0-9._%+-]+@[a-z0-9.-]+\.[a-z]{2,4}/", $str)){</a:t>
            </a:r>
          </a:p>
          <a:p>
            <a:pPr marL="0" indent="0">
              <a:buNone/>
            </a:pPr>
            <a:r>
              <a:rPr lang="en-US" dirty="0"/>
              <a:t>    echo "Valid email";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echo </a:t>
            </a:r>
            <a:r>
              <a:rPr lang="en-US" dirty="0" err="1"/>
              <a:t>preg_replace</a:t>
            </a:r>
            <a:r>
              <a:rPr lang="en-US" dirty="0"/>
              <a:t>("/\d/", "#", "Phone: 01712345678"); </a:t>
            </a:r>
          </a:p>
          <a:p>
            <a:pPr marL="0" indent="0">
              <a:buNone/>
            </a:pPr>
            <a:r>
              <a:rPr lang="en-US" dirty="0" err="1"/>
              <a:t>print_r</a:t>
            </a:r>
            <a:r>
              <a:rPr lang="en-US" dirty="0"/>
              <a:t>(</a:t>
            </a:r>
            <a:r>
              <a:rPr lang="en-US" dirty="0" err="1"/>
              <a:t>preg_split</a:t>
            </a:r>
            <a:r>
              <a:rPr lang="en-US" dirty="0"/>
              <a:t>("/\s+/", "PHP is fun"));</a:t>
            </a:r>
          </a:p>
        </p:txBody>
      </p:sp>
    </p:spTree>
    <p:extLst>
      <p:ext uri="{BB962C8B-B14F-4D97-AF65-F5344CB8AC3E}">
        <p14:creationId xmlns:p14="http://schemas.microsoft.com/office/powerpoint/2010/main" val="27199326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2C9A795-FEC4-2B40-6CB0-B887B33E46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64E7D7-2835-0F48-76FC-66DA5FB20C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Handling (Read, Write, Append)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864C4D-65E0-FD25-EC38-52AE3552C0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PHP File Handling</a:t>
            </a:r>
          </a:p>
          <a:p>
            <a:pPr marL="0" indent="0">
              <a:buNone/>
            </a:pPr>
            <a:r>
              <a:rPr lang="en-US" dirty="0"/>
              <a:t>PHP allows you to </a:t>
            </a:r>
            <a:r>
              <a:rPr lang="en-US" b="1" dirty="0"/>
              <a:t>create, read, write, and append files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b="1" dirty="0"/>
              <a:t>1. Write to a File</a:t>
            </a:r>
          </a:p>
          <a:p>
            <a:pPr marL="0" indent="0">
              <a:buNone/>
            </a:pPr>
            <a:r>
              <a:rPr lang="en-US" dirty="0" err="1"/>
              <a:t>file_put_contents</a:t>
            </a:r>
            <a:r>
              <a:rPr lang="en-US" dirty="0"/>
              <a:t>("example.txt", "Hello, PHP!");</a:t>
            </a:r>
          </a:p>
          <a:p>
            <a:pPr marL="0" indent="0">
              <a:buNone/>
            </a:pPr>
            <a:r>
              <a:rPr lang="en-US" i="1" dirty="0"/>
              <a:t>Creates or overwrites the file.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2. Append to a File</a:t>
            </a:r>
          </a:p>
          <a:p>
            <a:pPr marL="0" indent="0">
              <a:buNone/>
            </a:pPr>
            <a:r>
              <a:rPr lang="en-US" dirty="0" err="1"/>
              <a:t>file_put_contents</a:t>
            </a:r>
            <a:r>
              <a:rPr lang="en-US" dirty="0"/>
              <a:t>("example.txt", "\</a:t>
            </a:r>
            <a:r>
              <a:rPr lang="en-US" dirty="0" err="1"/>
              <a:t>nAppended</a:t>
            </a:r>
            <a:r>
              <a:rPr lang="en-US" dirty="0"/>
              <a:t> Text", FILE_APPEND);</a:t>
            </a:r>
          </a:p>
          <a:p>
            <a:pPr marL="0" indent="0">
              <a:buNone/>
            </a:pPr>
            <a:r>
              <a:rPr lang="en-US" i="1" dirty="0"/>
              <a:t>Adds new content without deleting existing data.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73070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B33CD1-9D53-39FE-0F4E-36B3EBD2D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971A6-FDFB-0D6E-9D32-478DD97BA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Handling (Read, Write, Append)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1153E9-3D73-57D6-8998-8F9C452739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3. Read from a File</a:t>
            </a:r>
          </a:p>
          <a:p>
            <a:pPr marL="0" indent="0">
              <a:buNone/>
            </a:pPr>
            <a:r>
              <a:rPr lang="en-US" dirty="0"/>
              <a:t>echo </a:t>
            </a:r>
            <a:r>
              <a:rPr lang="en-US" dirty="0" err="1"/>
              <a:t>file_get_contents</a:t>
            </a:r>
            <a:r>
              <a:rPr lang="en-US" dirty="0"/>
              <a:t>("example.txt"); // Read entire file</a:t>
            </a:r>
          </a:p>
          <a:p>
            <a:pPr marL="0" indent="0">
              <a:buNone/>
            </a:pPr>
            <a:r>
              <a:rPr lang="en-US" dirty="0"/>
              <a:t>$handle = </a:t>
            </a:r>
            <a:r>
              <a:rPr lang="en-US" dirty="0" err="1"/>
              <a:t>fopen</a:t>
            </a:r>
            <a:r>
              <a:rPr lang="en-US" dirty="0"/>
              <a:t>("example.txt", "r");  // Read line by line</a:t>
            </a:r>
          </a:p>
          <a:p>
            <a:pPr marL="0" indent="0">
              <a:buNone/>
            </a:pPr>
            <a:r>
              <a:rPr lang="en-US" dirty="0"/>
              <a:t>while(!</a:t>
            </a:r>
            <a:r>
              <a:rPr lang="en-US" dirty="0" err="1"/>
              <a:t>feof</a:t>
            </a:r>
            <a:r>
              <a:rPr lang="en-US" dirty="0"/>
              <a:t>($handle)){</a:t>
            </a:r>
          </a:p>
          <a:p>
            <a:pPr marL="0" indent="0">
              <a:buNone/>
            </a:pPr>
            <a:r>
              <a:rPr lang="en-US" dirty="0"/>
              <a:t>    echo </a:t>
            </a:r>
            <a:r>
              <a:rPr lang="en-US" dirty="0" err="1"/>
              <a:t>fgets</a:t>
            </a:r>
            <a:r>
              <a:rPr lang="en-US" dirty="0"/>
              <a:t>($handle) . "&lt;</a:t>
            </a:r>
            <a:r>
              <a:rPr lang="en-US" dirty="0" err="1"/>
              <a:t>br</a:t>
            </a:r>
            <a:r>
              <a:rPr lang="en-US" dirty="0"/>
              <a:t>&gt;";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 err="1"/>
              <a:t>fclose</a:t>
            </a:r>
            <a:r>
              <a:rPr lang="en-US" dirty="0"/>
              <a:t>($handle);</a:t>
            </a:r>
          </a:p>
        </p:txBody>
      </p:sp>
    </p:spTree>
    <p:extLst>
      <p:ext uri="{BB962C8B-B14F-4D97-AF65-F5344CB8AC3E}">
        <p14:creationId xmlns:p14="http://schemas.microsoft.com/office/powerpoint/2010/main" val="27025728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2DF1860-03A4-6944-9ABC-C5A2867EB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4EBE6E-D30C-AC78-95F0-1C718D9E1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and Exception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D8665A-AB2A-D7CC-70FE-3B5964682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dirty="0"/>
              <a:t>PHP provides ways to </a:t>
            </a:r>
            <a:r>
              <a:rPr lang="en-US" sz="1800" b="1" dirty="0"/>
              <a:t>detect, handle, and manage errors</a:t>
            </a:r>
            <a:r>
              <a:rPr lang="en-US" sz="1800" dirty="0"/>
              <a:t> in your code.</a:t>
            </a:r>
          </a:p>
          <a:p>
            <a:pPr marL="0" indent="0">
              <a:buNone/>
            </a:pPr>
            <a:r>
              <a:rPr lang="en-US" sz="1800" b="1" dirty="0"/>
              <a:t>1. Error Handling</a:t>
            </a:r>
          </a:p>
          <a:p>
            <a:pPr marL="0" indent="0">
              <a:buNone/>
            </a:pPr>
            <a:r>
              <a:rPr lang="en-US" sz="1800" dirty="0"/>
              <a:t>PHP has </a:t>
            </a:r>
            <a:r>
              <a:rPr lang="en-US" sz="1800" b="1" dirty="0"/>
              <a:t>built-in error </a:t>
            </a:r>
            <a:r>
              <a:rPr lang="en-US" sz="1800" b="1" dirty="0" err="1"/>
              <a:t>types</a:t>
            </a:r>
            <a:r>
              <a:rPr lang="en-US" sz="1800" dirty="0" err="1"/>
              <a:t>:</a:t>
            </a:r>
            <a:r>
              <a:rPr lang="en-US" sz="1800" b="1" dirty="0" err="1"/>
              <a:t>Notice</a:t>
            </a:r>
            <a:r>
              <a:rPr lang="en-US" sz="1800" dirty="0"/>
              <a:t> → Minor issue, script </a:t>
            </a:r>
            <a:r>
              <a:rPr lang="en-US" sz="1800" dirty="0" err="1"/>
              <a:t>continues.</a:t>
            </a:r>
            <a:r>
              <a:rPr lang="en-US" sz="1800" b="1" dirty="0" err="1"/>
              <a:t>Warning</a:t>
            </a:r>
            <a:r>
              <a:rPr lang="en-US" sz="1800" dirty="0"/>
              <a:t> → Non-fatal, script </a:t>
            </a:r>
            <a:r>
              <a:rPr lang="en-US" sz="1800" dirty="0" err="1"/>
              <a:t>continues.</a:t>
            </a:r>
            <a:r>
              <a:rPr lang="en-US" sz="1800" b="1" dirty="0" err="1"/>
              <a:t>Fatal</a:t>
            </a:r>
            <a:r>
              <a:rPr lang="en-US" sz="1800" b="1" dirty="0"/>
              <a:t> Error</a:t>
            </a:r>
            <a:r>
              <a:rPr lang="en-US" sz="1800" dirty="0"/>
              <a:t> → Stops script execution.</a:t>
            </a:r>
          </a:p>
          <a:p>
            <a:pPr marL="0" indent="0">
              <a:buNone/>
            </a:pPr>
            <a:r>
              <a:rPr lang="en-US" sz="1800" b="1" dirty="0"/>
              <a:t>Example:</a:t>
            </a:r>
            <a:endParaRPr lang="en-US" sz="1800" dirty="0"/>
          </a:p>
          <a:p>
            <a:pPr marL="0" indent="0">
              <a:buNone/>
            </a:pPr>
            <a:r>
              <a:rPr lang="en-US" sz="1800" dirty="0"/>
              <a:t>echo $</a:t>
            </a:r>
            <a:r>
              <a:rPr lang="en-US" sz="1800" dirty="0" err="1"/>
              <a:t>undefined_variable</a:t>
            </a:r>
            <a:r>
              <a:rPr lang="en-US" sz="1800" dirty="0"/>
              <a:t>;</a:t>
            </a:r>
          </a:p>
          <a:p>
            <a:pPr marL="0" indent="0">
              <a:buNone/>
            </a:pPr>
            <a:r>
              <a:rPr lang="en-US" sz="1800" dirty="0"/>
              <a:t>function </a:t>
            </a:r>
            <a:r>
              <a:rPr lang="en-US" sz="1800" dirty="0" err="1"/>
              <a:t>customError</a:t>
            </a:r>
            <a:r>
              <a:rPr lang="en-US" sz="1800" dirty="0"/>
              <a:t>($</a:t>
            </a:r>
            <a:r>
              <a:rPr lang="en-US" sz="1800" dirty="0" err="1"/>
              <a:t>errno</a:t>
            </a:r>
            <a:r>
              <a:rPr lang="en-US" sz="1800" dirty="0"/>
              <a:t>, $</a:t>
            </a:r>
            <a:r>
              <a:rPr lang="en-US" sz="1800" dirty="0" err="1"/>
              <a:t>errstr</a:t>
            </a:r>
            <a:r>
              <a:rPr lang="en-US" sz="1800" dirty="0"/>
              <a:t>) {</a:t>
            </a:r>
          </a:p>
          <a:p>
            <a:pPr marL="0" indent="0">
              <a:buNone/>
            </a:pPr>
            <a:r>
              <a:rPr lang="en-US" sz="1800" dirty="0"/>
              <a:t>    echo "Error [$</a:t>
            </a:r>
            <a:r>
              <a:rPr lang="en-US" sz="1800" dirty="0" err="1"/>
              <a:t>errno</a:t>
            </a:r>
            <a:r>
              <a:rPr lang="en-US" sz="1800" dirty="0"/>
              <a:t>]: $</a:t>
            </a:r>
            <a:r>
              <a:rPr lang="en-US" sz="1800" dirty="0" err="1"/>
              <a:t>errstr</a:t>
            </a:r>
            <a:r>
              <a:rPr lang="en-US" sz="1800" dirty="0"/>
              <a:t>";</a:t>
            </a:r>
          </a:p>
          <a:p>
            <a:pPr marL="0" indent="0">
              <a:buNone/>
            </a:pPr>
            <a:r>
              <a:rPr lang="en-US" sz="1800" dirty="0"/>
              <a:t>}</a:t>
            </a:r>
          </a:p>
          <a:p>
            <a:pPr marL="0" indent="0">
              <a:buNone/>
            </a:pPr>
            <a:r>
              <a:rPr lang="en-US" sz="1800" dirty="0" err="1"/>
              <a:t>set_error_handler</a:t>
            </a:r>
            <a:r>
              <a:rPr lang="en-US" sz="1800" dirty="0"/>
              <a:t>("</a:t>
            </a:r>
            <a:r>
              <a:rPr lang="en-US" sz="1800" dirty="0" err="1"/>
              <a:t>customError</a:t>
            </a:r>
            <a:r>
              <a:rPr lang="en-US" sz="1800" dirty="0"/>
              <a:t>");</a:t>
            </a:r>
          </a:p>
          <a:p>
            <a:pPr marL="0" indent="0">
              <a:buNone/>
            </a:pPr>
            <a:r>
              <a:rPr lang="en-US" sz="1800" dirty="0"/>
              <a:t>echo 10/0; </a:t>
            </a:r>
          </a:p>
          <a:p>
            <a:pPr marL="0" indent="0"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03599602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383031-19EF-2304-A451-F8AA0950E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952C9-8475-C157-5144-9946ABA96A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 and Exception Handling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4C1FFF-DB0F-3964-1193-10E1A21499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US" sz="1800" b="1" dirty="0"/>
              <a:t>2. Exception Handling</a:t>
            </a:r>
          </a:p>
          <a:p>
            <a:pPr marL="0" indent="0">
              <a:buNone/>
            </a:pPr>
            <a:r>
              <a:rPr lang="en-US" sz="1800" dirty="0"/>
              <a:t>Use </a:t>
            </a:r>
            <a:r>
              <a:rPr lang="en-US" sz="1800" b="1" dirty="0"/>
              <a:t>try-catch blocks</a:t>
            </a:r>
            <a:r>
              <a:rPr lang="en-US" sz="1800" dirty="0"/>
              <a:t> to handle exceptions.</a:t>
            </a:r>
          </a:p>
          <a:p>
            <a:pPr marL="0" indent="0">
              <a:buNone/>
            </a:pPr>
            <a:r>
              <a:rPr lang="en-US" sz="1800" dirty="0"/>
              <a:t>Exceptions are objects, can carry </a:t>
            </a:r>
            <a:r>
              <a:rPr lang="en-US" sz="1800" b="1" dirty="0"/>
              <a:t>custom messages</a:t>
            </a:r>
            <a:r>
              <a:rPr lang="en-US" sz="1800" dirty="0"/>
              <a:t>.</a:t>
            </a:r>
          </a:p>
          <a:p>
            <a:pPr marL="0" indent="0">
              <a:buNone/>
            </a:pPr>
            <a:r>
              <a:rPr lang="en-US" sz="1800" b="1" dirty="0"/>
              <a:t>Example:</a:t>
            </a:r>
            <a:endParaRPr lang="en-US" sz="1800" dirty="0"/>
          </a:p>
          <a:p>
            <a:pPr marL="0" indent="0">
              <a:buNone/>
            </a:pPr>
            <a:r>
              <a:rPr lang="en-US" sz="1800" dirty="0"/>
              <a:t>try {</a:t>
            </a:r>
          </a:p>
          <a:p>
            <a:pPr marL="0" indent="0">
              <a:buNone/>
            </a:pPr>
            <a:r>
              <a:rPr lang="en-US" sz="1800" dirty="0"/>
              <a:t>    if(!</a:t>
            </a:r>
            <a:r>
              <a:rPr lang="en-US" sz="1800" dirty="0" err="1"/>
              <a:t>file_exists</a:t>
            </a:r>
            <a:r>
              <a:rPr lang="en-US" sz="1800" dirty="0"/>
              <a:t>("test.txt")){</a:t>
            </a:r>
          </a:p>
          <a:p>
            <a:pPr marL="0" indent="0">
              <a:buNone/>
            </a:pPr>
            <a:r>
              <a:rPr lang="en-US" sz="1800" dirty="0"/>
              <a:t>        throw new Exception("File not found!");</a:t>
            </a:r>
          </a:p>
          <a:p>
            <a:pPr marL="0" indent="0">
              <a:buNone/>
            </a:pPr>
            <a:r>
              <a:rPr lang="en-US" sz="1800" dirty="0"/>
              <a:t>    }}   catch (Exception $e) {</a:t>
            </a:r>
          </a:p>
          <a:p>
            <a:pPr marL="0" indent="0">
              <a:buNone/>
            </a:pPr>
            <a:r>
              <a:rPr lang="en-US" sz="1800" dirty="0"/>
              <a:t>    echo "Caught Exception: " . $e-&gt;</a:t>
            </a:r>
            <a:r>
              <a:rPr lang="en-US" sz="1800" dirty="0" err="1"/>
              <a:t>getMessage</a:t>
            </a:r>
            <a:r>
              <a:rPr lang="en-US" sz="1800" dirty="0"/>
              <a:t>();</a:t>
            </a:r>
          </a:p>
          <a:p>
            <a:pPr marL="0" indent="0">
              <a:buNone/>
            </a:pPr>
            <a:r>
              <a:rPr lang="en-US" sz="1800" dirty="0"/>
              <a:t>} finally {</a:t>
            </a:r>
          </a:p>
          <a:p>
            <a:pPr marL="0" indent="0">
              <a:buNone/>
            </a:pPr>
            <a:r>
              <a:rPr lang="en-US" sz="1800" dirty="0"/>
              <a:t>    echo " - Execution completed.";</a:t>
            </a:r>
          </a:p>
          <a:p>
            <a:pPr marL="0" indent="0">
              <a:buNone/>
            </a:pPr>
            <a:r>
              <a:rPr lang="en-US" sz="18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0844828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313E0C-2199-D5FA-97F2-6286281BB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E427B-C29A-46A4-22F3-4DAFAC2EED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Object-Oriented Programming (OOP) in PHP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FA3EC4-0078-23E3-C959-766898E990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b="1" dirty="0"/>
              <a:t>Definition:</a:t>
            </a:r>
            <a:br>
              <a:rPr lang="en-US" dirty="0"/>
            </a:br>
            <a:r>
              <a:rPr lang="en-US" dirty="0"/>
              <a:t>OOP is a programming paradigm that </a:t>
            </a:r>
            <a:r>
              <a:rPr lang="en-US" b="1" dirty="0"/>
              <a:t>organizes code using classes and objects</a:t>
            </a:r>
            <a:r>
              <a:rPr lang="en-US" dirty="0"/>
              <a:t>, making it more </a:t>
            </a:r>
            <a:r>
              <a:rPr lang="en-US" b="1" dirty="0"/>
              <a:t>modular, reusable, and maintainable</a:t>
            </a:r>
            <a:r>
              <a:rPr lang="en-US" dirty="0"/>
              <a:t>.</a:t>
            </a:r>
          </a:p>
          <a:p>
            <a:r>
              <a:rPr lang="en-US" b="1" dirty="0"/>
              <a:t>Key Concepts of OOP</a:t>
            </a:r>
          </a:p>
          <a:p>
            <a:r>
              <a:rPr lang="en-US" b="1" dirty="0"/>
              <a:t>Class</a:t>
            </a:r>
            <a:endParaRPr lang="en-US" dirty="0"/>
          </a:p>
          <a:p>
            <a:pPr lvl="1"/>
            <a:r>
              <a:rPr lang="en-US" dirty="0"/>
              <a:t>A blueprint or template for creating objects.</a:t>
            </a:r>
          </a:p>
          <a:p>
            <a:pPr lvl="1"/>
            <a:r>
              <a:rPr lang="en-US" dirty="0"/>
              <a:t>Defines </a:t>
            </a:r>
            <a:r>
              <a:rPr lang="en-US" b="1" dirty="0"/>
              <a:t>properties (variables)</a:t>
            </a:r>
            <a:r>
              <a:rPr lang="en-US" dirty="0"/>
              <a:t> and </a:t>
            </a:r>
            <a:r>
              <a:rPr lang="en-US" b="1" dirty="0"/>
              <a:t>methods (functions)</a:t>
            </a:r>
            <a:r>
              <a:rPr lang="en-US" dirty="0"/>
              <a:t>.</a:t>
            </a:r>
          </a:p>
          <a:p>
            <a:r>
              <a:rPr lang="en-US" b="1" dirty="0"/>
              <a:t>Object</a:t>
            </a:r>
            <a:endParaRPr lang="en-US" dirty="0"/>
          </a:p>
          <a:p>
            <a:pPr lvl="1"/>
            <a:r>
              <a:rPr lang="en-US" dirty="0"/>
              <a:t>An </a:t>
            </a:r>
            <a:r>
              <a:rPr lang="en-US" b="1" dirty="0"/>
              <a:t>instance of a class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Holds actual values for the class properties.</a:t>
            </a:r>
          </a:p>
          <a:p>
            <a:r>
              <a:rPr lang="en-US" b="1" dirty="0"/>
              <a:t>Properties &amp; Methods</a:t>
            </a:r>
            <a:endParaRPr lang="en-US" dirty="0"/>
          </a:p>
          <a:p>
            <a:pPr lvl="1"/>
            <a:r>
              <a:rPr lang="en-US" b="1" dirty="0"/>
              <a:t>Property:</a:t>
            </a:r>
            <a:r>
              <a:rPr lang="en-US" dirty="0"/>
              <a:t> Variable defined in a class.</a:t>
            </a:r>
          </a:p>
          <a:p>
            <a:pPr lvl="1"/>
            <a:r>
              <a:rPr lang="en-US" b="1" dirty="0"/>
              <a:t>Method:</a:t>
            </a:r>
            <a:r>
              <a:rPr lang="en-US" dirty="0"/>
              <a:t> Function defined inside a class.</a:t>
            </a:r>
          </a:p>
          <a:p>
            <a:r>
              <a:rPr lang="en-US" b="1" dirty="0"/>
              <a:t>Constructor</a:t>
            </a:r>
            <a:endParaRPr lang="en-US" dirty="0"/>
          </a:p>
          <a:p>
            <a:pPr lvl="1"/>
            <a:r>
              <a:rPr lang="en-US" dirty="0"/>
              <a:t>Special method    </a:t>
            </a:r>
            <a:r>
              <a:rPr lang="en-US" b="1" dirty="0"/>
              <a:t>__construct() </a:t>
            </a:r>
            <a:r>
              <a:rPr lang="en-US" dirty="0"/>
              <a:t>used to </a:t>
            </a:r>
            <a:r>
              <a:rPr lang="en-US" b="1" dirty="0"/>
              <a:t>initialize objects</a:t>
            </a:r>
            <a:r>
              <a:rPr lang="en-US" dirty="0"/>
              <a:t> automatically when created.</a:t>
            </a:r>
          </a:p>
        </p:txBody>
      </p:sp>
    </p:spTree>
    <p:extLst>
      <p:ext uri="{BB962C8B-B14F-4D97-AF65-F5344CB8AC3E}">
        <p14:creationId xmlns:p14="http://schemas.microsoft.com/office/powerpoint/2010/main" val="31637500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3CCCFD-73D2-567E-3944-F33583A6D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A43BD3-2B4C-35E4-B7A2-FCC336A204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PHP and Databases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D364C0-8DED-887C-B46E-85EF9347A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Definition:</a:t>
            </a:r>
            <a:br>
              <a:rPr lang="en-US" dirty="0"/>
            </a:br>
            <a:r>
              <a:rPr lang="en-US" dirty="0"/>
              <a:t>PHP can interact with databases to </a:t>
            </a:r>
            <a:r>
              <a:rPr lang="en-US" b="1" dirty="0"/>
              <a:t>store, retrieve, update, and delete data</a:t>
            </a:r>
            <a:r>
              <a:rPr lang="en-US" dirty="0"/>
              <a:t>, enabling dynamic web applications.</a:t>
            </a:r>
          </a:p>
          <a:p>
            <a:pPr marL="0" indent="0">
              <a:buNone/>
            </a:pPr>
            <a:r>
              <a:rPr lang="en-US" b="1" dirty="0"/>
              <a:t>Common Databases with PHP</a:t>
            </a:r>
          </a:p>
          <a:p>
            <a:r>
              <a:rPr lang="en-US" b="1" dirty="0"/>
              <a:t>MySQL / MariaDB</a:t>
            </a:r>
            <a:r>
              <a:rPr lang="en-US" dirty="0"/>
              <a:t> – Most popular relational database.</a:t>
            </a:r>
          </a:p>
          <a:p>
            <a:r>
              <a:rPr lang="en-US" b="1" dirty="0"/>
              <a:t>PostgreSQL</a:t>
            </a:r>
            <a:r>
              <a:rPr lang="en-US" dirty="0"/>
              <a:t> – Advanced SQL features.</a:t>
            </a:r>
          </a:p>
          <a:p>
            <a:r>
              <a:rPr lang="en-US" b="1" dirty="0"/>
              <a:t>SQLite</a:t>
            </a:r>
            <a:r>
              <a:rPr lang="en-US" dirty="0"/>
              <a:t> – Lightweight file-based database.</a:t>
            </a:r>
          </a:p>
          <a:p>
            <a:r>
              <a:rPr lang="en-US" b="1" dirty="0"/>
              <a:t>NoSQL databases</a:t>
            </a:r>
            <a:r>
              <a:rPr lang="en-US" dirty="0"/>
              <a:t> (e.g., MongoDB) – For flexible, schema-less data.</a:t>
            </a:r>
          </a:p>
        </p:txBody>
      </p:sp>
    </p:spTree>
    <p:extLst>
      <p:ext uri="{BB962C8B-B14F-4D97-AF65-F5344CB8AC3E}">
        <p14:creationId xmlns:p14="http://schemas.microsoft.com/office/powerpoint/2010/main" val="342360415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717AD-1A98-5FA6-D3BA-7E5FE7F0AE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Database?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5E95FE-D09B-6625-520E-5AB2BD155E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lang="en-US" dirty="0"/>
              <a:t>A </a:t>
            </a:r>
            <a:r>
              <a:rPr lang="en-US" b="1" dirty="0"/>
              <a:t>database</a:t>
            </a:r>
            <a:r>
              <a:rPr lang="en-US" dirty="0"/>
              <a:t> is an organized collection of data that is stored electronically and can be easily </a:t>
            </a:r>
            <a:r>
              <a:rPr lang="en-US" b="1" dirty="0"/>
              <a:t>accessed, managed, updated, and retrieved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7868107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C0089-B80B-764C-A30E-40418EED0A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Databases Based on Data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A3B54-1284-84CE-C2B3-06EFE1D80A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1. Structured Database</a:t>
            </a:r>
          </a:p>
          <a:p>
            <a:r>
              <a:rPr lang="en-US" dirty="0"/>
              <a:t>Data is stored in a </a:t>
            </a:r>
            <a:r>
              <a:rPr lang="en-US" b="1" dirty="0"/>
              <a:t>fixed format</a:t>
            </a:r>
            <a:r>
              <a:rPr lang="en-US" dirty="0"/>
              <a:t> (rows &amp; columns)</a:t>
            </a:r>
          </a:p>
          <a:p>
            <a:r>
              <a:rPr lang="en-US" dirty="0"/>
              <a:t>Schema is predefined</a:t>
            </a:r>
          </a:p>
          <a:p>
            <a:r>
              <a:rPr lang="en-US" dirty="0"/>
              <a:t>Easy to search and manage</a:t>
            </a:r>
          </a:p>
          <a:p>
            <a:pPr marL="0" indent="0">
              <a:buNone/>
            </a:pPr>
            <a:r>
              <a:rPr lang="en-US" dirty="0"/>
              <a:t>Example: MySQL, PostgreSQL, Oracle etc.</a:t>
            </a:r>
          </a:p>
          <a:p>
            <a:pPr marL="0" indent="0">
              <a:buNone/>
            </a:pPr>
            <a:r>
              <a:rPr lang="en-US" b="1" dirty="0"/>
              <a:t>2. Semi-Structured Database</a:t>
            </a:r>
          </a:p>
          <a:p>
            <a:r>
              <a:rPr lang="en-US" dirty="0"/>
              <a:t>Data has </a:t>
            </a:r>
            <a:r>
              <a:rPr lang="en-US" b="1" dirty="0"/>
              <a:t>some structure</a:t>
            </a:r>
            <a:r>
              <a:rPr lang="en-US" dirty="0"/>
              <a:t>, but not rigid</a:t>
            </a:r>
          </a:p>
          <a:p>
            <a:r>
              <a:rPr lang="en-US" dirty="0"/>
              <a:t>Uses tags or key-value pairs</a:t>
            </a:r>
          </a:p>
          <a:p>
            <a:r>
              <a:rPr lang="en-US" dirty="0"/>
              <a:t>Schema can change easily</a:t>
            </a:r>
          </a:p>
          <a:p>
            <a:pPr marL="0" indent="0">
              <a:buNone/>
            </a:pPr>
            <a:r>
              <a:rPr lang="en-US" dirty="0"/>
              <a:t>Example: JSON, XML etc.</a:t>
            </a:r>
          </a:p>
        </p:txBody>
      </p:sp>
    </p:spTree>
    <p:extLst>
      <p:ext uri="{BB962C8B-B14F-4D97-AF65-F5344CB8AC3E}">
        <p14:creationId xmlns:p14="http://schemas.microsoft.com/office/powerpoint/2010/main" val="9590271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003E7-1B36-7795-AE06-6D353BD65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3E003-092F-779C-04FF-8E996A9D0C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Databases Based on Data Structure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62DBA-C181-C148-B526-CDD36F8D6A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3. Unstructured Database</a:t>
            </a:r>
          </a:p>
          <a:p>
            <a:r>
              <a:rPr lang="en-US" dirty="0"/>
              <a:t>Data has </a:t>
            </a:r>
            <a:r>
              <a:rPr lang="en-US" b="1" dirty="0"/>
              <a:t>no fixed structure</a:t>
            </a:r>
            <a:endParaRPr lang="en-US" dirty="0"/>
          </a:p>
          <a:p>
            <a:r>
              <a:rPr lang="en-US" dirty="0"/>
              <a:t>Stores raw data</a:t>
            </a:r>
          </a:p>
          <a:p>
            <a:pPr marL="0" indent="0">
              <a:buNone/>
            </a:pPr>
            <a:r>
              <a:rPr lang="en-US" dirty="0"/>
              <a:t>Text, image, video </a:t>
            </a:r>
            <a:r>
              <a:rPr lang="en-US" dirty="0" err="1"/>
              <a:t>etc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9399303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6F064-6009-A467-B983-C8A9A8A7D7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Structured Database ( MySQL)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BB58DE-CA66-F28D-94B3-F08EC4E9B7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 well-defined format </a:t>
            </a:r>
          </a:p>
          <a:p>
            <a:pPr>
              <a:buFont typeface="Wingdings" panose="05000000000000000000" pitchFamily="2" charset="2"/>
              <a:buChar char="q"/>
            </a:pPr>
            <a:r>
              <a:rPr lang="en-US" dirty="0"/>
              <a:t> tables with rows and columns</a:t>
            </a:r>
          </a:p>
          <a:p>
            <a:r>
              <a:rPr lang="en-US" b="1" dirty="0"/>
              <a:t>MySQL</a:t>
            </a:r>
            <a:r>
              <a:rPr lang="en-US" dirty="0"/>
              <a:t> is an </a:t>
            </a:r>
            <a:r>
              <a:rPr lang="en-US" b="1" dirty="0"/>
              <a:t>RDBMS (Relational Database Management System)</a:t>
            </a:r>
            <a:r>
              <a:rPr lang="en-US" dirty="0"/>
              <a:t>.</a:t>
            </a:r>
          </a:p>
          <a:p>
            <a:r>
              <a:rPr lang="en-US" dirty="0"/>
              <a:t>It uses </a:t>
            </a:r>
            <a:r>
              <a:rPr lang="en-US" b="1" dirty="0"/>
              <a:t>SQL (Structured Query Language)</a:t>
            </a:r>
            <a:r>
              <a:rPr lang="en-US" dirty="0"/>
              <a:t>.</a:t>
            </a:r>
          </a:p>
          <a:p>
            <a:r>
              <a:rPr lang="en-US" dirty="0"/>
              <a:t>Data is stored in </a:t>
            </a:r>
            <a:r>
              <a:rPr lang="en-US" b="1" dirty="0"/>
              <a:t>tables with a fixed schema</a:t>
            </a:r>
            <a:r>
              <a:rPr lang="en-US" dirty="0"/>
              <a:t>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6006242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016B3-57C1-B4C8-41F2-95AEA44400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073B36-99F8-4EDF-3730-5C8F9B1823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Structured Database ( MySQL)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60A16-9F83-40C1-ED23-B2EAFE4E67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What is relation?</a:t>
            </a:r>
          </a:p>
          <a:p>
            <a:pPr marL="0" indent="0">
              <a:buNone/>
            </a:pPr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is simply a </a:t>
            </a:r>
            <a:r>
              <a:rPr lang="en-US" b="1" dirty="0"/>
              <a:t>table</a:t>
            </a:r>
            <a:r>
              <a:rPr lang="en-US" dirty="0"/>
              <a:t> that stores data.</a:t>
            </a:r>
          </a:p>
          <a:p>
            <a:pPr marL="0" indent="0">
              <a:buNone/>
            </a:pPr>
            <a:r>
              <a:rPr lang="en-US" dirty="0"/>
              <a:t>What is relationship?</a:t>
            </a:r>
          </a:p>
          <a:p>
            <a:pPr marL="0" indent="0">
              <a:buNone/>
            </a:pPr>
            <a:r>
              <a:rPr lang="en-US" dirty="0"/>
              <a:t>Connection between tables.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490121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4F25D-9541-CE97-5810-5AE8C0453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66E99-A83C-86DD-FCBB-3B81601F32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Structured Database ( MySQL)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5BB1E1-8C4D-25A0-7CBA-A66D81F52B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Key Features of Relational Databases</a:t>
            </a:r>
          </a:p>
          <a:p>
            <a:r>
              <a:rPr lang="en-US" dirty="0"/>
              <a:t>Table-based structure</a:t>
            </a:r>
          </a:p>
          <a:p>
            <a:r>
              <a:rPr lang="en-US" dirty="0"/>
              <a:t>Fixed schema</a:t>
            </a:r>
          </a:p>
          <a:p>
            <a:r>
              <a:rPr lang="en-US" dirty="0"/>
              <a:t>Data integrity</a:t>
            </a:r>
          </a:p>
          <a:p>
            <a:r>
              <a:rPr lang="en-US" dirty="0"/>
              <a:t>ACID properties</a:t>
            </a:r>
          </a:p>
          <a:p>
            <a:r>
              <a:rPr lang="en-US" dirty="0"/>
              <a:t>Supports joins</a:t>
            </a:r>
          </a:p>
        </p:txBody>
      </p:sp>
    </p:spTree>
    <p:extLst>
      <p:ext uri="{BB962C8B-B14F-4D97-AF65-F5344CB8AC3E}">
        <p14:creationId xmlns:p14="http://schemas.microsoft.com/office/powerpoint/2010/main" val="388493614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39B25-F3BE-9457-DDB7-4702E8F90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ER-Diagram (Entity-Relationship Diagram)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9ABCFE-054C-72E2-FC25-8890D47FFA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marL="0" indent="0">
              <a:buNone/>
            </a:pPr>
            <a:r>
              <a:rPr lang="en-US" dirty="0"/>
              <a:t>An </a:t>
            </a:r>
            <a:r>
              <a:rPr lang="en-US" b="1" dirty="0"/>
              <a:t>ER Diagram</a:t>
            </a:r>
            <a:r>
              <a:rPr lang="en-US" dirty="0"/>
              <a:t> is a </a:t>
            </a:r>
            <a:r>
              <a:rPr lang="en-US" b="1" dirty="0"/>
              <a:t>visual representation of a database</a:t>
            </a:r>
            <a:r>
              <a:rPr lang="en-US" dirty="0"/>
              <a:t> that shows </a:t>
            </a:r>
            <a:r>
              <a:rPr lang="en-US" b="1" dirty="0"/>
              <a:t>entities</a:t>
            </a:r>
            <a:r>
              <a:rPr lang="en-US" dirty="0"/>
              <a:t>, their </a:t>
            </a:r>
            <a:r>
              <a:rPr lang="en-US" b="1" dirty="0"/>
              <a:t>attributes</a:t>
            </a:r>
            <a:r>
              <a:rPr lang="en-US" dirty="0"/>
              <a:t>, and the </a:t>
            </a:r>
            <a:r>
              <a:rPr lang="en-US" b="1" dirty="0"/>
              <a:t>relationships</a:t>
            </a:r>
            <a:r>
              <a:rPr lang="en-US" dirty="0"/>
              <a:t> between them.</a:t>
            </a:r>
          </a:p>
        </p:txBody>
      </p:sp>
    </p:spTree>
    <p:extLst>
      <p:ext uri="{BB962C8B-B14F-4D97-AF65-F5344CB8AC3E}">
        <p14:creationId xmlns:p14="http://schemas.microsoft.com/office/powerpoint/2010/main" val="32295802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9DC7E2-A00E-04FF-E0BC-0429B36975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17F04-0991-A531-07B7-7E3767075F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ER-Diagram (Continue)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953C88-1472-CB1C-0A23-AE88B0A3BB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 fontScale="70000" lnSpcReduction="20000"/>
          </a:bodyPr>
          <a:lstStyle/>
          <a:p>
            <a:pPr marL="0" indent="0">
              <a:buNone/>
            </a:pPr>
            <a:r>
              <a:rPr lang="en-US" b="1" dirty="0"/>
              <a:t>Main Components of an ER Diagram</a:t>
            </a:r>
          </a:p>
          <a:p>
            <a:pPr marL="0" indent="0">
              <a:buNone/>
            </a:pPr>
            <a:r>
              <a:rPr lang="en-US" b="1" dirty="0"/>
              <a:t>1. Entity</a:t>
            </a:r>
          </a:p>
          <a:p>
            <a:pPr marL="0" indent="0">
              <a:buNone/>
            </a:pPr>
            <a:r>
              <a:rPr lang="en-US" dirty="0"/>
              <a:t>An </a:t>
            </a:r>
            <a:r>
              <a:rPr lang="en-US" b="1" dirty="0"/>
              <a:t>entity</a:t>
            </a:r>
            <a:r>
              <a:rPr lang="en-US" dirty="0"/>
              <a:t> is a real-world </a:t>
            </a:r>
            <a:r>
              <a:rPr lang="en-US" dirty="0" err="1"/>
              <a:t>object.Represented</a:t>
            </a:r>
            <a:r>
              <a:rPr lang="en-US" dirty="0"/>
              <a:t> by a </a:t>
            </a:r>
            <a:r>
              <a:rPr lang="en-US" b="1" dirty="0"/>
              <a:t>rectangle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b="1" dirty="0"/>
              <a:t>Examples: </a:t>
            </a:r>
            <a:r>
              <a:rPr lang="en-US" dirty="0"/>
              <a:t>Student, Teacher, Course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r>
              <a:rPr lang="en-US" b="1" dirty="0"/>
              <a:t>2. Attribute</a:t>
            </a:r>
          </a:p>
          <a:p>
            <a:pPr marL="0" indent="0">
              <a:buNone/>
            </a:pPr>
            <a:r>
              <a:rPr lang="en-US" dirty="0"/>
              <a:t>An </a:t>
            </a:r>
            <a:r>
              <a:rPr lang="en-US" b="1" dirty="0"/>
              <a:t>attribute</a:t>
            </a:r>
            <a:r>
              <a:rPr lang="en-US" dirty="0"/>
              <a:t> describes an </a:t>
            </a:r>
            <a:r>
              <a:rPr lang="en-US" dirty="0" err="1"/>
              <a:t>entity.Represented</a:t>
            </a:r>
            <a:r>
              <a:rPr lang="en-US" dirty="0"/>
              <a:t> by an </a:t>
            </a:r>
            <a:r>
              <a:rPr lang="en-US" b="1" dirty="0"/>
              <a:t>oval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b="1" dirty="0"/>
              <a:t>Types of Attributes:</a:t>
            </a:r>
            <a:endParaRPr lang="en-US" dirty="0"/>
          </a:p>
          <a:p>
            <a:pPr marL="0" indent="0">
              <a:buNone/>
            </a:pPr>
            <a:r>
              <a:rPr lang="en-US" b="1" dirty="0"/>
              <a:t>Simple:</a:t>
            </a:r>
            <a:r>
              <a:rPr lang="en-US" dirty="0"/>
              <a:t> name, age</a:t>
            </a:r>
          </a:p>
          <a:p>
            <a:pPr marL="0" indent="0">
              <a:buNone/>
            </a:pPr>
            <a:r>
              <a:rPr lang="en-US" b="1" dirty="0"/>
              <a:t>Composite:</a:t>
            </a:r>
            <a:r>
              <a:rPr lang="en-US" dirty="0"/>
              <a:t> </a:t>
            </a:r>
            <a:r>
              <a:rPr lang="en-US" dirty="0" err="1"/>
              <a:t>full_name</a:t>
            </a:r>
            <a:r>
              <a:rPr lang="en-US" dirty="0"/>
              <a:t> (first + last)</a:t>
            </a:r>
          </a:p>
          <a:p>
            <a:pPr marL="0" indent="0">
              <a:buNone/>
            </a:pPr>
            <a:r>
              <a:rPr lang="en-US" b="1" dirty="0"/>
              <a:t>Primary key:</a:t>
            </a:r>
            <a:r>
              <a:rPr lang="en-US" dirty="0"/>
              <a:t> </a:t>
            </a:r>
            <a:r>
              <a:rPr lang="en-US" u="sng" dirty="0" err="1"/>
              <a:t>student_id</a:t>
            </a:r>
            <a:r>
              <a:rPr lang="en-US" u="sng" dirty="0"/>
              <a:t> </a:t>
            </a:r>
            <a:r>
              <a:rPr lang="en-US" dirty="0"/>
              <a:t>(underlined)</a:t>
            </a:r>
          </a:p>
          <a:p>
            <a:pPr marL="0" indent="0">
              <a:buNone/>
            </a:pPr>
            <a:r>
              <a:rPr lang="en-US" b="1" dirty="0"/>
              <a:t>Multivalued:</a:t>
            </a:r>
            <a:r>
              <a:rPr lang="en-US" dirty="0"/>
              <a:t> phone numbers</a:t>
            </a:r>
          </a:p>
          <a:p>
            <a:pPr marL="0" indent="0">
              <a:buNone/>
            </a:pPr>
            <a:r>
              <a:rPr lang="en-US" b="1" dirty="0"/>
              <a:t>Derived:</a:t>
            </a:r>
            <a:r>
              <a:rPr lang="en-US" dirty="0"/>
              <a:t> age (from </a:t>
            </a:r>
            <a:r>
              <a:rPr lang="en-US" dirty="0" err="1"/>
              <a:t>date_of_birth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04574900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36F680-FCFB-1272-EAC5-188A3F11F9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5A3977-8304-F4D1-4797-C52BA8DE74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ER-Diagram (Continue)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738478-09DC-0039-258D-2EC6460732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b="1" dirty="0"/>
              <a:t>3. Relationship</a:t>
            </a:r>
          </a:p>
          <a:p>
            <a:pPr marL="0" indent="0">
              <a:buNone/>
            </a:pPr>
            <a:r>
              <a:rPr lang="en-US" dirty="0"/>
              <a:t>Shows how entities are </a:t>
            </a:r>
            <a:r>
              <a:rPr lang="en-US" dirty="0" err="1"/>
              <a:t>connected.Represented</a:t>
            </a:r>
            <a:r>
              <a:rPr lang="en-US" dirty="0"/>
              <a:t> by a </a:t>
            </a:r>
            <a:r>
              <a:rPr lang="en-US" b="1" dirty="0"/>
              <a:t>diamond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b="1" dirty="0"/>
              <a:t>Examples: </a:t>
            </a:r>
            <a:r>
              <a:rPr lang="en-US" dirty="0"/>
              <a:t>Student </a:t>
            </a:r>
            <a:r>
              <a:rPr lang="en-US" b="1" dirty="0"/>
              <a:t>enrolls in</a:t>
            </a:r>
            <a:r>
              <a:rPr lang="en-US" dirty="0"/>
              <a:t> Course</a:t>
            </a:r>
          </a:p>
          <a:p>
            <a:pPr marL="0" indent="0">
              <a:buNone/>
            </a:pPr>
            <a:r>
              <a:rPr lang="en-US" altLang="en-US" b="1" dirty="0">
                <a:latin typeface="Arial" panose="020B0604020202020204" pitchFamily="34" charset="0"/>
              </a:rPr>
              <a:t>Types of Relationships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C2A510E-1A3C-B2DB-5A6C-713AB6CC72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5989400"/>
              </p:ext>
            </p:extLst>
          </p:nvPr>
        </p:nvGraphicFramePr>
        <p:xfrm>
          <a:off x="838200" y="4043748"/>
          <a:ext cx="10515600" cy="2268152"/>
        </p:xfrm>
        <a:graphic>
          <a:graphicData uri="http://schemas.openxmlformats.org/drawingml/2006/table">
            <a:tbl>
              <a:tblPr/>
              <a:tblGrid>
                <a:gridCol w="5257800">
                  <a:extLst>
                    <a:ext uri="{9D8B030D-6E8A-4147-A177-3AD203B41FA5}">
                      <a16:colId xmlns:a16="http://schemas.microsoft.com/office/drawing/2014/main" val="1835221491"/>
                    </a:ext>
                  </a:extLst>
                </a:gridCol>
                <a:gridCol w="5257800">
                  <a:extLst>
                    <a:ext uri="{9D8B030D-6E8A-4147-A177-3AD203B41FA5}">
                      <a16:colId xmlns:a16="http://schemas.microsoft.com/office/drawing/2014/main" val="145667496"/>
                    </a:ext>
                  </a:extLst>
                </a:gridCol>
              </a:tblGrid>
              <a:tr h="5670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Type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Meaning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3303002"/>
                  </a:ext>
                </a:extLst>
              </a:tr>
              <a:tr h="5670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One-to-One (1:1)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entity relates to one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94068270"/>
                  </a:ext>
                </a:extLst>
              </a:tr>
              <a:tr h="5670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One-to-Many (1:N)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relates to many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3636382"/>
                  </a:ext>
                </a:extLst>
              </a:tr>
              <a:tr h="56703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Many-to-Many (M:N)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Many relate to many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01901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2472429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655F0-E163-94CE-AB4C-9E9D7E66D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1A943A-F49E-70AC-9485-18BC60645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ER-Diagram (Continue)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2DE54F-CE98-BAA5-E18D-B68BE505E6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t">
            <a:normAutofit/>
          </a:bodyPr>
          <a:lstStyle/>
          <a:p>
            <a:pPr marL="0" indent="0">
              <a:buNone/>
            </a:pPr>
            <a:r>
              <a:rPr lang="en-US" b="1" dirty="0"/>
              <a:t>Purpose of ER Diagram</a:t>
            </a:r>
          </a:p>
          <a:p>
            <a:r>
              <a:rPr lang="en-US" dirty="0"/>
              <a:t>Helps design database structure</a:t>
            </a:r>
          </a:p>
          <a:p>
            <a:r>
              <a:rPr lang="en-US" dirty="0"/>
              <a:t>Reduces errors before implementation</a:t>
            </a:r>
          </a:p>
          <a:p>
            <a:r>
              <a:rPr lang="en-US" dirty="0"/>
              <a:t>Makes database easy to understand</a:t>
            </a:r>
          </a:p>
          <a:p>
            <a:r>
              <a:rPr lang="en-US" dirty="0"/>
              <a:t>Used before creating tables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837559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9EEB052-0913-F62D-AC6D-3515747C5B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846292-5109-FFA0-53D8-2CA9C670C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to MySQL using </a:t>
            </a:r>
            <a:r>
              <a:rPr lang="en-US" dirty="0" err="1"/>
              <a:t>MySQLi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9C2654-72BF-B476-9CB6-BC4DD6996E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Using </a:t>
            </a:r>
            <a:r>
              <a:rPr lang="en-US" b="1" dirty="0" err="1"/>
              <a:t>MySQLi</a:t>
            </a:r>
            <a:endParaRPr lang="en-US" b="1" dirty="0"/>
          </a:p>
          <a:p>
            <a:pPr marL="0" indent="0">
              <a:buNone/>
            </a:pPr>
            <a:r>
              <a:rPr lang="en-US" dirty="0"/>
              <a:t>Supports </a:t>
            </a:r>
            <a:r>
              <a:rPr lang="en-US" b="1" dirty="0"/>
              <a:t>procedural</a:t>
            </a:r>
            <a:r>
              <a:rPr lang="en-US" dirty="0"/>
              <a:t> and </a:t>
            </a:r>
            <a:r>
              <a:rPr lang="en-US" b="1" dirty="0"/>
              <a:t>object-oriented</a:t>
            </a:r>
            <a:r>
              <a:rPr lang="en-US" dirty="0"/>
              <a:t> styles.</a:t>
            </a:r>
          </a:p>
          <a:p>
            <a:pPr marL="0" indent="0">
              <a:buNone/>
            </a:pPr>
            <a:r>
              <a:rPr lang="en-US" dirty="0"/>
              <a:t>Example (Procedural):</a:t>
            </a:r>
          </a:p>
          <a:p>
            <a:pPr marL="0" indent="0">
              <a:buNone/>
            </a:pPr>
            <a:r>
              <a:rPr lang="en-US" dirty="0"/>
              <a:t>$conn = </a:t>
            </a:r>
            <a:r>
              <a:rPr lang="en-US" dirty="0" err="1"/>
              <a:t>mysqli_connect</a:t>
            </a:r>
            <a:r>
              <a:rPr lang="en-US" dirty="0"/>
              <a:t>("localhost", "username", "password", "database");</a:t>
            </a:r>
          </a:p>
          <a:p>
            <a:pPr marL="0" indent="0">
              <a:buNone/>
            </a:pPr>
            <a:r>
              <a:rPr lang="en-US" dirty="0"/>
              <a:t>if (!$conn) </a:t>
            </a:r>
          </a:p>
          <a:p>
            <a:pPr marL="0" indent="0">
              <a:buNone/>
            </a:pPr>
            <a:r>
              <a:rPr lang="en-US" dirty="0"/>
              <a:t>{</a:t>
            </a:r>
          </a:p>
          <a:p>
            <a:pPr marL="0" indent="0">
              <a:buNone/>
            </a:pPr>
            <a:r>
              <a:rPr lang="en-US" dirty="0"/>
              <a:t>    die("Connection failed: " . </a:t>
            </a:r>
            <a:r>
              <a:rPr lang="en-US" dirty="0" err="1"/>
              <a:t>mysqli_connect_error</a:t>
            </a:r>
            <a:r>
              <a:rPr lang="en-US" dirty="0"/>
              <a:t>());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echo "Connected successfully";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051241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619AE3-25A7-A39B-7FB0-C9AC835B61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E2059F-BB42-2079-DA5B-63AB7C175E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Connecting to MySQL using </a:t>
            </a:r>
            <a:r>
              <a:rPr lang="en-US" dirty="0" err="1"/>
              <a:t>MySQLi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9312DD-FC39-E347-4608-067F8912B9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Example (Object-Oriented):</a:t>
            </a:r>
          </a:p>
          <a:p>
            <a:pPr marL="0" indent="0">
              <a:buNone/>
            </a:pPr>
            <a:r>
              <a:rPr lang="en-US" dirty="0"/>
              <a:t>$conn = new </a:t>
            </a:r>
            <a:r>
              <a:rPr lang="en-US" dirty="0" err="1"/>
              <a:t>mysqli</a:t>
            </a:r>
            <a:r>
              <a:rPr lang="en-US" dirty="0"/>
              <a:t>("localhost", "username", "password", "database");</a:t>
            </a:r>
          </a:p>
          <a:p>
            <a:pPr marL="0" indent="0">
              <a:buNone/>
            </a:pPr>
            <a:r>
              <a:rPr lang="en-US" dirty="0"/>
              <a:t>if ($conn-&gt;</a:t>
            </a:r>
            <a:r>
              <a:rPr lang="en-US" dirty="0" err="1"/>
              <a:t>connect_error</a:t>
            </a:r>
            <a:r>
              <a:rPr lang="en-US" dirty="0"/>
              <a:t>) {</a:t>
            </a:r>
          </a:p>
          <a:p>
            <a:pPr marL="0" indent="0">
              <a:buNone/>
            </a:pPr>
            <a:r>
              <a:rPr lang="en-US" dirty="0"/>
              <a:t>    die("Connection failed: " . $conn-&gt;</a:t>
            </a:r>
            <a:r>
              <a:rPr lang="en-US" dirty="0" err="1"/>
              <a:t>connect_error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  <a:p>
            <a:pPr marL="0" indent="0">
              <a:buNone/>
            </a:pPr>
            <a:r>
              <a:rPr lang="en-US" dirty="0"/>
              <a:t>echo "Connected successfully";</a:t>
            </a:r>
          </a:p>
        </p:txBody>
      </p:sp>
    </p:spTree>
    <p:extLst>
      <p:ext uri="{BB962C8B-B14F-4D97-AF65-F5344CB8AC3E}">
        <p14:creationId xmlns:p14="http://schemas.microsoft.com/office/powerpoint/2010/main" val="117768896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CB95658-AF88-E592-4664-064654A63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633A3E-B062-872B-FBE6-BBACED42EE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CRUD Operations (Create, Read, Update, Delete)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A9B28A-A5C7-F5D7-C067-B1075F5B84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CRUD</a:t>
            </a:r>
            <a:r>
              <a:rPr lang="en-US" dirty="0"/>
              <a:t> refers to the </a:t>
            </a:r>
            <a:r>
              <a:rPr lang="en-US" b="1" dirty="0"/>
              <a:t>basic operations</a:t>
            </a:r>
            <a:r>
              <a:rPr lang="en-US" dirty="0"/>
              <a:t> you can perform on a database:</a:t>
            </a:r>
          </a:p>
          <a:p>
            <a:r>
              <a:rPr lang="en-US" b="1" dirty="0"/>
              <a:t>C</a:t>
            </a:r>
            <a:r>
              <a:rPr lang="en-US" dirty="0"/>
              <a:t> – Create</a:t>
            </a:r>
          </a:p>
          <a:p>
            <a:r>
              <a:rPr lang="en-US" b="1" dirty="0"/>
              <a:t>R</a:t>
            </a:r>
            <a:r>
              <a:rPr lang="en-US" dirty="0"/>
              <a:t> – Read</a:t>
            </a:r>
          </a:p>
          <a:p>
            <a:r>
              <a:rPr lang="en-US" b="1" dirty="0"/>
              <a:t>U</a:t>
            </a:r>
            <a:r>
              <a:rPr lang="en-US" dirty="0"/>
              <a:t> – Update</a:t>
            </a:r>
          </a:p>
          <a:p>
            <a:r>
              <a:rPr lang="en-US" b="1" dirty="0"/>
              <a:t>D</a:t>
            </a:r>
            <a:r>
              <a:rPr lang="en-US" dirty="0"/>
              <a:t> – Delete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52215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B025490-E275-D7D7-E92A-CC82A21DF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BF96D-FB6B-F93E-EDFA-C93D4D076C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CRUD Operations (Create, Read, Update, Delete)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6EA858-6698-10F4-63D4-65F7F0352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1. Create (Insert Data)</a:t>
            </a:r>
          </a:p>
          <a:p>
            <a:pPr marL="0" indent="0">
              <a:buNone/>
            </a:pPr>
            <a:r>
              <a:rPr lang="en-US" dirty="0"/>
              <a:t>$</a:t>
            </a:r>
            <a:r>
              <a:rPr lang="en-US" dirty="0" err="1"/>
              <a:t>sql</a:t>
            </a:r>
            <a:r>
              <a:rPr lang="en-US" dirty="0"/>
              <a:t> = "INSERT INTO users (name, email) VALUES ('Mahadi', 'mahadi@example.com')";</a:t>
            </a:r>
          </a:p>
          <a:p>
            <a:pPr marL="0" indent="0">
              <a:buNone/>
            </a:pPr>
            <a:r>
              <a:rPr lang="en-US" dirty="0"/>
              <a:t>$conn-&gt;query($</a:t>
            </a:r>
            <a:r>
              <a:rPr lang="en-US" dirty="0" err="1"/>
              <a:t>sql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b="1" dirty="0"/>
              <a:t>2. Read (Retrieve Data)</a:t>
            </a:r>
          </a:p>
          <a:p>
            <a:pPr marL="0" indent="0">
              <a:buNone/>
            </a:pPr>
            <a:r>
              <a:rPr lang="en-US" dirty="0"/>
              <a:t>$</a:t>
            </a:r>
            <a:r>
              <a:rPr lang="en-US" dirty="0" err="1"/>
              <a:t>sql</a:t>
            </a:r>
            <a:r>
              <a:rPr lang="en-US" dirty="0"/>
              <a:t> = "SELECT * FROM users";</a:t>
            </a:r>
          </a:p>
          <a:p>
            <a:pPr marL="0" indent="0">
              <a:buNone/>
            </a:pPr>
            <a:r>
              <a:rPr lang="en-US" dirty="0"/>
              <a:t>$result = $conn-&gt;query($</a:t>
            </a:r>
            <a:r>
              <a:rPr lang="en-US" dirty="0" err="1"/>
              <a:t>sql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dirty="0"/>
              <a:t>while($row = $result-&gt;</a:t>
            </a:r>
            <a:r>
              <a:rPr lang="en-US" dirty="0" err="1"/>
              <a:t>fetch_assoc</a:t>
            </a:r>
            <a:r>
              <a:rPr lang="en-US" dirty="0"/>
              <a:t>()){</a:t>
            </a:r>
          </a:p>
          <a:p>
            <a:pPr marL="0" indent="0">
              <a:buNone/>
            </a:pPr>
            <a:r>
              <a:rPr lang="en-US" dirty="0"/>
              <a:t>    echo $row['name'] . "&lt;</a:t>
            </a:r>
            <a:r>
              <a:rPr lang="en-US" dirty="0" err="1"/>
              <a:t>br</a:t>
            </a:r>
            <a:r>
              <a:rPr lang="en-US" dirty="0"/>
              <a:t>&gt;";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16401029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E57D500-A33F-7F6C-EC64-A37FF36C5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41DD1C-0A44-3F33-0932-0B29F5778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CRUD Operations (Create, Read, Update, Delete)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648F73-224F-5D8E-E010-5F5CDA12A7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3. Update (Modify Data)</a:t>
            </a:r>
          </a:p>
          <a:p>
            <a:pPr marL="0" indent="0">
              <a:buNone/>
            </a:pPr>
            <a:r>
              <a:rPr lang="en-US" dirty="0"/>
              <a:t>$</a:t>
            </a:r>
            <a:r>
              <a:rPr lang="en-US" dirty="0" err="1"/>
              <a:t>sql</a:t>
            </a:r>
            <a:r>
              <a:rPr lang="en-US" dirty="0"/>
              <a:t> = "UPDATE users SET email='newemail@example.com' WHERE name='Mahadi'";</a:t>
            </a:r>
          </a:p>
          <a:p>
            <a:pPr marL="0" indent="0">
              <a:buNone/>
            </a:pPr>
            <a:r>
              <a:rPr lang="en-US" dirty="0"/>
              <a:t>$conn-&gt;query($</a:t>
            </a:r>
            <a:r>
              <a:rPr lang="en-US" dirty="0" err="1"/>
              <a:t>sql</a:t>
            </a:r>
            <a:r>
              <a:rPr lang="en-US" dirty="0"/>
              <a:t>);</a:t>
            </a:r>
          </a:p>
          <a:p>
            <a:pPr marL="0" indent="0">
              <a:buNone/>
            </a:pPr>
            <a:r>
              <a:rPr lang="en-US" b="1" dirty="0"/>
              <a:t>4. Delete (Remove Data)</a:t>
            </a:r>
          </a:p>
          <a:p>
            <a:pPr marL="0" indent="0">
              <a:buNone/>
            </a:pPr>
            <a:r>
              <a:rPr lang="en-US" dirty="0"/>
              <a:t>$</a:t>
            </a:r>
            <a:r>
              <a:rPr lang="en-US" dirty="0" err="1"/>
              <a:t>sql</a:t>
            </a:r>
            <a:r>
              <a:rPr lang="en-US" dirty="0"/>
              <a:t> = "DELETE FROM users WHERE name='Mahadi'";</a:t>
            </a:r>
          </a:p>
          <a:p>
            <a:pPr marL="0" indent="0">
              <a:buNone/>
            </a:pPr>
            <a:r>
              <a:rPr lang="en-US" dirty="0"/>
              <a:t>$conn-&gt;query($</a:t>
            </a:r>
            <a:r>
              <a:rPr lang="en-US" dirty="0" err="1"/>
              <a:t>sql</a:t>
            </a:r>
            <a:r>
              <a:rPr lang="en-US" dirty="0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12250758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568BC-CB00-3BCD-6BB0-203692648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79C0C-3523-4329-002B-F074D9AEF8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Prepared Statements and SQL Injection Prevention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6F4A1B-9DC4-55CF-079C-7B40050913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SQL Injection</a:t>
            </a:r>
          </a:p>
          <a:p>
            <a:pPr marL="0" indent="0">
              <a:buNone/>
            </a:pPr>
            <a:r>
              <a:rPr lang="en-US" dirty="0"/>
              <a:t>Malicious SQL inserted via user input.</a:t>
            </a:r>
          </a:p>
          <a:p>
            <a:pPr marL="0" indent="0">
              <a:buNone/>
            </a:pPr>
            <a:r>
              <a:rPr lang="en-US" dirty="0"/>
              <a:t>Can expose, modify, or delete data.</a:t>
            </a:r>
          </a:p>
          <a:p>
            <a:pPr marL="0" indent="0">
              <a:buNone/>
            </a:pPr>
            <a:r>
              <a:rPr lang="en-US" b="1" dirty="0"/>
              <a:t>Prepared Statements</a:t>
            </a:r>
          </a:p>
          <a:p>
            <a:pPr marL="0" indent="0">
              <a:buNone/>
            </a:pPr>
            <a:r>
              <a:rPr lang="en-US" dirty="0"/>
              <a:t>Separate </a:t>
            </a:r>
            <a:r>
              <a:rPr lang="en-US" b="1" dirty="0"/>
              <a:t>SQL code</a:t>
            </a:r>
            <a:r>
              <a:rPr lang="en-US" dirty="0"/>
              <a:t> from </a:t>
            </a:r>
            <a:r>
              <a:rPr lang="en-US" b="1" dirty="0"/>
              <a:t>user data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User input is </a:t>
            </a:r>
            <a:r>
              <a:rPr lang="en-US" b="1" dirty="0"/>
              <a:t>bound safely</a:t>
            </a:r>
            <a:r>
              <a:rPr lang="en-US" dirty="0"/>
              <a:t>, preventing execution as SQL.</a:t>
            </a:r>
          </a:p>
          <a:p>
            <a:pPr marL="0" indent="0">
              <a:buNone/>
            </a:pPr>
            <a:r>
              <a:rPr lang="en-US" b="1" dirty="0"/>
              <a:t>Example (PDO):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$</a:t>
            </a:r>
            <a:r>
              <a:rPr lang="en-US" dirty="0" err="1"/>
              <a:t>stmt</a:t>
            </a:r>
            <a:r>
              <a:rPr lang="en-US" dirty="0"/>
              <a:t> = $conn-&gt;prepare("SELECT * FROM users WHERE email=?");</a:t>
            </a:r>
          </a:p>
          <a:p>
            <a:pPr marL="0" indent="0">
              <a:buNone/>
            </a:pPr>
            <a:r>
              <a:rPr lang="en-US" dirty="0"/>
              <a:t>$</a:t>
            </a:r>
            <a:r>
              <a:rPr lang="en-US" dirty="0" err="1"/>
              <a:t>stmt</a:t>
            </a:r>
            <a:r>
              <a:rPr lang="en-US" dirty="0"/>
              <a:t>-&gt;execute([$email]);</a:t>
            </a:r>
          </a:p>
        </p:txBody>
      </p:sp>
    </p:spTree>
    <p:extLst>
      <p:ext uri="{BB962C8B-B14F-4D97-AF65-F5344CB8AC3E}">
        <p14:creationId xmlns:p14="http://schemas.microsoft.com/office/powerpoint/2010/main" val="396228195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3B9797-FAE7-9053-E69C-3463248E8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463F59-DF2D-9BAD-8D80-F5C5D4601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Transactions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422674-105C-2C19-1C42-6C82C6701A5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Definition:</a:t>
            </a:r>
            <a:br>
              <a:rPr lang="en-US" dirty="0"/>
            </a:br>
            <a:r>
              <a:rPr lang="en-US" dirty="0"/>
              <a:t>A </a:t>
            </a:r>
            <a:r>
              <a:rPr lang="en-US" b="1" dirty="0"/>
              <a:t>database transaction</a:t>
            </a:r>
            <a:r>
              <a:rPr lang="en-US" dirty="0"/>
              <a:t> is a set of SQL operations executed as a </a:t>
            </a:r>
            <a:r>
              <a:rPr lang="en-US" b="1" dirty="0"/>
              <a:t>single unit</a:t>
            </a:r>
            <a:r>
              <a:rPr lang="en-US" dirty="0"/>
              <a:t>. Either </a:t>
            </a:r>
            <a:r>
              <a:rPr lang="en-US" b="1" dirty="0"/>
              <a:t>all succeed or all fail</a:t>
            </a:r>
            <a:r>
              <a:rPr lang="en-US" dirty="0"/>
              <a:t>, ensuring data integrity.</a:t>
            </a:r>
          </a:p>
          <a:p>
            <a:r>
              <a:rPr lang="en-US" b="1" dirty="0"/>
              <a:t>Key Concepts</a:t>
            </a:r>
          </a:p>
          <a:p>
            <a:r>
              <a:rPr lang="en-US" b="1" dirty="0"/>
              <a:t>BEGIN / START TRANSACTION</a:t>
            </a:r>
            <a:r>
              <a:rPr lang="en-US" dirty="0"/>
              <a:t> – Start a transaction.</a:t>
            </a:r>
          </a:p>
          <a:p>
            <a:r>
              <a:rPr lang="en-US" b="1" dirty="0"/>
              <a:t>COMMIT</a:t>
            </a:r>
            <a:r>
              <a:rPr lang="en-US" dirty="0"/>
              <a:t> – Save all changes permanently.</a:t>
            </a:r>
          </a:p>
          <a:p>
            <a:r>
              <a:rPr lang="en-US" b="1" dirty="0"/>
              <a:t>ROLLBACK</a:t>
            </a:r>
            <a:r>
              <a:rPr lang="en-US" dirty="0"/>
              <a:t> – Undo changes if an error occurs.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2778898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CAA6F0-F82E-CBA5-8625-A3F613D26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7B02B-B172-51F3-E16F-D540076FE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Transactions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93EF6D-FBD4-5C6A-0B44-3E84EC5DC2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b="1" dirty="0"/>
              <a:t>try {</a:t>
            </a:r>
          </a:p>
          <a:p>
            <a:pPr marL="0" indent="0">
              <a:buNone/>
            </a:pPr>
            <a:r>
              <a:rPr lang="en-US" b="1" dirty="0"/>
              <a:t>    $conn-&gt;</a:t>
            </a:r>
            <a:r>
              <a:rPr lang="en-US" b="1" dirty="0" err="1"/>
              <a:t>beginTransaction</a:t>
            </a:r>
            <a:r>
              <a:rPr lang="en-US" b="1" dirty="0"/>
              <a:t>();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    $conn-&gt;exec("INSERT INTO accounts (name, balance) VALUES ('Alice', 1000)");</a:t>
            </a:r>
          </a:p>
          <a:p>
            <a:pPr marL="0" indent="0">
              <a:buNone/>
            </a:pPr>
            <a:r>
              <a:rPr lang="en-US" b="1" dirty="0"/>
              <a:t>    $conn-&gt;exec("INSERT INTO accounts (name, balance) VALUES ('Bob', 500)");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    $conn-&gt;commit(); // All changes saved</a:t>
            </a:r>
          </a:p>
          <a:p>
            <a:pPr marL="0" indent="0">
              <a:buNone/>
            </a:pPr>
            <a:r>
              <a:rPr lang="en-US" b="1" dirty="0"/>
              <a:t>} catch (Exception $e) {</a:t>
            </a:r>
          </a:p>
          <a:p>
            <a:pPr marL="0" indent="0">
              <a:buNone/>
            </a:pPr>
            <a:r>
              <a:rPr lang="en-US" b="1" dirty="0"/>
              <a:t>    $conn-&gt;rollback(); // Undo all changes</a:t>
            </a:r>
          </a:p>
          <a:p>
            <a:pPr marL="0" indent="0">
              <a:buNone/>
            </a:pPr>
            <a:r>
              <a:rPr lang="en-US" b="1" dirty="0"/>
              <a:t>    echo "Transaction failed: " . $e-&gt;</a:t>
            </a:r>
            <a:r>
              <a:rPr lang="en-US" b="1" dirty="0" err="1"/>
              <a:t>getMessage</a:t>
            </a:r>
            <a:r>
              <a:rPr lang="en-US" b="1" dirty="0"/>
              <a:t>();</a:t>
            </a:r>
          </a:p>
          <a:p>
            <a:pPr marL="0" indent="0">
              <a:buNone/>
            </a:pPr>
            <a:r>
              <a:rPr lang="en-US" b="1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2369561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22B848-5483-1AA3-73B9-81A3E8103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D81BA-37BB-1EBE-00AC-A25C2FF341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Advanced PHP Features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E75114-2A09-1BA3-3538-CA73D71C82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Sessions and Cookies</a:t>
            </a:r>
          </a:p>
          <a:p>
            <a:r>
              <a:rPr lang="en-US" dirty="0"/>
              <a:t>Authentication and Authorization</a:t>
            </a:r>
          </a:p>
          <a:p>
            <a:r>
              <a:rPr lang="en-US" dirty="0"/>
              <a:t>File Uploads and Validation</a:t>
            </a:r>
          </a:p>
          <a:p>
            <a:r>
              <a:rPr lang="en-US" dirty="0"/>
              <a:t>Working with APIs (RESTful APIs, JSON, XML)</a:t>
            </a:r>
          </a:p>
          <a:p>
            <a:r>
              <a:rPr lang="en-US" dirty="0" err="1"/>
              <a:t>cURL</a:t>
            </a:r>
            <a:r>
              <a:rPr lang="en-US" dirty="0"/>
              <a:t> for HTTP Requests</a:t>
            </a:r>
          </a:p>
          <a:p>
            <a:r>
              <a:rPr lang="en-US" dirty="0"/>
              <a:t>PHP Streams and File System Functions</a:t>
            </a:r>
          </a:p>
        </p:txBody>
      </p:sp>
    </p:spTree>
    <p:extLst>
      <p:ext uri="{BB962C8B-B14F-4D97-AF65-F5344CB8AC3E}">
        <p14:creationId xmlns:p14="http://schemas.microsoft.com/office/powerpoint/2010/main" val="28027402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299C3F-DF7E-E146-D928-B59662993E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A2E8C-675F-6FFD-8361-44A8ED9C30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PHP Frameworks and Libraries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5D66FC-8818-FA15-F8CC-5903A76D6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Introduction to Popular Frameworks (Laravel, Symfony, CodeIgniter)</a:t>
            </a:r>
          </a:p>
          <a:p>
            <a:r>
              <a:rPr lang="en-US" dirty="0"/>
              <a:t>MVC Architecture</a:t>
            </a:r>
          </a:p>
          <a:p>
            <a:r>
              <a:rPr lang="en-US" dirty="0"/>
              <a:t>Composer for Dependency Management</a:t>
            </a:r>
          </a:p>
          <a:p>
            <a:r>
              <a:rPr lang="en-US" dirty="0"/>
              <a:t>Using Libraries (e.g., Guzzle, </a:t>
            </a:r>
            <a:r>
              <a:rPr lang="en-US" dirty="0" err="1"/>
              <a:t>PHPMailer</a:t>
            </a:r>
            <a:r>
              <a:rPr lang="en-US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78542544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EE07362-9292-3E4A-48E3-EFCC0DF77A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7C162-A175-7B5C-70B2-D8ED989A0D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Web Development with PHP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72F31-12EE-8548-FBE4-ACA3010D67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Form Handling and Validation</a:t>
            </a:r>
          </a:p>
          <a:p>
            <a:r>
              <a:rPr lang="en-US" dirty="0"/>
              <a:t>Working with HTML, CSS, and JavaScript</a:t>
            </a:r>
          </a:p>
          <a:p>
            <a:r>
              <a:rPr lang="en-US" dirty="0"/>
              <a:t>AJAX and PHP Integration</a:t>
            </a:r>
          </a:p>
          <a:p>
            <a:r>
              <a:rPr lang="en-US" dirty="0"/>
              <a:t>Building Dynamic Web Pages</a:t>
            </a:r>
          </a:p>
          <a:p>
            <a:r>
              <a:rPr lang="en-US" dirty="0"/>
              <a:t>Template Engines (e.g., Blade, Twig)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5810410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90DA7F0-12A9-A82C-E583-29532D11C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2BBEAB-0373-3866-E4CB-1AC0666291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Security in PHP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D9F607-A44B-ABE4-A612-0E1432E34B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Input Validation and Sanitization</a:t>
            </a:r>
          </a:p>
          <a:p>
            <a:r>
              <a:rPr lang="en-US" dirty="0"/>
              <a:t>Cross-Site Scripting (XSS) Prevention</a:t>
            </a:r>
          </a:p>
          <a:p>
            <a:r>
              <a:rPr lang="en-US" dirty="0"/>
              <a:t>Cross-Site Request Forgery (CSRF) Protection</a:t>
            </a:r>
          </a:p>
          <a:p>
            <a:r>
              <a:rPr lang="en-US" dirty="0"/>
              <a:t>Password Hashing and Encryption</a:t>
            </a:r>
          </a:p>
          <a:p>
            <a:r>
              <a:rPr lang="en-US" dirty="0"/>
              <a:t>Secure Session Management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670096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5FB1AE2-D0C4-8EAC-62F9-4DFA131915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F4C07-CE71-CD75-4BB1-EF94AAC6D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API Development and Consumption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623C7D-9C9B-6BC0-1F8D-4DBF158DB7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4358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1968</TotalTime>
  <Words>2431</Words>
  <Application>Microsoft Office PowerPoint</Application>
  <PresentationFormat>Widescreen</PresentationFormat>
  <Paragraphs>406</Paragraphs>
  <Slides>51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6" baseType="lpstr">
      <vt:lpstr>Aptos</vt:lpstr>
      <vt:lpstr>Aptos Display</vt:lpstr>
      <vt:lpstr>Arial</vt:lpstr>
      <vt:lpstr>Wingdings</vt:lpstr>
      <vt:lpstr>Office Theme</vt:lpstr>
      <vt:lpstr>PHP Basics</vt:lpstr>
      <vt:lpstr>What is PHP ?</vt:lpstr>
      <vt:lpstr>Why will we learn PHP in Web Development ?</vt:lpstr>
      <vt:lpstr>Key Feature</vt:lpstr>
      <vt:lpstr>Variables</vt:lpstr>
      <vt:lpstr>Constants</vt:lpstr>
      <vt:lpstr>Data Types</vt:lpstr>
      <vt:lpstr>Operators</vt:lpstr>
      <vt:lpstr>Operators</vt:lpstr>
      <vt:lpstr>Operator</vt:lpstr>
      <vt:lpstr>Control Structures (if-else)</vt:lpstr>
      <vt:lpstr>Control Structures (switch)</vt:lpstr>
      <vt:lpstr>Control Structures (loops)</vt:lpstr>
      <vt:lpstr>Functions</vt:lpstr>
      <vt:lpstr>Functions</vt:lpstr>
      <vt:lpstr>Functions</vt:lpstr>
      <vt:lpstr>Arrays (Indexed)</vt:lpstr>
      <vt:lpstr>Arrays (Associative)</vt:lpstr>
      <vt:lpstr>Arrays (Multidimensional)</vt:lpstr>
      <vt:lpstr>String Manipulation</vt:lpstr>
      <vt:lpstr>String Manipulation</vt:lpstr>
      <vt:lpstr>Regular Expressions</vt:lpstr>
      <vt:lpstr>File Handling (Read, Write, Append)</vt:lpstr>
      <vt:lpstr>File Handling (Read, Write, Append)</vt:lpstr>
      <vt:lpstr>Error and Exception Handling</vt:lpstr>
      <vt:lpstr>Error and Exception Handling</vt:lpstr>
      <vt:lpstr>Object-Oriented Programming (OOP) in PHP</vt:lpstr>
      <vt:lpstr>PHP and Databases</vt:lpstr>
      <vt:lpstr>What is Database?</vt:lpstr>
      <vt:lpstr>Types of Databases Based on Data Structure</vt:lpstr>
      <vt:lpstr>Types of Databases Based on Data Structure</vt:lpstr>
      <vt:lpstr>Structured Database ( MySQL)</vt:lpstr>
      <vt:lpstr>Structured Database ( MySQL)</vt:lpstr>
      <vt:lpstr>Structured Database ( MySQL)</vt:lpstr>
      <vt:lpstr>ER-Diagram (Entity-Relationship Diagram) </vt:lpstr>
      <vt:lpstr>ER-Diagram (Continue) </vt:lpstr>
      <vt:lpstr>ER-Diagram (Continue) </vt:lpstr>
      <vt:lpstr>ER-Diagram (Continue) </vt:lpstr>
      <vt:lpstr>Connecting to MySQL using MySQLi</vt:lpstr>
      <vt:lpstr>Connecting to MySQL using MySQLi</vt:lpstr>
      <vt:lpstr>CRUD Operations (Create, Read, Update, Delete)</vt:lpstr>
      <vt:lpstr>CRUD Operations (Create, Read, Update, Delete)</vt:lpstr>
      <vt:lpstr>CRUD Operations (Create, Read, Update, Delete)</vt:lpstr>
      <vt:lpstr>Prepared Statements and SQL Injection Prevention</vt:lpstr>
      <vt:lpstr>Database Transactions</vt:lpstr>
      <vt:lpstr>Database Transactions</vt:lpstr>
      <vt:lpstr>Advanced PHP Features</vt:lpstr>
      <vt:lpstr>PHP Frameworks and Libraries</vt:lpstr>
      <vt:lpstr>Web Development with PHP</vt:lpstr>
      <vt:lpstr>Security in PHP</vt:lpstr>
      <vt:lpstr>API Development and Consumption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Mahadi Hassan</dc:creator>
  <cp:lastModifiedBy>Mahadi Hassan</cp:lastModifiedBy>
  <cp:revision>8</cp:revision>
  <dcterms:created xsi:type="dcterms:W3CDTF">2025-12-17T04:07:11Z</dcterms:created>
  <dcterms:modified xsi:type="dcterms:W3CDTF">2026-01-17T01:58:44Z</dcterms:modified>
</cp:coreProperties>
</file>