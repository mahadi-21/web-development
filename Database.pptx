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65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573DA-5E5E-AD8C-B21B-EF54E7B28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7E7F9-CC49-49AB-694B-783960ECF5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B5A26-7F1E-1A2D-D44E-0CC5F0FE1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C7F50-1F17-4B68-B1BF-174DD059E268}" type="datetimeFigureOut">
              <a:rPr lang="en-US" smtClean="0"/>
              <a:t>25-Jan-26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CEA7A-1F06-D59F-C27C-F4D9F3896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3ABC5-C446-9DEE-85CB-B3C48C6EB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35B6B-F7BA-4C02-9ACE-067654319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444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6BD58-37F5-C34F-B828-8AA5F9FCB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05105-E99B-407F-D465-12607D22B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CC834-5E7C-3267-5AB6-383952D3B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C7F50-1F17-4B68-B1BF-174DD059E268}" type="datetimeFigureOut">
              <a:rPr lang="en-US" smtClean="0"/>
              <a:t>25-Jan-26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EA1A6-39DD-83F8-859B-7504FA756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C34F1-92ED-3900-BBFD-0E53C4E8F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35B6B-F7BA-4C02-9ACE-067654319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470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0894D-2E8E-FEFC-40D9-AD4E133C5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4164D-F17D-6B3E-8935-22DB9E5D1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131C2-7B18-A4D1-ACB3-A49270A42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C7F50-1F17-4B68-B1BF-174DD059E268}" type="datetimeFigureOut">
              <a:rPr lang="en-US" smtClean="0"/>
              <a:t>25-Jan-26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DE0BD-BB3C-3095-FF79-466717A1C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91A90-33D9-F359-4A73-14A2232D0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35B6B-F7BA-4C02-9ACE-067654319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745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DA019-1C2D-C0E4-1897-BDF0B78DB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1258C-3476-CC46-6FC0-64CA83835D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CD23A8-9704-2D5C-64B7-A04252183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3122E-F6ED-1015-6A4A-D0E93B299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C7F50-1F17-4B68-B1BF-174DD059E268}" type="datetimeFigureOut">
              <a:rPr lang="en-US" smtClean="0"/>
              <a:t>25-Jan-26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37F0A-4E08-B35B-0B98-05275BAF7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80710C-8789-BB1B-69C7-46AFDEA87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35B6B-F7BA-4C02-9ACE-067654319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282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F334A-2028-D43F-EA5C-155CF2F00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14AC2-3654-1588-6933-21E9FFAB3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A30C3-57F3-4768-4F53-D6C7E9F82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2DC952-F3C7-A450-E138-B9E837250E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BF3875-B277-41F1-E8C2-6004A037A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6DD971-A355-CC6C-9133-49D9AE713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C7F50-1F17-4B68-B1BF-174DD059E268}" type="datetimeFigureOut">
              <a:rPr lang="en-US" smtClean="0"/>
              <a:t>25-Jan-26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571B81-DF38-EC0E-E979-CF34C162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286FBF-5C63-8F2B-AC88-752A49A7D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35B6B-F7BA-4C02-9ACE-067654319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458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AF2A2-57B2-0B0C-DBBD-6C28CAE8A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F8BE6C-0BC0-6A64-332C-0D9372A96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C7F50-1F17-4B68-B1BF-174DD059E268}" type="datetimeFigureOut">
              <a:rPr lang="en-US" smtClean="0"/>
              <a:t>25-Jan-26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31127B-1BB6-F4F9-DE50-31985B49C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E11830-FBAC-69C7-3DB0-8327FE65A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35B6B-F7BA-4C02-9ACE-067654319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809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465AF5-0693-CDB3-DC78-6FF523EF0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C7F50-1F17-4B68-B1BF-174DD059E268}" type="datetimeFigureOut">
              <a:rPr lang="en-US" smtClean="0"/>
              <a:t>25-Jan-26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3EFB37-169D-91DC-E5E8-9F7B273D7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2F00E-D48E-8CC1-8D0C-610BD028A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35B6B-F7BA-4C02-9ACE-067654319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855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F9D87-51A5-21B4-EA57-EBD562401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036BD-7FF7-D9CF-9E21-D82A9F6DC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2435B3-A31B-7A48-135E-77B75F6192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BCF918-80F9-3180-B6E6-826DE4CF9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C7F50-1F17-4B68-B1BF-174DD059E268}" type="datetimeFigureOut">
              <a:rPr lang="en-US" smtClean="0"/>
              <a:t>25-Jan-26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E6BB78-AC35-F3A0-E5BB-66B1FF0E5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29AF87-F2AA-C923-F9E8-187A22869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35B6B-F7BA-4C02-9ACE-067654319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742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74DB7-1901-78DF-24EA-CEB617C0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14B087-E9BD-22BF-C032-FAC96A8B5E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28C3F9-7293-02FE-7793-C045AD1234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DE19B-842C-685C-DFA0-79753F62A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C7F50-1F17-4B68-B1BF-174DD059E268}" type="datetimeFigureOut">
              <a:rPr lang="en-US" smtClean="0"/>
              <a:t>25-Jan-26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B17624-971F-658F-01E4-7459C58BC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968169-C7B3-0286-7DF4-C3396CF80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35B6B-F7BA-4C02-9ACE-067654319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710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07355-29E7-882A-A503-BEDFB4A53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5C249-1B58-D680-D76B-F75C4D61D3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C2823-4D7A-A4ED-F411-CE8FC323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C7F50-1F17-4B68-B1BF-174DD059E268}" type="datetimeFigureOut">
              <a:rPr lang="en-US" smtClean="0"/>
              <a:t>25-Jan-26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7176E-DFB1-AA37-F22D-D4F76DFD4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26335-398D-B328-1F9C-9E71B6C9A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35B6B-F7BA-4C02-9ACE-067654319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431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817928-9F28-34F8-50AE-A57C59A569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A926C-11D9-3C88-06BF-3CB312BC5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4AB26-F3EB-FDBE-9545-D33763F41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C7F50-1F17-4B68-B1BF-174DD059E268}" type="datetimeFigureOut">
              <a:rPr lang="en-US" smtClean="0"/>
              <a:t>25-Jan-26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9B00D-11CF-8A62-C500-E1F45542A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27468-4EC7-028F-D0C7-3120956DA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35B6B-F7BA-4C02-9ACE-067654319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142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8B224D-ADC9-FD95-5A71-F0C138CD8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BB5D3-10D6-1FB6-5DC4-6F1711A97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67E69-B362-C781-75AA-460F5EAFAF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FC7F50-1F17-4B68-B1BF-174DD059E268}" type="datetimeFigureOut">
              <a:rPr lang="en-US" smtClean="0"/>
              <a:t>25-Jan-26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6055B-FFC5-123D-CCD5-D63BCF4471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1AD6A-9B05-52C8-4F5E-1E1273B18E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E35B6B-F7BA-4C02-9ACE-067654319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70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23FC2-8354-AB03-A027-585AA3E97C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Database Basics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A4A1B6-6A45-3149-5E33-30EEF25A6B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50000"/>
              </a:lnSpc>
            </a:pPr>
            <a:r>
              <a:rPr lang="en-US" i="1" dirty="0">
                <a:solidFill>
                  <a:schemeClr val="accent4">
                    <a:lumMod val="75000"/>
                  </a:schemeClr>
                </a:solidFill>
              </a:rPr>
              <a:t>Prepared By </a:t>
            </a:r>
          </a:p>
          <a:p>
            <a:pPr>
              <a:lnSpc>
                <a:spcPct val="50000"/>
              </a:lnSpc>
            </a:pPr>
            <a:r>
              <a:rPr lang="en-US" i="1" dirty="0">
                <a:solidFill>
                  <a:schemeClr val="accent4">
                    <a:lumMod val="75000"/>
                  </a:schemeClr>
                </a:solidFill>
              </a:rPr>
              <a:t>Mahadi Hassan</a:t>
            </a:r>
          </a:p>
        </p:txBody>
      </p:sp>
    </p:spTree>
    <p:extLst>
      <p:ext uri="{BB962C8B-B14F-4D97-AF65-F5344CB8AC3E}">
        <p14:creationId xmlns:p14="http://schemas.microsoft.com/office/powerpoint/2010/main" val="2680152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62519-E6F5-74B9-6CDC-2CD1C71A6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Database?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2D312-B191-0ECA-5EC6-48143A1DF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database</a:t>
            </a:r>
            <a:r>
              <a:rPr lang="en-US" dirty="0"/>
              <a:t> is an organized collection of data that is stored electronically so it can be </a:t>
            </a:r>
            <a:r>
              <a:rPr lang="en-US" b="1" dirty="0"/>
              <a:t>easily accessed, managed, and updated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5922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71183-0CFE-E418-18FC-888D3740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features of a database: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B456D-6B3E-CB00-85AB-F8BCFB539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Stores data</a:t>
            </a:r>
            <a:r>
              <a:rPr lang="en-US" dirty="0"/>
              <a:t> (names, numbers, records, etc.)</a:t>
            </a:r>
          </a:p>
          <a:p>
            <a:r>
              <a:rPr lang="en-US" b="1" dirty="0"/>
              <a:t>Organized</a:t>
            </a:r>
            <a:r>
              <a:rPr lang="en-US" dirty="0"/>
              <a:t> (often in tables with rows and columns)</a:t>
            </a:r>
          </a:p>
          <a:p>
            <a:r>
              <a:rPr lang="en-US" b="1" dirty="0"/>
              <a:t>Easy to search</a:t>
            </a:r>
            <a:r>
              <a:rPr lang="en-US" dirty="0"/>
              <a:t> and update</a:t>
            </a:r>
          </a:p>
          <a:p>
            <a:r>
              <a:rPr lang="en-US" b="1" dirty="0"/>
              <a:t>Secure</a:t>
            </a:r>
            <a:r>
              <a:rPr lang="en-US" dirty="0"/>
              <a:t> (can control who can see or change data)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654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0AC45-5A19-5B9B-C617-9446455BC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need database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39B02-614C-9756-9781-A5003BA7E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1.Data Organization</a:t>
            </a:r>
          </a:p>
          <a:p>
            <a:r>
              <a:rPr lang="en-US" sz="2000" b="1" dirty="0"/>
              <a:t>File System:</a:t>
            </a:r>
            <a:r>
              <a:rPr lang="en-US" sz="2000" dirty="0"/>
              <a:t> Stores files as a whole, like documents or spreadsheets. To find a piece of information, you have to open the file and search manually.</a:t>
            </a:r>
          </a:p>
          <a:p>
            <a:r>
              <a:rPr lang="en-US" sz="2000" b="1" dirty="0"/>
              <a:t>Database:</a:t>
            </a:r>
            <a:r>
              <a:rPr lang="en-US" sz="2000" dirty="0"/>
              <a:t> Stores data in a structured way (tables, rows, columns), making it much faster to </a:t>
            </a:r>
            <a:r>
              <a:rPr lang="en-US" sz="2000" b="1" dirty="0"/>
              <a:t>search, filter, and sort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b="1" dirty="0"/>
              <a:t>Example:</a:t>
            </a:r>
            <a:endParaRPr lang="en-US" sz="2000" dirty="0"/>
          </a:p>
          <a:p>
            <a:r>
              <a:rPr lang="en-US" sz="2000" dirty="0"/>
              <a:t>File system: You have 1,000 text files of students. To find “Mahadi Hassan,” you have to open each file.</a:t>
            </a:r>
          </a:p>
          <a:p>
            <a:r>
              <a:rPr lang="en-US" sz="2000" dirty="0"/>
              <a:t>Database: One query can instantly find Mahadi Hassan :</a:t>
            </a:r>
          </a:p>
          <a:p>
            <a:pPr marL="0" indent="0">
              <a:buNone/>
            </a:pPr>
            <a:r>
              <a:rPr lang="en-US" sz="2000" dirty="0"/>
              <a:t>Select * from users where name = “Mahadi Hassan”;</a:t>
            </a:r>
          </a:p>
        </p:txBody>
      </p:sp>
    </p:spTree>
    <p:extLst>
      <p:ext uri="{BB962C8B-B14F-4D97-AF65-F5344CB8AC3E}">
        <p14:creationId xmlns:p14="http://schemas.microsoft.com/office/powerpoint/2010/main" val="1508750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1E337-C804-6765-38D9-7417D15D1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6215A-6E13-3CC5-8B02-28DDF2F74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need database ? (continue)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9B1F1-DE95-530A-FBAD-04EF2CBF2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2. Data Redundancy &amp; Consistency</a:t>
            </a:r>
          </a:p>
          <a:p>
            <a:r>
              <a:rPr lang="en-US" b="1" dirty="0"/>
              <a:t>File System:</a:t>
            </a:r>
            <a:r>
              <a:rPr lang="en-US" dirty="0"/>
              <a:t> Hard to keep data consistent. The same info may exist in multiple files, leading to errors.</a:t>
            </a:r>
          </a:p>
          <a:p>
            <a:r>
              <a:rPr lang="en-US" b="1" dirty="0"/>
              <a:t>Database:</a:t>
            </a:r>
            <a:r>
              <a:rPr lang="en-US" dirty="0"/>
              <a:t> Ensures </a:t>
            </a:r>
            <a:r>
              <a:rPr lang="en-US" b="1" dirty="0"/>
              <a:t>data integrity</a:t>
            </a:r>
            <a:r>
              <a:rPr lang="en-US" dirty="0"/>
              <a:t>. Updates in one place reflect everywhere (no duplication issues).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> If a student’s phone number changes:</a:t>
            </a:r>
          </a:p>
          <a:p>
            <a:r>
              <a:rPr lang="en-US" dirty="0"/>
              <a:t>File system: You’d have to update every file manually.</a:t>
            </a:r>
          </a:p>
          <a:p>
            <a:r>
              <a:rPr lang="en-US" dirty="0"/>
              <a:t>Database: One update in the student table updates all references.</a:t>
            </a:r>
          </a:p>
        </p:txBody>
      </p:sp>
    </p:spTree>
    <p:extLst>
      <p:ext uri="{BB962C8B-B14F-4D97-AF65-F5344CB8AC3E}">
        <p14:creationId xmlns:p14="http://schemas.microsoft.com/office/powerpoint/2010/main" val="2963823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3DA25-B932-04EB-D93A-F0ABDD1A7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FE95-88B7-EBE0-38CA-A9EEA482B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need database ? (continue)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F9A57-C661-718A-1BD4-3A2732C29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Concurrent Access</a:t>
            </a:r>
          </a:p>
          <a:p>
            <a:r>
              <a:rPr lang="en-US" b="1" dirty="0"/>
              <a:t>File System:</a:t>
            </a:r>
            <a:r>
              <a:rPr lang="en-US" dirty="0"/>
              <a:t> Only one user can safely write to a file at a time. Others risk overwriting data.</a:t>
            </a:r>
          </a:p>
          <a:p>
            <a:r>
              <a:rPr lang="en-US" b="1" dirty="0"/>
              <a:t>Database:</a:t>
            </a:r>
            <a:r>
              <a:rPr lang="en-US" dirty="0"/>
              <a:t> Multiple users can read and write data </a:t>
            </a:r>
            <a:r>
              <a:rPr lang="en-US" b="1" dirty="0"/>
              <a:t>simultaneously</a:t>
            </a:r>
            <a:r>
              <a:rPr lang="en-US" dirty="0"/>
              <a:t> using transactions without conflict.</a:t>
            </a:r>
          </a:p>
        </p:txBody>
      </p:sp>
    </p:spTree>
    <p:extLst>
      <p:ext uri="{BB962C8B-B14F-4D97-AF65-F5344CB8AC3E}">
        <p14:creationId xmlns:p14="http://schemas.microsoft.com/office/powerpoint/2010/main" val="4177912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FCECA-8C82-7C15-E8EA-DCF31218C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8E172-2F2E-8CEA-2B71-4A69D0270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need database ? (continue)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199CD-29A6-875B-8840-0C6DEB139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4. Security</a:t>
            </a:r>
          </a:p>
          <a:p>
            <a:r>
              <a:rPr lang="en-US" b="1" dirty="0"/>
              <a:t>File System:</a:t>
            </a:r>
            <a:r>
              <a:rPr lang="en-US" dirty="0"/>
              <a:t> You can set folder or file permissions, but it’s limited.</a:t>
            </a:r>
          </a:p>
          <a:p>
            <a:r>
              <a:rPr lang="en-US" b="1" dirty="0"/>
              <a:t>Database:</a:t>
            </a:r>
            <a:r>
              <a:rPr lang="en-US" dirty="0"/>
              <a:t> Provides </a:t>
            </a:r>
            <a:r>
              <a:rPr lang="en-US" b="1" dirty="0"/>
              <a:t>fine-grained security</a:t>
            </a:r>
            <a:r>
              <a:rPr lang="en-US" dirty="0"/>
              <a:t>, e.g., some users can read only, some can write, some can delete.</a:t>
            </a:r>
          </a:p>
        </p:txBody>
      </p:sp>
    </p:spTree>
    <p:extLst>
      <p:ext uri="{BB962C8B-B14F-4D97-AF65-F5344CB8AC3E}">
        <p14:creationId xmlns:p14="http://schemas.microsoft.com/office/powerpoint/2010/main" val="2995513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FB29C-E686-FB96-4588-A5BE1145D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1F20F-8F5F-9A62-F395-9FCCB3B99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need database ? (continue)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1BDE4-511E-E74E-2A9D-08DE64ED9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5. Complex Queries</a:t>
            </a:r>
          </a:p>
          <a:p>
            <a:r>
              <a:rPr lang="en-US" b="1" dirty="0"/>
              <a:t>File System:</a:t>
            </a:r>
            <a:r>
              <a:rPr lang="en-US" dirty="0"/>
              <a:t> Hard to get answers like “find all students who scored above 90 in math.”</a:t>
            </a:r>
          </a:p>
          <a:p>
            <a:r>
              <a:rPr lang="en-US" b="1" dirty="0"/>
              <a:t>Database:</a:t>
            </a:r>
            <a:r>
              <a:rPr lang="en-US" dirty="0"/>
              <a:t> Easy with a query:</a:t>
            </a:r>
          </a:p>
          <a:p>
            <a:r>
              <a:rPr lang="en-US" dirty="0"/>
              <a:t>SELECT name FROM students WHERE </a:t>
            </a:r>
            <a:r>
              <a:rPr lang="en-US" dirty="0" err="1"/>
              <a:t>math_score</a:t>
            </a:r>
            <a:r>
              <a:rPr lang="en-US" dirty="0"/>
              <a:t> &gt; 90;</a:t>
            </a:r>
          </a:p>
        </p:txBody>
      </p:sp>
    </p:spTree>
    <p:extLst>
      <p:ext uri="{BB962C8B-B14F-4D97-AF65-F5344CB8AC3E}">
        <p14:creationId xmlns:p14="http://schemas.microsoft.com/office/powerpoint/2010/main" val="831982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9F84E-F484-64E8-3399-DE78A70AA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4B607-3C5D-E393-E543-004670814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Structured </a:t>
            </a:r>
          </a:p>
          <a:p>
            <a:pPr marL="0" indent="0">
              <a:buNone/>
            </a:pPr>
            <a:r>
              <a:rPr lang="en-US" b="1" dirty="0"/>
              <a:t>Unstructured</a:t>
            </a:r>
          </a:p>
          <a:p>
            <a:pPr marL="0" indent="0">
              <a:buNone/>
            </a:pPr>
            <a:r>
              <a:rPr lang="en-US" b="1" dirty="0"/>
              <a:t>Semi-structured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808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13AB9-8D78-A7A5-830D-FE5761ADE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13454-6304-8740-FA06-8C926CA89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99BA8-0894-95FC-D5E1-825A1AEC0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Structured Data</a:t>
            </a:r>
          </a:p>
          <a:p>
            <a:r>
              <a:rPr lang="en-US" b="1" dirty="0"/>
              <a:t>Definition:</a:t>
            </a:r>
            <a:r>
              <a:rPr lang="en-US" dirty="0"/>
              <a:t> Data that is organized in a </a:t>
            </a:r>
            <a:r>
              <a:rPr lang="en-US" b="1" dirty="0"/>
              <a:t>fixed format</a:t>
            </a:r>
            <a:r>
              <a:rPr lang="en-US" dirty="0"/>
              <a:t> (rows and columns) with a predefined schema.</a:t>
            </a:r>
          </a:p>
          <a:p>
            <a:r>
              <a:rPr lang="en-US" b="1" dirty="0"/>
              <a:t>Common Names:</a:t>
            </a:r>
            <a:r>
              <a:rPr lang="en-US" dirty="0"/>
              <a:t> Relational data, Tabular data</a:t>
            </a:r>
          </a:p>
          <a:p>
            <a:r>
              <a:rPr lang="en-US" b="1" dirty="0"/>
              <a:t>Stored In:</a:t>
            </a:r>
            <a:r>
              <a:rPr lang="en-US" dirty="0"/>
              <a:t> Relational Databases (RDBMS)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pPr lvl="1"/>
            <a:r>
              <a:rPr lang="en-US" dirty="0"/>
              <a:t>Employee table: ID | Name | Department | Salary</a:t>
            </a:r>
          </a:p>
          <a:p>
            <a:pPr lvl="1"/>
            <a:r>
              <a:rPr lang="en-US" dirty="0"/>
              <a:t>Bank transactions: </a:t>
            </a:r>
            <a:r>
              <a:rPr lang="en-US" dirty="0" err="1"/>
              <a:t>TransactionID</a:t>
            </a:r>
            <a:r>
              <a:rPr lang="en-US" dirty="0"/>
              <a:t> | </a:t>
            </a:r>
            <a:r>
              <a:rPr lang="en-US" dirty="0" err="1"/>
              <a:t>AccountNumber</a:t>
            </a:r>
            <a:r>
              <a:rPr lang="en-US" dirty="0"/>
              <a:t> | Amount | Date</a:t>
            </a:r>
          </a:p>
        </p:txBody>
      </p:sp>
    </p:spTree>
    <p:extLst>
      <p:ext uri="{BB962C8B-B14F-4D97-AF65-F5344CB8AC3E}">
        <p14:creationId xmlns:p14="http://schemas.microsoft.com/office/powerpoint/2010/main" val="1138569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12716-17AA-F10E-D779-8C03C018F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39490-DF9C-CDF1-41B8-334C52DF3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B70D5-9DCC-30F7-CF92-606E1FD70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2. Semi-Structured Data</a:t>
            </a:r>
          </a:p>
          <a:p>
            <a:r>
              <a:rPr lang="en-US" b="1" dirty="0"/>
              <a:t>Definition:</a:t>
            </a:r>
            <a:r>
              <a:rPr lang="en-US" dirty="0"/>
              <a:t> Data that </a:t>
            </a:r>
            <a:r>
              <a:rPr lang="en-US" b="1" dirty="0"/>
              <a:t>has some structure</a:t>
            </a:r>
            <a:r>
              <a:rPr lang="en-US" dirty="0"/>
              <a:t> but doesn’t fit neatly into tables. Fields may vary between records.</a:t>
            </a:r>
          </a:p>
          <a:p>
            <a:r>
              <a:rPr lang="en-US" b="1" dirty="0"/>
              <a:t>Common Names:</a:t>
            </a:r>
            <a:r>
              <a:rPr lang="en-US" dirty="0"/>
              <a:t> Document data, JSON/XML data</a:t>
            </a:r>
          </a:p>
          <a:p>
            <a:r>
              <a:rPr lang="en-US" b="1" dirty="0"/>
              <a:t>Stored In:</a:t>
            </a:r>
            <a:r>
              <a:rPr lang="en-US" dirty="0"/>
              <a:t> NoSQL Document Databases (MongoDB, CouchDB)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pPr lvl="1"/>
            <a:r>
              <a:rPr lang="en-US" dirty="0"/>
              <a:t>JSON document:</a:t>
            </a:r>
          </a:p>
          <a:p>
            <a:pPr lvl="1"/>
            <a:r>
              <a:rPr lang="en-US" dirty="0"/>
              <a:t>{ "name": "Alice", "age": 25, "skills": ["</a:t>
            </a:r>
            <a:r>
              <a:rPr lang="en-US" dirty="0" err="1"/>
              <a:t>Python","SQL</a:t>
            </a:r>
            <a:r>
              <a:rPr lang="en-US" dirty="0"/>
              <a:t>"] }</a:t>
            </a:r>
          </a:p>
          <a:p>
            <a:pPr lvl="1"/>
            <a:r>
              <a:rPr lang="en-US" dirty="0"/>
              <a:t>XML files</a:t>
            </a:r>
          </a:p>
          <a:p>
            <a:pPr lvl="1"/>
            <a:r>
              <a:rPr lang="en-US" dirty="0"/>
              <a:t>CSV files with inconsistent rows</a:t>
            </a:r>
          </a:p>
        </p:txBody>
      </p:sp>
    </p:spTree>
    <p:extLst>
      <p:ext uri="{BB962C8B-B14F-4D97-AF65-F5344CB8AC3E}">
        <p14:creationId xmlns:p14="http://schemas.microsoft.com/office/powerpoint/2010/main" val="31528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9BC34-58BE-D664-A04B-F8E8CA8A8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F9C2C-90B4-E7FF-2021-EF1B46F28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DCCEA-32C9-3552-6149-6FCBF69BC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2. Semi-Structured Data</a:t>
            </a:r>
          </a:p>
          <a:p>
            <a:r>
              <a:rPr lang="en-US" b="1" dirty="0"/>
              <a:t>Definition:</a:t>
            </a:r>
            <a:r>
              <a:rPr lang="en-US" dirty="0"/>
              <a:t> Data that </a:t>
            </a:r>
            <a:r>
              <a:rPr lang="en-US" b="1" dirty="0"/>
              <a:t>has some structure</a:t>
            </a:r>
            <a:r>
              <a:rPr lang="en-US" dirty="0"/>
              <a:t> but doesn’t fit neatly into tables. Fields may vary between records.</a:t>
            </a:r>
          </a:p>
          <a:p>
            <a:r>
              <a:rPr lang="en-US" b="1" dirty="0"/>
              <a:t>Common Names:</a:t>
            </a:r>
            <a:r>
              <a:rPr lang="en-US" dirty="0"/>
              <a:t> Document data, JSON/XML data</a:t>
            </a:r>
          </a:p>
          <a:p>
            <a:r>
              <a:rPr lang="en-US" b="1" dirty="0"/>
              <a:t>Stored In:</a:t>
            </a:r>
            <a:r>
              <a:rPr lang="en-US" dirty="0"/>
              <a:t> NoSQL Document Databases (MongoDB, CouchDB)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pPr lvl="1"/>
            <a:r>
              <a:rPr lang="en-US" dirty="0"/>
              <a:t>JSON document:</a:t>
            </a:r>
          </a:p>
          <a:p>
            <a:pPr lvl="1"/>
            <a:r>
              <a:rPr lang="en-US" dirty="0"/>
              <a:t>{ "name": "Alice", "age": 25, "skills": ["</a:t>
            </a:r>
            <a:r>
              <a:rPr lang="en-US" dirty="0" err="1"/>
              <a:t>Python","SQL</a:t>
            </a:r>
            <a:r>
              <a:rPr lang="en-US" dirty="0"/>
              <a:t>"] }</a:t>
            </a:r>
          </a:p>
          <a:p>
            <a:pPr lvl="1"/>
            <a:r>
              <a:rPr lang="en-US" dirty="0"/>
              <a:t>XML files</a:t>
            </a:r>
          </a:p>
          <a:p>
            <a:pPr lvl="1"/>
            <a:r>
              <a:rPr lang="en-US" dirty="0"/>
              <a:t>CSV files with inconsistent rows</a:t>
            </a:r>
          </a:p>
        </p:txBody>
      </p:sp>
    </p:spTree>
    <p:extLst>
      <p:ext uri="{BB962C8B-B14F-4D97-AF65-F5344CB8AC3E}">
        <p14:creationId xmlns:p14="http://schemas.microsoft.com/office/powerpoint/2010/main" val="249712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13AB9-8D78-A7A5-830D-FE5761ADE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13454-6304-8740-FA06-8C926CA89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99BA8-0894-95FC-D5E1-825A1AEC0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 Unstructured Data</a:t>
            </a:r>
          </a:p>
          <a:p>
            <a:r>
              <a:rPr lang="en-US" b="1" dirty="0"/>
              <a:t>Definition:</a:t>
            </a:r>
            <a:r>
              <a:rPr lang="en-US" dirty="0"/>
              <a:t> Data that </a:t>
            </a:r>
            <a:r>
              <a:rPr lang="en-US" b="1" dirty="0"/>
              <a:t>has no predefined format</a:t>
            </a:r>
            <a:r>
              <a:rPr lang="en-US" dirty="0"/>
              <a:t> and cannot fit into tables.</a:t>
            </a:r>
          </a:p>
          <a:p>
            <a:r>
              <a:rPr lang="en-US" b="1" dirty="0"/>
              <a:t>Common Names:</a:t>
            </a:r>
            <a:r>
              <a:rPr lang="en-US" dirty="0"/>
              <a:t> Free-form data, Binary/Media data</a:t>
            </a:r>
          </a:p>
          <a:p>
            <a:r>
              <a:rPr lang="en-US" b="1" dirty="0"/>
              <a:t>Stored In:</a:t>
            </a:r>
            <a:r>
              <a:rPr lang="en-US" dirty="0"/>
              <a:t> NoSQL databases, Object Stores, Big Data platforms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pPr lvl="1"/>
            <a:r>
              <a:rPr lang="en-US" dirty="0"/>
              <a:t>Images, videos, audio</a:t>
            </a:r>
          </a:p>
          <a:p>
            <a:pPr lvl="1"/>
            <a:r>
              <a:rPr lang="en-US" dirty="0"/>
              <a:t>Text documents, emails, social media posts</a:t>
            </a:r>
          </a:p>
          <a:p>
            <a:pPr lvl="1"/>
            <a:r>
              <a:rPr lang="en-US" dirty="0"/>
              <a:t>PDFs or scanned documents</a:t>
            </a:r>
          </a:p>
        </p:txBody>
      </p:sp>
    </p:spTree>
    <p:extLst>
      <p:ext uri="{BB962C8B-B14F-4D97-AF65-F5344CB8AC3E}">
        <p14:creationId xmlns:p14="http://schemas.microsoft.com/office/powerpoint/2010/main" val="2525848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16112-B1B8-20E9-0D71-C12E10AD3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Management System (DBMS)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1312E8DD-B1BE-FFB1-4D4F-A27008F78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48624"/>
            <a:ext cx="9901083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 that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manages databases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Store, retrieve, and manipulate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security and integrity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 multiple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Difference: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DBMS vs RDBMS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BC5C37D-BEC1-D2FD-B34E-EF4C0EBD24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906611"/>
              </p:ext>
            </p:extLst>
          </p:nvPr>
        </p:nvGraphicFramePr>
        <p:xfrm>
          <a:off x="2018070" y="4774110"/>
          <a:ext cx="8586661" cy="1463040"/>
        </p:xfrm>
        <a:graphic>
          <a:graphicData uri="http://schemas.openxmlformats.org/drawingml/2006/table">
            <a:tbl>
              <a:tblPr/>
              <a:tblGrid>
                <a:gridCol w="1576261">
                  <a:extLst>
                    <a:ext uri="{9D8B030D-6E8A-4147-A177-3AD203B41FA5}">
                      <a16:colId xmlns:a16="http://schemas.microsoft.com/office/drawing/2014/main" val="255937120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7354269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191167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DBMS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RDBMS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442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 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File-based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Table-based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996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Relationships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06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FileMaker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MySQL, Oracle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162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3828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46E2-9A5D-0BA2-4857-0B3556549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FF59E-814B-F396-34DC-787486C20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 = Entity</a:t>
            </a:r>
          </a:p>
          <a:p>
            <a:pPr marL="0" indent="0">
              <a:buNone/>
            </a:pPr>
            <a:r>
              <a:rPr lang="en-US" dirty="0"/>
              <a:t>R = Relationship </a:t>
            </a:r>
          </a:p>
          <a:p>
            <a:pPr marL="0" indent="0">
              <a:buNone/>
            </a:pPr>
            <a:r>
              <a:rPr lang="en-US" dirty="0"/>
              <a:t>An </a:t>
            </a:r>
            <a:r>
              <a:rPr lang="en-US" b="1" dirty="0"/>
              <a:t>ER Diagram (Entity–Relationship Diagram)</a:t>
            </a:r>
            <a:r>
              <a:rPr lang="en-US" dirty="0"/>
              <a:t> in a database is a </a:t>
            </a:r>
            <a:r>
              <a:rPr lang="en-US" b="1" dirty="0"/>
              <a:t>diagrammatic representation of how data is organized and related</a:t>
            </a:r>
            <a:r>
              <a:rPr lang="en-US" dirty="0"/>
              <a:t> in a database system.</a:t>
            </a:r>
          </a:p>
          <a:p>
            <a:pPr marL="0" indent="0">
              <a:buNone/>
            </a:pPr>
            <a:r>
              <a:rPr lang="en-US" dirty="0"/>
              <a:t>Three Components :</a:t>
            </a:r>
          </a:p>
          <a:p>
            <a:pPr marL="0" indent="0">
              <a:buNone/>
            </a:pPr>
            <a:r>
              <a:rPr lang="en-US" dirty="0"/>
              <a:t>Entity </a:t>
            </a:r>
          </a:p>
          <a:p>
            <a:pPr marL="0" indent="0">
              <a:buNone/>
            </a:pPr>
            <a:r>
              <a:rPr lang="en-US" dirty="0"/>
              <a:t>Attributes </a:t>
            </a:r>
          </a:p>
          <a:p>
            <a:pPr marL="0" indent="0">
              <a:buNone/>
            </a:pPr>
            <a:r>
              <a:rPr lang="en-US" dirty="0"/>
              <a:t>Relationship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367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DF427-8D54-CF9E-B7E7-97A56E190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D3B42-FEA9-0806-7714-25B81CF5D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 Diagram ( continue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E8B1C-392F-C161-7FBB-ADAF59532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1. Entity</a:t>
            </a:r>
          </a:p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thing or object</a:t>
            </a:r>
            <a:r>
              <a:rPr lang="en-US" dirty="0"/>
              <a:t> that exists in the real world.</a:t>
            </a:r>
          </a:p>
          <a:p>
            <a:pPr marL="0" indent="0">
              <a:buNone/>
            </a:pPr>
            <a:r>
              <a:rPr lang="en-US" dirty="0"/>
              <a:t>Example: Student, Teacher, Course</a:t>
            </a:r>
          </a:p>
          <a:p>
            <a:pPr marL="0" indent="0">
              <a:buNone/>
            </a:pPr>
            <a:r>
              <a:rPr lang="en-US" dirty="0"/>
              <a:t>Represented by a </a:t>
            </a:r>
            <a:r>
              <a:rPr lang="en-US" b="1" dirty="0"/>
              <a:t>rectangle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2. Attribute</a:t>
            </a:r>
          </a:p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property</a:t>
            </a:r>
            <a:r>
              <a:rPr lang="en-US" dirty="0"/>
              <a:t> that describes an entity.</a:t>
            </a:r>
          </a:p>
          <a:p>
            <a:pPr marL="0" indent="0">
              <a:buNone/>
            </a:pPr>
            <a:r>
              <a:rPr lang="en-US" dirty="0"/>
              <a:t>Example: </a:t>
            </a:r>
            <a:r>
              <a:rPr lang="en-US" dirty="0" err="1"/>
              <a:t>StudentID</a:t>
            </a:r>
            <a:r>
              <a:rPr lang="en-US" dirty="0"/>
              <a:t>, Name, Age</a:t>
            </a:r>
          </a:p>
          <a:p>
            <a:pPr marL="0" indent="0">
              <a:buNone/>
            </a:pPr>
            <a:r>
              <a:rPr lang="en-US" dirty="0"/>
              <a:t>Represented by an </a:t>
            </a:r>
            <a:r>
              <a:rPr lang="en-US" b="1" dirty="0"/>
              <a:t>oval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Primary Key (PK)</a:t>
            </a:r>
            <a:r>
              <a:rPr lang="en-US" dirty="0"/>
              <a:t> uniquely identifies an entity</a:t>
            </a:r>
          </a:p>
          <a:p>
            <a:pPr marL="0" indent="0">
              <a:buNone/>
            </a:pPr>
            <a:r>
              <a:rPr lang="en-US" b="1" dirty="0"/>
              <a:t>3. Relationship</a:t>
            </a:r>
          </a:p>
          <a:p>
            <a:pPr marL="0" indent="0">
              <a:buNone/>
            </a:pPr>
            <a:r>
              <a:rPr lang="en-US" dirty="0"/>
              <a:t>Shows </a:t>
            </a:r>
            <a:r>
              <a:rPr lang="en-US" b="1" dirty="0"/>
              <a:t>how entities are related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Example: Student </a:t>
            </a:r>
            <a:r>
              <a:rPr lang="en-US" i="1" dirty="0"/>
              <a:t>enrolls in</a:t>
            </a:r>
            <a:r>
              <a:rPr lang="en-US" dirty="0"/>
              <a:t> Course</a:t>
            </a:r>
          </a:p>
          <a:p>
            <a:pPr marL="0" indent="0">
              <a:buNone/>
            </a:pPr>
            <a:r>
              <a:rPr lang="en-US" dirty="0"/>
              <a:t>Represented by a </a:t>
            </a:r>
            <a:r>
              <a:rPr lang="en-US" b="1" dirty="0"/>
              <a:t>diamond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837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1D4FD-2E13-8CC1-260B-152C67BE4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 Diagram ( continue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AF654-D361-A9FE-1134-D2B0764A4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US" dirty="0"/>
              <a:t>Discuss in details in class</a:t>
            </a:r>
          </a:p>
        </p:txBody>
      </p:sp>
    </p:spTree>
    <p:extLst>
      <p:ext uri="{BB962C8B-B14F-4D97-AF65-F5344CB8AC3E}">
        <p14:creationId xmlns:p14="http://schemas.microsoft.com/office/powerpoint/2010/main" val="2902204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96666-9237-D49A-C48E-AB89587D4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170B0-219F-5BC2-5424-A72FE48F2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 = CREATE</a:t>
            </a:r>
          </a:p>
          <a:p>
            <a:pPr marL="0" indent="0">
              <a:buNone/>
            </a:pPr>
            <a:r>
              <a:rPr lang="en-US" dirty="0"/>
              <a:t>R = READ</a:t>
            </a:r>
          </a:p>
          <a:p>
            <a:pPr marL="0" indent="0">
              <a:buNone/>
            </a:pPr>
            <a:r>
              <a:rPr lang="en-US" dirty="0"/>
              <a:t>U = UPDATE</a:t>
            </a:r>
          </a:p>
          <a:p>
            <a:pPr marL="0" indent="0">
              <a:buNone/>
            </a:pPr>
            <a:r>
              <a:rPr lang="en-US" dirty="0"/>
              <a:t>D = DELETE</a:t>
            </a:r>
          </a:p>
        </p:txBody>
      </p:sp>
    </p:spTree>
    <p:extLst>
      <p:ext uri="{BB962C8B-B14F-4D97-AF65-F5344CB8AC3E}">
        <p14:creationId xmlns:p14="http://schemas.microsoft.com/office/powerpoint/2010/main" val="886058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C5EF9-B6D8-3108-6A1C-2EB614FB0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– Structured </a:t>
            </a:r>
            <a:r>
              <a:rPr lang="en-US"/>
              <a:t>Query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DECC8-DEA3-B2E7-7169-CA0B564C0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456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905</Words>
  <Application>Microsoft Office PowerPoint</Application>
  <PresentationFormat>Widescreen</PresentationFormat>
  <Paragraphs>128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Database Basics</vt:lpstr>
      <vt:lpstr>What is Database?</vt:lpstr>
      <vt:lpstr>Key features of a database:</vt:lpstr>
      <vt:lpstr>Why need database ?</vt:lpstr>
      <vt:lpstr>Why need database ? (continue)</vt:lpstr>
      <vt:lpstr>Why need database ? (continue)</vt:lpstr>
      <vt:lpstr>Why need database ? (continue)</vt:lpstr>
      <vt:lpstr>Why need database ? (continue)</vt:lpstr>
      <vt:lpstr> Types</vt:lpstr>
      <vt:lpstr> Types</vt:lpstr>
      <vt:lpstr> Types</vt:lpstr>
      <vt:lpstr> Types</vt:lpstr>
      <vt:lpstr> Types</vt:lpstr>
      <vt:lpstr>Database Management System (DBMS)</vt:lpstr>
      <vt:lpstr>ER Diagram</vt:lpstr>
      <vt:lpstr>ER Diagram ( continue )</vt:lpstr>
      <vt:lpstr>ER Diagram ( continue )</vt:lpstr>
      <vt:lpstr>CRUD Operation</vt:lpstr>
      <vt:lpstr>SQL – Structured Query Language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Mahadi Hassan</dc:creator>
  <cp:lastModifiedBy>Mahadi Hassan</cp:lastModifiedBy>
  <cp:revision>6</cp:revision>
  <dcterms:created xsi:type="dcterms:W3CDTF">2026-01-19T02:25:38Z</dcterms:created>
  <dcterms:modified xsi:type="dcterms:W3CDTF">2026-01-25T04:36:27Z</dcterms:modified>
</cp:coreProperties>
</file>