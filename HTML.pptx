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0" r:id="rId7"/>
    <p:sldId id="262" r:id="rId8"/>
    <p:sldId id="263" r:id="rId9"/>
    <p:sldId id="261" r:id="rId10"/>
    <p:sldId id="264" r:id="rId11"/>
    <p:sldId id="265" r:id="rId12"/>
    <p:sldId id="266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2425B8-2C33-406A-868A-C722B42DCF56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40D5C9A-7805-4B17-8C11-31DA17BA68C3}">
      <dgm:prSet/>
      <dgm:spPr/>
      <dgm:t>
        <a:bodyPr/>
        <a:lstStyle/>
        <a:p>
          <a:r>
            <a:rPr lang="en-US" b="1"/>
            <a:t>💡 What is HTML?</a:t>
          </a:r>
          <a:endParaRPr lang="en-US"/>
        </a:p>
      </dgm:t>
    </dgm:pt>
    <dgm:pt modelId="{53823689-0F97-43FB-B439-335ECDB660DF}" type="parTrans" cxnId="{8D3B73D2-AABE-4CE6-8886-22BDC589AAB3}">
      <dgm:prSet/>
      <dgm:spPr/>
      <dgm:t>
        <a:bodyPr/>
        <a:lstStyle/>
        <a:p>
          <a:endParaRPr lang="en-US"/>
        </a:p>
      </dgm:t>
    </dgm:pt>
    <dgm:pt modelId="{5E803946-4738-4A5A-8356-2F0D2A91675C}" type="sibTrans" cxnId="{8D3B73D2-AABE-4CE6-8886-22BDC589AAB3}">
      <dgm:prSet/>
      <dgm:spPr/>
      <dgm:t>
        <a:bodyPr/>
        <a:lstStyle/>
        <a:p>
          <a:endParaRPr lang="en-US"/>
        </a:p>
      </dgm:t>
    </dgm:pt>
    <dgm:pt modelId="{45B62B43-CAB1-465B-B6BA-FBE19634E038}">
      <dgm:prSet/>
      <dgm:spPr/>
      <dgm:t>
        <a:bodyPr/>
        <a:lstStyle/>
        <a:p>
          <a:r>
            <a:rPr lang="en-US" b="1"/>
            <a:t>HTML</a:t>
          </a:r>
          <a:r>
            <a:rPr lang="en-US"/>
            <a:t> stands for </a:t>
          </a:r>
          <a:r>
            <a:rPr lang="en-US" b="1"/>
            <a:t>Hypertext Markup Language</a:t>
          </a:r>
          <a:r>
            <a:rPr lang="en-US"/>
            <a:t>.</a:t>
          </a:r>
        </a:p>
      </dgm:t>
    </dgm:pt>
    <dgm:pt modelId="{0C58C2EE-8546-4BC0-B9A6-F58246DCDBA5}" type="parTrans" cxnId="{40050CCB-5813-4B14-8D04-A3ADC0047398}">
      <dgm:prSet/>
      <dgm:spPr/>
      <dgm:t>
        <a:bodyPr/>
        <a:lstStyle/>
        <a:p>
          <a:endParaRPr lang="en-US"/>
        </a:p>
      </dgm:t>
    </dgm:pt>
    <dgm:pt modelId="{B6B60A1C-20B8-4255-9EAF-C1B5E4D45054}" type="sibTrans" cxnId="{40050CCB-5813-4B14-8D04-A3ADC0047398}">
      <dgm:prSet/>
      <dgm:spPr/>
      <dgm:t>
        <a:bodyPr/>
        <a:lstStyle/>
        <a:p>
          <a:endParaRPr lang="en-US"/>
        </a:p>
      </dgm:t>
    </dgm:pt>
    <dgm:pt modelId="{77316BCD-09D3-4A2E-B8A3-8E8B1E515561}">
      <dgm:prSet/>
      <dgm:spPr/>
      <dgm:t>
        <a:bodyPr/>
        <a:lstStyle/>
        <a:p>
          <a:r>
            <a:rPr lang="en-US"/>
            <a:t>It is the </a:t>
          </a:r>
          <a:r>
            <a:rPr lang="en-US" b="1"/>
            <a:t>standard language used to create and design webpages</a:t>
          </a:r>
          <a:r>
            <a:rPr lang="en-US"/>
            <a:t>.</a:t>
          </a:r>
        </a:p>
      </dgm:t>
    </dgm:pt>
    <dgm:pt modelId="{7AA45ACC-8CE3-47C1-B16A-086BFF952F69}" type="parTrans" cxnId="{B2FDBC25-DD47-4955-9F30-AF1799F0B9C1}">
      <dgm:prSet/>
      <dgm:spPr/>
      <dgm:t>
        <a:bodyPr/>
        <a:lstStyle/>
        <a:p>
          <a:endParaRPr lang="en-US"/>
        </a:p>
      </dgm:t>
    </dgm:pt>
    <dgm:pt modelId="{D1742738-72F5-4E43-B11E-6B165DC0F373}" type="sibTrans" cxnId="{B2FDBC25-DD47-4955-9F30-AF1799F0B9C1}">
      <dgm:prSet/>
      <dgm:spPr/>
      <dgm:t>
        <a:bodyPr/>
        <a:lstStyle/>
        <a:p>
          <a:endParaRPr lang="en-US"/>
        </a:p>
      </dgm:t>
    </dgm:pt>
    <dgm:pt modelId="{3876873A-A388-4874-B0C1-56150D3FDA18}">
      <dgm:prSet/>
      <dgm:spPr/>
      <dgm:t>
        <a:bodyPr/>
        <a:lstStyle/>
        <a:p>
          <a:r>
            <a:rPr lang="en-US"/>
            <a:t>HTML provides the </a:t>
          </a:r>
          <a:r>
            <a:rPr lang="en-US" b="1"/>
            <a:t>basic structure of a webpage</a:t>
          </a:r>
          <a:r>
            <a:rPr lang="en-US"/>
            <a:t>, using a system of </a:t>
          </a:r>
          <a:r>
            <a:rPr lang="en-US" b="1"/>
            <a:t>tags and elements</a:t>
          </a:r>
          <a:r>
            <a:rPr lang="en-US"/>
            <a:t>.</a:t>
          </a:r>
        </a:p>
      </dgm:t>
    </dgm:pt>
    <dgm:pt modelId="{01D416B8-85AF-4908-8119-F1B9E5922D20}" type="parTrans" cxnId="{57FA89E1-7297-4CE7-A6F7-6BA2BCE4B932}">
      <dgm:prSet/>
      <dgm:spPr/>
      <dgm:t>
        <a:bodyPr/>
        <a:lstStyle/>
        <a:p>
          <a:endParaRPr lang="en-US"/>
        </a:p>
      </dgm:t>
    </dgm:pt>
    <dgm:pt modelId="{7A5A2497-E407-4A6E-92F0-69D21CE52D82}" type="sibTrans" cxnId="{57FA89E1-7297-4CE7-A6F7-6BA2BCE4B932}">
      <dgm:prSet/>
      <dgm:spPr/>
      <dgm:t>
        <a:bodyPr/>
        <a:lstStyle/>
        <a:p>
          <a:endParaRPr lang="en-US"/>
        </a:p>
      </dgm:t>
    </dgm:pt>
    <dgm:pt modelId="{1D944979-779A-44F8-A9E0-34777307E9CD}">
      <dgm:prSet/>
      <dgm:spPr/>
      <dgm:t>
        <a:bodyPr/>
        <a:lstStyle/>
        <a:p>
          <a:r>
            <a:rPr lang="en-US"/>
            <a:t>It allows you to add </a:t>
          </a:r>
          <a:r>
            <a:rPr lang="en-US" b="1"/>
            <a:t>text, images, videos, links, forms</a:t>
          </a:r>
          <a:r>
            <a:rPr lang="en-US"/>
            <a:t>, and other content to your web pages.</a:t>
          </a:r>
        </a:p>
      </dgm:t>
    </dgm:pt>
    <dgm:pt modelId="{D096C505-D240-4159-A105-F92E48F06906}" type="parTrans" cxnId="{5136B45D-CDC2-428C-B1DB-F35B01725536}">
      <dgm:prSet/>
      <dgm:spPr/>
      <dgm:t>
        <a:bodyPr/>
        <a:lstStyle/>
        <a:p>
          <a:endParaRPr lang="en-US"/>
        </a:p>
      </dgm:t>
    </dgm:pt>
    <dgm:pt modelId="{9160BEA3-C90C-40A6-B058-1A0DC8E3447A}" type="sibTrans" cxnId="{5136B45D-CDC2-428C-B1DB-F35B01725536}">
      <dgm:prSet/>
      <dgm:spPr/>
      <dgm:t>
        <a:bodyPr/>
        <a:lstStyle/>
        <a:p>
          <a:endParaRPr lang="en-US"/>
        </a:p>
      </dgm:t>
    </dgm:pt>
    <dgm:pt modelId="{2AA7298B-C689-4685-8378-04B3AE09CC60}">
      <dgm:prSet/>
      <dgm:spPr/>
      <dgm:t>
        <a:bodyPr/>
        <a:lstStyle/>
        <a:p>
          <a:r>
            <a:rPr lang="en-US"/>
            <a:t>HTML is not a programming language—it's a </a:t>
          </a:r>
          <a:r>
            <a:rPr lang="en-US" b="1"/>
            <a:t>markup language</a:t>
          </a:r>
          <a:r>
            <a:rPr lang="en-US"/>
            <a:t>.</a:t>
          </a:r>
        </a:p>
      </dgm:t>
    </dgm:pt>
    <dgm:pt modelId="{37A7F92F-687B-466A-BB85-173165BCC5E0}" type="parTrans" cxnId="{891244EB-1431-447D-8131-69BCAE06F88B}">
      <dgm:prSet/>
      <dgm:spPr/>
      <dgm:t>
        <a:bodyPr/>
        <a:lstStyle/>
        <a:p>
          <a:endParaRPr lang="en-US"/>
        </a:p>
      </dgm:t>
    </dgm:pt>
    <dgm:pt modelId="{090EFD0F-FEBC-4EC5-9672-8D216FD63A78}" type="sibTrans" cxnId="{891244EB-1431-447D-8131-69BCAE06F88B}">
      <dgm:prSet/>
      <dgm:spPr/>
      <dgm:t>
        <a:bodyPr/>
        <a:lstStyle/>
        <a:p>
          <a:endParaRPr lang="en-US"/>
        </a:p>
      </dgm:t>
    </dgm:pt>
    <dgm:pt modelId="{66663461-1817-4497-A8AF-86F75273356E}" type="pres">
      <dgm:prSet presAssocID="{5A2425B8-2C33-406A-868A-C722B42DCF56}" presName="diagram" presStyleCnt="0">
        <dgm:presLayoutVars>
          <dgm:dir/>
          <dgm:resizeHandles val="exact"/>
        </dgm:presLayoutVars>
      </dgm:prSet>
      <dgm:spPr/>
    </dgm:pt>
    <dgm:pt modelId="{34094894-A51A-4C93-8290-9917ABE8F33A}" type="pres">
      <dgm:prSet presAssocID="{940D5C9A-7805-4B17-8C11-31DA17BA68C3}" presName="node" presStyleLbl="node1" presStyleIdx="0" presStyleCnt="6">
        <dgm:presLayoutVars>
          <dgm:bulletEnabled val="1"/>
        </dgm:presLayoutVars>
      </dgm:prSet>
      <dgm:spPr/>
    </dgm:pt>
    <dgm:pt modelId="{650175D9-1679-4AA0-9128-264B7717B885}" type="pres">
      <dgm:prSet presAssocID="{5E803946-4738-4A5A-8356-2F0D2A91675C}" presName="sibTrans" presStyleCnt="0"/>
      <dgm:spPr/>
    </dgm:pt>
    <dgm:pt modelId="{8C9475DC-1EF1-4F29-A307-FC0EC295E6F4}" type="pres">
      <dgm:prSet presAssocID="{45B62B43-CAB1-465B-B6BA-FBE19634E038}" presName="node" presStyleLbl="node1" presStyleIdx="1" presStyleCnt="6">
        <dgm:presLayoutVars>
          <dgm:bulletEnabled val="1"/>
        </dgm:presLayoutVars>
      </dgm:prSet>
      <dgm:spPr/>
    </dgm:pt>
    <dgm:pt modelId="{9792C2D2-F92A-44A4-950B-27E6669CE7DF}" type="pres">
      <dgm:prSet presAssocID="{B6B60A1C-20B8-4255-9EAF-C1B5E4D45054}" presName="sibTrans" presStyleCnt="0"/>
      <dgm:spPr/>
    </dgm:pt>
    <dgm:pt modelId="{0206899C-A59B-4F41-96CA-47F03B1FF39F}" type="pres">
      <dgm:prSet presAssocID="{77316BCD-09D3-4A2E-B8A3-8E8B1E515561}" presName="node" presStyleLbl="node1" presStyleIdx="2" presStyleCnt="6">
        <dgm:presLayoutVars>
          <dgm:bulletEnabled val="1"/>
        </dgm:presLayoutVars>
      </dgm:prSet>
      <dgm:spPr/>
    </dgm:pt>
    <dgm:pt modelId="{8D8A7DAD-D8B9-48E4-A0A1-3B7164A39FB1}" type="pres">
      <dgm:prSet presAssocID="{D1742738-72F5-4E43-B11E-6B165DC0F373}" presName="sibTrans" presStyleCnt="0"/>
      <dgm:spPr/>
    </dgm:pt>
    <dgm:pt modelId="{98E97A2A-33CA-4B86-9893-2C2976BF8631}" type="pres">
      <dgm:prSet presAssocID="{3876873A-A388-4874-B0C1-56150D3FDA18}" presName="node" presStyleLbl="node1" presStyleIdx="3" presStyleCnt="6">
        <dgm:presLayoutVars>
          <dgm:bulletEnabled val="1"/>
        </dgm:presLayoutVars>
      </dgm:prSet>
      <dgm:spPr/>
    </dgm:pt>
    <dgm:pt modelId="{B0867CF7-2D54-44A8-9E54-54392E50029E}" type="pres">
      <dgm:prSet presAssocID="{7A5A2497-E407-4A6E-92F0-69D21CE52D82}" presName="sibTrans" presStyleCnt="0"/>
      <dgm:spPr/>
    </dgm:pt>
    <dgm:pt modelId="{99E08DC2-C216-459B-AB8E-881745857DF3}" type="pres">
      <dgm:prSet presAssocID="{1D944979-779A-44F8-A9E0-34777307E9CD}" presName="node" presStyleLbl="node1" presStyleIdx="4" presStyleCnt="6">
        <dgm:presLayoutVars>
          <dgm:bulletEnabled val="1"/>
        </dgm:presLayoutVars>
      </dgm:prSet>
      <dgm:spPr/>
    </dgm:pt>
    <dgm:pt modelId="{076C2FED-B6C3-4285-AC66-A423899DF788}" type="pres">
      <dgm:prSet presAssocID="{9160BEA3-C90C-40A6-B058-1A0DC8E3447A}" presName="sibTrans" presStyleCnt="0"/>
      <dgm:spPr/>
    </dgm:pt>
    <dgm:pt modelId="{5373BD93-2ABB-447D-BCD2-B42DFD8FFE16}" type="pres">
      <dgm:prSet presAssocID="{2AA7298B-C689-4685-8378-04B3AE09CC60}" presName="node" presStyleLbl="node1" presStyleIdx="5" presStyleCnt="6">
        <dgm:presLayoutVars>
          <dgm:bulletEnabled val="1"/>
        </dgm:presLayoutVars>
      </dgm:prSet>
      <dgm:spPr/>
    </dgm:pt>
  </dgm:ptLst>
  <dgm:cxnLst>
    <dgm:cxn modelId="{B2FDBC25-DD47-4955-9F30-AF1799F0B9C1}" srcId="{5A2425B8-2C33-406A-868A-C722B42DCF56}" destId="{77316BCD-09D3-4A2E-B8A3-8E8B1E515561}" srcOrd="2" destOrd="0" parTransId="{7AA45ACC-8CE3-47C1-B16A-086BFF952F69}" sibTransId="{D1742738-72F5-4E43-B11E-6B165DC0F373}"/>
    <dgm:cxn modelId="{E27CFE32-2C18-4CA3-BE93-0E69F2AD895B}" type="presOf" srcId="{3876873A-A388-4874-B0C1-56150D3FDA18}" destId="{98E97A2A-33CA-4B86-9893-2C2976BF8631}" srcOrd="0" destOrd="0" presId="urn:microsoft.com/office/officeart/2005/8/layout/default"/>
    <dgm:cxn modelId="{5136B45D-CDC2-428C-B1DB-F35B01725536}" srcId="{5A2425B8-2C33-406A-868A-C722B42DCF56}" destId="{1D944979-779A-44F8-A9E0-34777307E9CD}" srcOrd="4" destOrd="0" parTransId="{D096C505-D240-4159-A105-F92E48F06906}" sibTransId="{9160BEA3-C90C-40A6-B058-1A0DC8E3447A}"/>
    <dgm:cxn modelId="{E38B6145-C6F4-43C3-BA37-52B00F8B453B}" type="presOf" srcId="{1D944979-779A-44F8-A9E0-34777307E9CD}" destId="{99E08DC2-C216-459B-AB8E-881745857DF3}" srcOrd="0" destOrd="0" presId="urn:microsoft.com/office/officeart/2005/8/layout/default"/>
    <dgm:cxn modelId="{0E2746BA-C9A0-443C-A316-D67AA778A7B4}" type="presOf" srcId="{2AA7298B-C689-4685-8378-04B3AE09CC60}" destId="{5373BD93-2ABB-447D-BCD2-B42DFD8FFE16}" srcOrd="0" destOrd="0" presId="urn:microsoft.com/office/officeart/2005/8/layout/default"/>
    <dgm:cxn modelId="{40050CCB-5813-4B14-8D04-A3ADC0047398}" srcId="{5A2425B8-2C33-406A-868A-C722B42DCF56}" destId="{45B62B43-CAB1-465B-B6BA-FBE19634E038}" srcOrd="1" destOrd="0" parTransId="{0C58C2EE-8546-4BC0-B9A6-F58246DCDBA5}" sibTransId="{B6B60A1C-20B8-4255-9EAF-C1B5E4D45054}"/>
    <dgm:cxn modelId="{8D3B73D2-AABE-4CE6-8886-22BDC589AAB3}" srcId="{5A2425B8-2C33-406A-868A-C722B42DCF56}" destId="{940D5C9A-7805-4B17-8C11-31DA17BA68C3}" srcOrd="0" destOrd="0" parTransId="{53823689-0F97-43FB-B439-335ECDB660DF}" sibTransId="{5E803946-4738-4A5A-8356-2F0D2A91675C}"/>
    <dgm:cxn modelId="{4C6F2ED7-1221-4D8D-B35B-787A48433BA6}" type="presOf" srcId="{77316BCD-09D3-4A2E-B8A3-8E8B1E515561}" destId="{0206899C-A59B-4F41-96CA-47F03B1FF39F}" srcOrd="0" destOrd="0" presId="urn:microsoft.com/office/officeart/2005/8/layout/default"/>
    <dgm:cxn modelId="{652B64DE-D453-4748-98EF-BD7927D25B2B}" type="presOf" srcId="{45B62B43-CAB1-465B-B6BA-FBE19634E038}" destId="{8C9475DC-1EF1-4F29-A307-FC0EC295E6F4}" srcOrd="0" destOrd="0" presId="urn:microsoft.com/office/officeart/2005/8/layout/default"/>
    <dgm:cxn modelId="{57FA89E1-7297-4CE7-A6F7-6BA2BCE4B932}" srcId="{5A2425B8-2C33-406A-868A-C722B42DCF56}" destId="{3876873A-A388-4874-B0C1-56150D3FDA18}" srcOrd="3" destOrd="0" parTransId="{01D416B8-85AF-4908-8119-F1B9E5922D20}" sibTransId="{7A5A2497-E407-4A6E-92F0-69D21CE52D82}"/>
    <dgm:cxn modelId="{891244EB-1431-447D-8131-69BCAE06F88B}" srcId="{5A2425B8-2C33-406A-868A-C722B42DCF56}" destId="{2AA7298B-C689-4685-8378-04B3AE09CC60}" srcOrd="5" destOrd="0" parTransId="{37A7F92F-687B-466A-BB85-173165BCC5E0}" sibTransId="{090EFD0F-FEBC-4EC5-9672-8D216FD63A78}"/>
    <dgm:cxn modelId="{A832CAEB-8224-4554-B545-AE68ACAA3FD0}" type="presOf" srcId="{940D5C9A-7805-4B17-8C11-31DA17BA68C3}" destId="{34094894-A51A-4C93-8290-9917ABE8F33A}" srcOrd="0" destOrd="0" presId="urn:microsoft.com/office/officeart/2005/8/layout/default"/>
    <dgm:cxn modelId="{E23829ED-5286-4654-8A20-A292BA1AD5CA}" type="presOf" srcId="{5A2425B8-2C33-406A-868A-C722B42DCF56}" destId="{66663461-1817-4497-A8AF-86F75273356E}" srcOrd="0" destOrd="0" presId="urn:microsoft.com/office/officeart/2005/8/layout/default"/>
    <dgm:cxn modelId="{C9A11700-29C8-4853-B0BB-81951B70C3D9}" type="presParOf" srcId="{66663461-1817-4497-A8AF-86F75273356E}" destId="{34094894-A51A-4C93-8290-9917ABE8F33A}" srcOrd="0" destOrd="0" presId="urn:microsoft.com/office/officeart/2005/8/layout/default"/>
    <dgm:cxn modelId="{1D64797F-EE8B-4E26-BC79-D9714579055F}" type="presParOf" srcId="{66663461-1817-4497-A8AF-86F75273356E}" destId="{650175D9-1679-4AA0-9128-264B7717B885}" srcOrd="1" destOrd="0" presId="urn:microsoft.com/office/officeart/2005/8/layout/default"/>
    <dgm:cxn modelId="{DE4F49D3-0774-4A32-A76A-13D884FE94C3}" type="presParOf" srcId="{66663461-1817-4497-A8AF-86F75273356E}" destId="{8C9475DC-1EF1-4F29-A307-FC0EC295E6F4}" srcOrd="2" destOrd="0" presId="urn:microsoft.com/office/officeart/2005/8/layout/default"/>
    <dgm:cxn modelId="{04A66FA3-B160-4E51-BD32-6B1BCEAA8B71}" type="presParOf" srcId="{66663461-1817-4497-A8AF-86F75273356E}" destId="{9792C2D2-F92A-44A4-950B-27E6669CE7DF}" srcOrd="3" destOrd="0" presId="urn:microsoft.com/office/officeart/2005/8/layout/default"/>
    <dgm:cxn modelId="{3608879C-014E-42EA-BB5F-84374AB1885A}" type="presParOf" srcId="{66663461-1817-4497-A8AF-86F75273356E}" destId="{0206899C-A59B-4F41-96CA-47F03B1FF39F}" srcOrd="4" destOrd="0" presId="urn:microsoft.com/office/officeart/2005/8/layout/default"/>
    <dgm:cxn modelId="{052D2F10-92EE-4595-96AA-41F05A0175B2}" type="presParOf" srcId="{66663461-1817-4497-A8AF-86F75273356E}" destId="{8D8A7DAD-D8B9-48E4-A0A1-3B7164A39FB1}" srcOrd="5" destOrd="0" presId="urn:microsoft.com/office/officeart/2005/8/layout/default"/>
    <dgm:cxn modelId="{AD3FE975-8860-417D-8C6A-8CD1061310D5}" type="presParOf" srcId="{66663461-1817-4497-A8AF-86F75273356E}" destId="{98E97A2A-33CA-4B86-9893-2C2976BF8631}" srcOrd="6" destOrd="0" presId="urn:microsoft.com/office/officeart/2005/8/layout/default"/>
    <dgm:cxn modelId="{EBB853D0-0F1F-4F9D-B6E4-FB950642BCDB}" type="presParOf" srcId="{66663461-1817-4497-A8AF-86F75273356E}" destId="{B0867CF7-2D54-44A8-9E54-54392E50029E}" srcOrd="7" destOrd="0" presId="urn:microsoft.com/office/officeart/2005/8/layout/default"/>
    <dgm:cxn modelId="{64CD6D56-CA37-470D-9DAD-8A50561AD577}" type="presParOf" srcId="{66663461-1817-4497-A8AF-86F75273356E}" destId="{99E08DC2-C216-459B-AB8E-881745857DF3}" srcOrd="8" destOrd="0" presId="urn:microsoft.com/office/officeart/2005/8/layout/default"/>
    <dgm:cxn modelId="{E053C3BE-A371-44EB-B11E-D09D806EB889}" type="presParOf" srcId="{66663461-1817-4497-A8AF-86F75273356E}" destId="{076C2FED-B6C3-4285-AC66-A423899DF788}" srcOrd="9" destOrd="0" presId="urn:microsoft.com/office/officeart/2005/8/layout/default"/>
    <dgm:cxn modelId="{658BC554-FB23-4DAE-88A2-D15F86127B67}" type="presParOf" srcId="{66663461-1817-4497-A8AF-86F75273356E}" destId="{5373BD93-2ABB-447D-BCD2-B42DFD8FFE16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094894-A51A-4C93-8290-9917ABE8F33A}">
      <dsp:nvSpPr>
        <dsp:cNvPr id="0" name=""/>
        <dsp:cNvSpPr/>
      </dsp:nvSpPr>
      <dsp:spPr>
        <a:xfrm>
          <a:off x="307345" y="1546"/>
          <a:ext cx="3222855" cy="193371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💡 What is HTML?</a:t>
          </a:r>
          <a:endParaRPr lang="en-US" sz="2400" kern="1200"/>
        </a:p>
      </dsp:txBody>
      <dsp:txXfrm>
        <a:off x="307345" y="1546"/>
        <a:ext cx="3222855" cy="1933713"/>
      </dsp:txXfrm>
    </dsp:sp>
    <dsp:sp modelId="{8C9475DC-1EF1-4F29-A307-FC0EC295E6F4}">
      <dsp:nvSpPr>
        <dsp:cNvPr id="0" name=""/>
        <dsp:cNvSpPr/>
      </dsp:nvSpPr>
      <dsp:spPr>
        <a:xfrm>
          <a:off x="3852486" y="1546"/>
          <a:ext cx="3222855" cy="1933713"/>
        </a:xfrm>
        <a:prstGeom prst="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HTML</a:t>
          </a:r>
          <a:r>
            <a:rPr lang="en-US" sz="2400" kern="1200"/>
            <a:t> stands for </a:t>
          </a:r>
          <a:r>
            <a:rPr lang="en-US" sz="2400" b="1" kern="1200"/>
            <a:t>Hypertext Markup Language</a:t>
          </a:r>
          <a:r>
            <a:rPr lang="en-US" sz="2400" kern="1200"/>
            <a:t>.</a:t>
          </a:r>
        </a:p>
      </dsp:txBody>
      <dsp:txXfrm>
        <a:off x="3852486" y="1546"/>
        <a:ext cx="3222855" cy="1933713"/>
      </dsp:txXfrm>
    </dsp:sp>
    <dsp:sp modelId="{0206899C-A59B-4F41-96CA-47F03B1FF39F}">
      <dsp:nvSpPr>
        <dsp:cNvPr id="0" name=""/>
        <dsp:cNvSpPr/>
      </dsp:nvSpPr>
      <dsp:spPr>
        <a:xfrm>
          <a:off x="7397627" y="1546"/>
          <a:ext cx="3222855" cy="1933713"/>
        </a:xfrm>
        <a:prstGeom prst="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It is the </a:t>
          </a:r>
          <a:r>
            <a:rPr lang="en-US" sz="2400" b="1" kern="1200"/>
            <a:t>standard language used to create and design webpages</a:t>
          </a:r>
          <a:r>
            <a:rPr lang="en-US" sz="2400" kern="1200"/>
            <a:t>.</a:t>
          </a:r>
        </a:p>
      </dsp:txBody>
      <dsp:txXfrm>
        <a:off x="7397627" y="1546"/>
        <a:ext cx="3222855" cy="1933713"/>
      </dsp:txXfrm>
    </dsp:sp>
    <dsp:sp modelId="{98E97A2A-33CA-4B86-9893-2C2976BF8631}">
      <dsp:nvSpPr>
        <dsp:cNvPr id="0" name=""/>
        <dsp:cNvSpPr/>
      </dsp:nvSpPr>
      <dsp:spPr>
        <a:xfrm>
          <a:off x="307345" y="2257545"/>
          <a:ext cx="3222855" cy="1933713"/>
        </a:xfrm>
        <a:prstGeom prst="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HTML provides the </a:t>
          </a:r>
          <a:r>
            <a:rPr lang="en-US" sz="2400" b="1" kern="1200"/>
            <a:t>basic structure of a webpage</a:t>
          </a:r>
          <a:r>
            <a:rPr lang="en-US" sz="2400" kern="1200"/>
            <a:t>, using a system of </a:t>
          </a:r>
          <a:r>
            <a:rPr lang="en-US" sz="2400" b="1" kern="1200"/>
            <a:t>tags and elements</a:t>
          </a:r>
          <a:r>
            <a:rPr lang="en-US" sz="2400" kern="1200"/>
            <a:t>.</a:t>
          </a:r>
        </a:p>
      </dsp:txBody>
      <dsp:txXfrm>
        <a:off x="307345" y="2257545"/>
        <a:ext cx="3222855" cy="1933713"/>
      </dsp:txXfrm>
    </dsp:sp>
    <dsp:sp modelId="{99E08DC2-C216-459B-AB8E-881745857DF3}">
      <dsp:nvSpPr>
        <dsp:cNvPr id="0" name=""/>
        <dsp:cNvSpPr/>
      </dsp:nvSpPr>
      <dsp:spPr>
        <a:xfrm>
          <a:off x="3852486" y="2257545"/>
          <a:ext cx="3222855" cy="1933713"/>
        </a:xfrm>
        <a:prstGeom prst="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It allows you to add </a:t>
          </a:r>
          <a:r>
            <a:rPr lang="en-US" sz="2400" b="1" kern="1200"/>
            <a:t>text, images, videos, links, forms</a:t>
          </a:r>
          <a:r>
            <a:rPr lang="en-US" sz="2400" kern="1200"/>
            <a:t>, and other content to your web pages.</a:t>
          </a:r>
        </a:p>
      </dsp:txBody>
      <dsp:txXfrm>
        <a:off x="3852486" y="2257545"/>
        <a:ext cx="3222855" cy="1933713"/>
      </dsp:txXfrm>
    </dsp:sp>
    <dsp:sp modelId="{5373BD93-2ABB-447D-BCD2-B42DFD8FFE16}">
      <dsp:nvSpPr>
        <dsp:cNvPr id="0" name=""/>
        <dsp:cNvSpPr/>
      </dsp:nvSpPr>
      <dsp:spPr>
        <a:xfrm>
          <a:off x="7397627" y="2257545"/>
          <a:ext cx="3222855" cy="1933713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HTML is not a programming language—it's a </a:t>
          </a:r>
          <a:r>
            <a:rPr lang="en-US" sz="2400" b="1" kern="1200"/>
            <a:t>markup language</a:t>
          </a:r>
          <a:r>
            <a:rPr lang="en-US" sz="2400" kern="1200"/>
            <a:t>.</a:t>
          </a:r>
        </a:p>
      </dsp:txBody>
      <dsp:txXfrm>
        <a:off x="7397627" y="2257545"/>
        <a:ext cx="3222855" cy="19337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B0866F-FD18-4D37-8ABB-8E66477D70AB}" type="datetimeFigureOut">
              <a:rPr lang="en-US" smtClean="0"/>
              <a:t>05-Nov-25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C45CB4-4380-43CF-9192-9CCCAC31F8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C45CB4-4380-43CF-9192-9CCCAC31F8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914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11B4-9DF2-2864-9B85-8E49E9081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8EB13-6D57-0D6F-4F6F-A22879FEBB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B4BA6-C1E1-4FD8-3177-05701064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EF133-8968-4CE7-9F0C-BF53EEA45D0F}" type="datetime1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7A063-E469-3E5E-59A1-9CAAF6EF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69559-73FC-D363-0D25-A91312AA2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63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7A2C9-1AC6-2D5F-C45D-B9A261143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FA2A6-D281-2551-ED90-E6BF17808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8BB60-A439-E742-D003-DD35B551B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E7B56-0236-46F6-BAF8-B3F94A82FC27}" type="datetime1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62ADA-CF5F-72EF-5869-C8437481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55BF-E816-1E93-DF4E-2BB85A97E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/>
            </a:lvl1pPr>
          </a:lstStyle>
          <a:p>
            <a:fld id="{55206F03-2227-42F5-B928-747E3D86FF23}" type="slidenum">
              <a:rPr lang="en-US" smtClean="0"/>
              <a:pPr/>
              <a:t>‹#›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0102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F43B7-E90A-C7FB-DFED-4DB1021B0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68480-E68E-9631-43A8-C793D5B6A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7F55F-EA44-D8D7-782D-D35A155DD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9282E-174E-40A1-84EF-D89A9ACE9652}" type="datetime1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926D4-6AB4-4A4B-6FF7-ABED1BEE8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4F6CE-481E-6A5A-607D-E50668153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128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87E9F-4835-57C2-87B9-1A69537D6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E0CBE-BF98-49C8-60F1-0A92D61C54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6165C-0B86-620F-CF07-AAE7E21C1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E3603-F40F-F0C8-2803-DCA127E60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47A79-D173-41D7-8FFB-FE741DD8673E}" type="datetime1">
              <a:rPr lang="en-US" smtClean="0"/>
              <a:t>05-Nov-25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B8445-5F12-DDBA-44FB-09F42761E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916C9-2A13-585B-B983-BE17AC1DD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22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0E3EE-EC97-A5CB-8971-180A6DB4B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B84C8A-3160-D7D3-43A6-4FEEFED05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0769C-EF9F-684D-0646-FA85D0953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822981-9FAE-3585-F76A-B59F5E437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ECEEFC-E4C8-A4C1-1CF6-EF7A01A7F3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3CD5E2-D91D-DC1A-C3E3-04929D64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691BC-8B1A-4C0F-A930-80F9A27FCF95}" type="datetime1">
              <a:rPr lang="en-US" smtClean="0"/>
              <a:t>05-Nov-25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C1734E-166F-E216-EDE0-D124DB6F5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08AAE2-2C2C-7CD9-9E7F-97F5C292D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58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3ECC3-6A9D-0B66-D56D-42516EC3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5F3382-BA44-B932-65A2-EAD1A98B2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2F1B3-C784-4DF7-90C8-FC37CC81A559}" type="datetime1">
              <a:rPr lang="en-US" smtClean="0"/>
              <a:t>05-Nov-25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552D88-4DE9-4734-3A95-931E5D76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85246-62D8-CC31-9143-95FCC4485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56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F92129-FD5E-FE31-A6B7-E38A1FBE9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8C1C8-6510-440F-A927-B26932E1065F}" type="datetime1">
              <a:rPr lang="en-US" smtClean="0"/>
              <a:t>05-Nov-25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E1895D-253C-838F-B19E-DFBA1900A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7F135-4E8E-196B-6549-37F1B1848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681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94F9D-4CC4-8657-D7FE-987434588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06891-3A78-4CE5-5AB4-13A170848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8E54D-B847-64E8-054A-42D4B92B1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57B0A-ACED-8E5D-FE99-76AA17A03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46AD6-E530-4E4B-B0EB-A90B9528E2B0}" type="datetime1">
              <a:rPr lang="en-US" smtClean="0"/>
              <a:t>05-Nov-25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7A183-8ACF-797C-1352-5D16963A9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CB068C-89E5-9049-5CF6-020981FCC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79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88C49-222C-0FC9-785B-EDCC1E275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A4BD7B-A80D-9FF1-0071-3DFBE57A4A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2FE08-C1C7-F841-1BFC-A054701BF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05934-4DED-37FD-A2C2-23990C63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C4C15-43AE-4DE8-8418-752F9C3DA7E9}" type="datetime1">
              <a:rPr lang="en-US" smtClean="0"/>
              <a:t>05-Nov-25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0E8AE-76B5-995F-0E36-4F90B5541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F06EF-E252-0650-5FEB-4FB25C1D2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66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853C6-31C8-EB46-4B85-93E8FCD3B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6B7F6-94CE-EAB5-383C-09B18C43F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591AD-EC18-489B-511E-BFB802513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681D9-13D8-4972-A4F6-2E1C278BB364}" type="datetime1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578F2-4AA1-3469-40CE-AE267DAEB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E6B9D-84A0-1006-B8E8-7769E0776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36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D6EAD3-D254-6128-8322-95C918CA4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A94B9-D68C-1CE7-D620-FC01428F8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2567B-B553-398A-FFA3-7DA32B0B2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B8E7B-6875-4693-B915-181EC981E5B1}" type="datetime1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BC943-9B53-8027-7C0F-88A60AA69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0CE45-B8A2-5F90-59FE-1F9FFC4D8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94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C0CB66-EAE7-7CEC-781D-F9B5682F9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0D33-ED78-9368-4700-1A7E9F3E0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64C6E-352A-96E5-49EF-343C120B9B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D684F5-00A2-4B7B-93E6-BA5FB0B9AEB8}" type="datetime1">
              <a:rPr lang="en-US" smtClean="0"/>
              <a:t>05-Nov-25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368C5-7DA7-EAD8-A506-A9CA30448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93ED9-557E-441A-9EE2-668EA8588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206F03-2227-42F5-B928-747E3D86F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756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Computer script on a screen">
            <a:extLst>
              <a:ext uri="{FF2B5EF4-FFF2-40B4-BE49-F238E27FC236}">
                <a16:creationId xmlns:a16="http://schemas.microsoft.com/office/drawing/2014/main" id="{0C7C2749-9E00-40F9-6D4C-A139F004F5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7007" r="-1" b="8702"/>
          <a:stretch>
            <a:fillRect/>
          </a:stretch>
        </p:blipFill>
        <p:spPr>
          <a:xfrm>
            <a:off x="20" y="10170"/>
            <a:ext cx="1218893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E51737-7108-03A7-E6EC-844335FFAF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124712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Introduction To HTML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3B92EE-12FF-313C-8684-0A5DFBB55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227520"/>
          </a:xfrm>
        </p:spPr>
        <p:txBody>
          <a:bodyPr>
            <a:normAutofit/>
          </a:bodyPr>
          <a:lstStyle/>
          <a:p>
            <a:r>
              <a:rPr lang="en-US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Mahadi Hassan</a:t>
            </a:r>
          </a:p>
        </p:txBody>
      </p:sp>
      <p:sp>
        <p:nvSpPr>
          <p:cNvPr id="37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sketchy line">
            <a:extLst>
              <a:ext uri="{FF2B5EF4-FFF2-40B4-BE49-F238E27FC236}">
                <a16:creationId xmlns:a16="http://schemas.microsoft.com/office/drawing/2014/main" id="{4E87FCFB-2CCE-460D-B3DD-557C8BD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127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75944-6C9E-CF4D-1349-0DAAF2FAE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z="2800" b="1" smtClean="0"/>
              <a:t>1</a:t>
            </a:fld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9806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78DEA9-6794-1115-BEDF-D0F8A363F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Introduction to HTML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7ECB42-E6E2-49BC-5B61-3F540729DC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860748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CAAC1-7226-31C6-C1CD-816ABCEE1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z="2800" b="1" smtClean="0"/>
              <a:t>2</a:t>
            </a:fld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483821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F63CA2-2B50-7FC7-2374-D0BF9EE64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Basic Structure of HTML</a:t>
            </a:r>
          </a:p>
        </p:txBody>
      </p:sp>
      <p:pic>
        <p:nvPicPr>
          <p:cNvPr id="5" name="Content Placeholder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AE3520B1-42A8-82FE-0235-71E8860091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833" y="467208"/>
            <a:ext cx="7072937" cy="592358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8CFDD-3D6B-B2BC-EB3E-D911FCEA9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z="2800" b="1" smtClean="0"/>
              <a:t>3</a:t>
            </a:fld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979980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83AC3-ABE2-F9A0-E7A6-D985650BD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HTML Tags</a:t>
            </a:r>
          </a:p>
        </p:txBody>
      </p:sp>
      <p:pic>
        <p:nvPicPr>
          <p:cNvPr id="5" name="Content Placeholder 4" descr="A diagram of a html tag">
            <a:extLst>
              <a:ext uri="{FF2B5EF4-FFF2-40B4-BE49-F238E27FC236}">
                <a16:creationId xmlns:a16="http://schemas.microsoft.com/office/drawing/2014/main" id="{A4AE3BAA-A3EC-DA4F-A4DC-ED306A7259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818" y="2052535"/>
            <a:ext cx="7358357" cy="270419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ACD56-2C8B-11F0-E651-7048F9EBE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2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AF07B2-7797-9240-9CA2-B138326E5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CB14EE-ACC4-8FAA-A175-08AC311EE8DA}"/>
              </a:ext>
            </a:extLst>
          </p:cNvPr>
          <p:cNvSpPr txBox="1"/>
          <p:nvPr/>
        </p:nvSpPr>
        <p:spPr>
          <a:xfrm>
            <a:off x="660041" y="2767106"/>
            <a:ext cx="2880828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Different Types of HTML Tag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Graphic 9" descr="Web Design">
            <a:extLst>
              <a:ext uri="{FF2B5EF4-FFF2-40B4-BE49-F238E27FC236}">
                <a16:creationId xmlns:a16="http://schemas.microsoft.com/office/drawing/2014/main" id="{1670F91B-2B71-7C74-599E-819E1FD31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3510" y="467208"/>
            <a:ext cx="5923584" cy="59235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9941D-FCDF-0B22-204E-4FA25246B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6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7" name="Rectangle 12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9C850-CF50-5AC3-8A85-1ACB19549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 indent="-228600" fontAlgn="base">
              <a:spcAft>
                <a:spcPts val="600"/>
              </a:spcAft>
            </a:pPr>
            <a:r>
              <a:rPr lang="en-US" alt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1. Structural Tags</a:t>
            </a:r>
            <a:br>
              <a:rPr lang="en-US" alt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alt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E6C6CDB-BFC9-DD2C-FB35-E48D26097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484" y="2459116"/>
            <a:ext cx="3702579" cy="35248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333E33C-D684-DD98-FFBD-B1F740C92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980855"/>
              </p:ext>
            </p:extLst>
          </p:nvPr>
        </p:nvGraphicFramePr>
        <p:xfrm>
          <a:off x="4502428" y="626162"/>
          <a:ext cx="7225749" cy="56056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4231">
                  <a:extLst>
                    <a:ext uri="{9D8B030D-6E8A-4147-A177-3AD203B41FA5}">
                      <a16:colId xmlns:a16="http://schemas.microsoft.com/office/drawing/2014/main" val="4081615526"/>
                    </a:ext>
                  </a:extLst>
                </a:gridCol>
                <a:gridCol w="5481518">
                  <a:extLst>
                    <a:ext uri="{9D8B030D-6E8A-4147-A177-3AD203B41FA5}">
                      <a16:colId xmlns:a16="http://schemas.microsoft.com/office/drawing/2014/main" val="224052199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all" spc="60">
                          <a:solidFill>
                            <a:schemeClr val="tx1"/>
                          </a:solidFill>
                        </a:rPr>
                        <a:t>Tag</a:t>
                      </a:r>
                    </a:p>
                  </a:txBody>
                  <a:tcPr marL="235622" marR="176716" marT="91440" marB="91440" anchor="b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cap="all" spc="60" dirty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marL="235622" marR="176716" marT="91440" marB="91440" anchor="b"/>
                </a:tc>
                <a:extLst>
                  <a:ext uri="{0D108BD9-81ED-4DB2-BD59-A6C34878D82A}">
                    <a16:rowId xmlns:a16="http://schemas.microsoft.com/office/drawing/2014/main" val="90733714"/>
                  </a:ext>
                </a:extLst>
              </a:tr>
              <a:tr h="473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&lt;html&gt;</a:t>
                      </a:r>
                    </a:p>
                  </a:txBody>
                  <a:tcPr marL="235622" marR="176716" marT="101175" marB="914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Root element of an HTML document</a:t>
                      </a:r>
                    </a:p>
                  </a:txBody>
                  <a:tcPr marL="235622" marR="176716" marT="101175" marB="91440" anchor="ctr"/>
                </a:tc>
                <a:extLst>
                  <a:ext uri="{0D108BD9-81ED-4DB2-BD59-A6C34878D82A}">
                    <a16:rowId xmlns:a16="http://schemas.microsoft.com/office/drawing/2014/main" val="3498177717"/>
                  </a:ext>
                </a:extLst>
              </a:tr>
              <a:tr h="473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&lt;head&gt;</a:t>
                      </a:r>
                    </a:p>
                  </a:txBody>
                  <a:tcPr marL="235622" marR="176716" marT="101175" marB="914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Contains metadata and links</a:t>
                      </a:r>
                    </a:p>
                  </a:txBody>
                  <a:tcPr marL="235622" marR="176716" marT="101175" marB="91440" anchor="ctr"/>
                </a:tc>
                <a:extLst>
                  <a:ext uri="{0D108BD9-81ED-4DB2-BD59-A6C34878D82A}">
                    <a16:rowId xmlns:a16="http://schemas.microsoft.com/office/drawing/2014/main" val="2073125339"/>
                  </a:ext>
                </a:extLst>
              </a:tr>
              <a:tr h="473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&lt;body&gt;</a:t>
                      </a:r>
                    </a:p>
                  </a:txBody>
                  <a:tcPr marL="235622" marR="176716" marT="101175" marB="914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Contains</a:t>
                      </a:r>
                      <a:r>
                        <a:rPr lang="fr-FR" sz="1600" cap="none" spc="0">
                          <a:solidFill>
                            <a:schemeClr val="tx1"/>
                          </a:solidFill>
                        </a:rPr>
                        <a:t> the visible page content</a:t>
                      </a:r>
                    </a:p>
                  </a:txBody>
                  <a:tcPr marL="235622" marR="176716" marT="101175" marB="91440" anchor="ctr"/>
                </a:tc>
                <a:extLst>
                  <a:ext uri="{0D108BD9-81ED-4DB2-BD59-A6C34878D82A}">
                    <a16:rowId xmlns:a16="http://schemas.microsoft.com/office/drawing/2014/main" val="273999939"/>
                  </a:ext>
                </a:extLst>
              </a:tr>
              <a:tr h="473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&lt;header&gt;</a:t>
                      </a:r>
                    </a:p>
                  </a:txBody>
                  <a:tcPr marL="235622" marR="176716" marT="101175" marB="914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Top section, often contains logo/nav</a:t>
                      </a:r>
                    </a:p>
                  </a:txBody>
                  <a:tcPr marL="235622" marR="176716" marT="101175" marB="91440" anchor="ctr"/>
                </a:tc>
                <a:extLst>
                  <a:ext uri="{0D108BD9-81ED-4DB2-BD59-A6C34878D82A}">
                    <a16:rowId xmlns:a16="http://schemas.microsoft.com/office/drawing/2014/main" val="873899182"/>
                  </a:ext>
                </a:extLst>
              </a:tr>
              <a:tr h="473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&lt;footer&gt;</a:t>
                      </a:r>
                    </a:p>
                  </a:txBody>
                  <a:tcPr marL="235622" marR="176716" marT="101175" marB="914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Bottom section, often contains info/links</a:t>
                      </a:r>
                    </a:p>
                  </a:txBody>
                  <a:tcPr marL="235622" marR="176716" marT="101175" marB="91440" anchor="ctr"/>
                </a:tc>
                <a:extLst>
                  <a:ext uri="{0D108BD9-81ED-4DB2-BD59-A6C34878D82A}">
                    <a16:rowId xmlns:a16="http://schemas.microsoft.com/office/drawing/2014/main" val="2749765199"/>
                  </a:ext>
                </a:extLst>
              </a:tr>
              <a:tr h="473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&lt;main&gt;</a:t>
                      </a:r>
                    </a:p>
                  </a:txBody>
                  <a:tcPr marL="235622" marR="176716" marT="101175" marB="914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Main content area</a:t>
                      </a:r>
                    </a:p>
                  </a:txBody>
                  <a:tcPr marL="235622" marR="176716" marT="101175" marB="91440" anchor="ctr"/>
                </a:tc>
                <a:extLst>
                  <a:ext uri="{0D108BD9-81ED-4DB2-BD59-A6C34878D82A}">
                    <a16:rowId xmlns:a16="http://schemas.microsoft.com/office/drawing/2014/main" val="1227712462"/>
                  </a:ext>
                </a:extLst>
              </a:tr>
              <a:tr h="473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&lt;section&gt;</a:t>
                      </a:r>
                    </a:p>
                  </a:txBody>
                  <a:tcPr marL="235622" marR="176716" marT="101175" marB="914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Groups of  related content</a:t>
                      </a:r>
                    </a:p>
                  </a:txBody>
                  <a:tcPr marL="235622" marR="176716" marT="101175" marB="91440" anchor="ctr"/>
                </a:tc>
                <a:extLst>
                  <a:ext uri="{0D108BD9-81ED-4DB2-BD59-A6C34878D82A}">
                    <a16:rowId xmlns:a16="http://schemas.microsoft.com/office/drawing/2014/main" val="4165407663"/>
                  </a:ext>
                </a:extLst>
              </a:tr>
              <a:tr h="473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&lt;article&gt;</a:t>
                      </a:r>
                    </a:p>
                  </a:txBody>
                  <a:tcPr marL="235622" marR="176716" marT="101175" marB="914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Self-contained content like blog posts</a:t>
                      </a:r>
                    </a:p>
                  </a:txBody>
                  <a:tcPr marL="235622" marR="176716" marT="101175" marB="91440" anchor="ctr"/>
                </a:tc>
                <a:extLst>
                  <a:ext uri="{0D108BD9-81ED-4DB2-BD59-A6C34878D82A}">
                    <a16:rowId xmlns:a16="http://schemas.microsoft.com/office/drawing/2014/main" val="3372493723"/>
                  </a:ext>
                </a:extLst>
              </a:tr>
              <a:tr h="473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&lt;nav&gt;</a:t>
                      </a:r>
                    </a:p>
                  </a:txBody>
                  <a:tcPr marL="235622" marR="176716" marT="101175" marB="914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Navigation links</a:t>
                      </a:r>
                    </a:p>
                  </a:txBody>
                  <a:tcPr marL="235622" marR="176716" marT="101175" marB="91440" anchor="ctr"/>
                </a:tc>
                <a:extLst>
                  <a:ext uri="{0D108BD9-81ED-4DB2-BD59-A6C34878D82A}">
                    <a16:rowId xmlns:a16="http://schemas.microsoft.com/office/drawing/2014/main" val="2250066724"/>
                  </a:ext>
                </a:extLst>
              </a:tr>
              <a:tr h="473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&lt;aside&gt;</a:t>
                      </a:r>
                    </a:p>
                  </a:txBody>
                  <a:tcPr marL="235622" marR="176716" marT="101175" marB="914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Sidebar or secondary content</a:t>
                      </a:r>
                    </a:p>
                  </a:txBody>
                  <a:tcPr marL="235622" marR="176716" marT="101175" marB="91440" anchor="ctr"/>
                </a:tc>
                <a:extLst>
                  <a:ext uri="{0D108BD9-81ED-4DB2-BD59-A6C34878D82A}">
                    <a16:rowId xmlns:a16="http://schemas.microsoft.com/office/drawing/2014/main" val="2924212606"/>
                  </a:ext>
                </a:extLst>
              </a:tr>
              <a:tr h="4730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&lt;div&gt;</a:t>
                      </a:r>
                    </a:p>
                  </a:txBody>
                  <a:tcPr marL="235622" marR="176716" marT="101175" marB="914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Generic container (no semantic meaning)</a:t>
                      </a:r>
                    </a:p>
                  </a:txBody>
                  <a:tcPr marL="235622" marR="176716" marT="101175" marB="91440" anchor="ctr"/>
                </a:tc>
                <a:extLst>
                  <a:ext uri="{0D108BD9-81ED-4DB2-BD59-A6C34878D82A}">
                    <a16:rowId xmlns:a16="http://schemas.microsoft.com/office/drawing/2014/main" val="107983903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A3CED-A809-79F6-CA37-78BCD0A7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90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581AB9-74A7-1B8E-9779-D4FDEA860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6" name="Rectangle 1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4" name="Freeform: Shape 12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6A26F0-55BF-1AD7-3DB5-E638720C0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2. Text Formatting Tags</a:t>
            </a:r>
            <a:b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0858D5D-B2D1-86FC-61B7-F58C8F7A7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484" y="2459116"/>
            <a:ext cx="3702579" cy="35248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1B47AEC-04BB-94B8-6D8C-E3FFDC1C7F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322923"/>
              </p:ext>
            </p:extLst>
          </p:nvPr>
        </p:nvGraphicFramePr>
        <p:xfrm>
          <a:off x="4907669" y="467208"/>
          <a:ext cx="6415267" cy="60250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796">
                  <a:extLst>
                    <a:ext uri="{9D8B030D-6E8A-4147-A177-3AD203B41FA5}">
                      <a16:colId xmlns:a16="http://schemas.microsoft.com/office/drawing/2014/main" val="4081615526"/>
                    </a:ext>
                  </a:extLst>
                </a:gridCol>
                <a:gridCol w="4543471">
                  <a:extLst>
                    <a:ext uri="{9D8B030D-6E8A-4147-A177-3AD203B41FA5}">
                      <a16:colId xmlns:a16="http://schemas.microsoft.com/office/drawing/2014/main" val="2240521992"/>
                    </a:ext>
                  </a:extLst>
                </a:gridCol>
              </a:tblGrid>
              <a:tr h="493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>
                          <a:solidFill>
                            <a:schemeClr val="bg1"/>
                          </a:solidFill>
                        </a:rPr>
                        <a:t>Tag</a:t>
                      </a:r>
                    </a:p>
                  </a:txBody>
                  <a:tcPr marL="74213" marR="53011" marT="106021" marB="106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marL="74213" marR="53011" marT="106021" marB="106021" anchor="ctr"/>
                </a:tc>
                <a:extLst>
                  <a:ext uri="{0D108BD9-81ED-4DB2-BD59-A6C34878D82A}">
                    <a16:rowId xmlns:a16="http://schemas.microsoft.com/office/drawing/2014/main" val="90733714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&lt;h1&gt; to &lt;h6&gt;</a:t>
                      </a:r>
                    </a:p>
                  </a:txBody>
                  <a:tcPr marL="74213" marR="53011" marT="111116" marB="106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Headings (h1 is largest)</a:t>
                      </a:r>
                    </a:p>
                  </a:txBody>
                  <a:tcPr marL="74213" marR="53011" marT="111116" marB="106021" anchor="ctr"/>
                </a:tc>
                <a:extLst>
                  <a:ext uri="{0D108BD9-81ED-4DB2-BD59-A6C34878D82A}">
                    <a16:rowId xmlns:a16="http://schemas.microsoft.com/office/drawing/2014/main" val="3498177717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&lt;p&gt;</a:t>
                      </a:r>
                    </a:p>
                  </a:txBody>
                  <a:tcPr marL="74213" marR="53011" marT="111116" marB="106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Paragraph</a:t>
                      </a:r>
                    </a:p>
                  </a:txBody>
                  <a:tcPr marL="74213" marR="53011" marT="111116" marB="106021" anchor="ctr"/>
                </a:tc>
                <a:extLst>
                  <a:ext uri="{0D108BD9-81ED-4DB2-BD59-A6C34878D82A}">
                    <a16:rowId xmlns:a16="http://schemas.microsoft.com/office/drawing/2014/main" val="2073125339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&lt;br&gt;</a:t>
                      </a:r>
                    </a:p>
                  </a:txBody>
                  <a:tcPr marL="74213" marR="53011" marT="111116" marB="106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Line break</a:t>
                      </a:r>
                    </a:p>
                  </a:txBody>
                  <a:tcPr marL="74213" marR="53011" marT="111116" marB="106021" anchor="ctr"/>
                </a:tc>
                <a:extLst>
                  <a:ext uri="{0D108BD9-81ED-4DB2-BD59-A6C34878D82A}">
                    <a16:rowId xmlns:a16="http://schemas.microsoft.com/office/drawing/2014/main" val="273999939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&lt;hr&gt;</a:t>
                      </a:r>
                    </a:p>
                  </a:txBody>
                  <a:tcPr marL="74213" marR="53011" marT="111116" marB="106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Horizontal rule</a:t>
                      </a:r>
                    </a:p>
                  </a:txBody>
                  <a:tcPr marL="74213" marR="53011" marT="111116" marB="106021" anchor="ctr"/>
                </a:tc>
                <a:extLst>
                  <a:ext uri="{0D108BD9-81ED-4DB2-BD59-A6C34878D82A}">
                    <a16:rowId xmlns:a16="http://schemas.microsoft.com/office/drawing/2014/main" val="873899182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&lt;b&gt;</a:t>
                      </a:r>
                    </a:p>
                  </a:txBody>
                  <a:tcPr marL="74213" marR="53011" marT="111116" marB="106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Bold (non-semantic)</a:t>
                      </a:r>
                    </a:p>
                  </a:txBody>
                  <a:tcPr marL="74213" marR="53011" marT="111116" marB="106021" anchor="ctr"/>
                </a:tc>
                <a:extLst>
                  <a:ext uri="{0D108BD9-81ED-4DB2-BD59-A6C34878D82A}">
                    <a16:rowId xmlns:a16="http://schemas.microsoft.com/office/drawing/2014/main" val="2749765199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&lt;strong&gt;</a:t>
                      </a:r>
                    </a:p>
                  </a:txBody>
                  <a:tcPr marL="74213" marR="53011" marT="111116" marB="106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Bold (semantic – strong importance)</a:t>
                      </a:r>
                    </a:p>
                  </a:txBody>
                  <a:tcPr marL="74213" marR="53011" marT="111116" marB="106021" anchor="ctr"/>
                </a:tc>
                <a:extLst>
                  <a:ext uri="{0D108BD9-81ED-4DB2-BD59-A6C34878D82A}">
                    <a16:rowId xmlns:a16="http://schemas.microsoft.com/office/drawing/2014/main" val="1227712462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&lt;i&gt;</a:t>
                      </a:r>
                    </a:p>
                  </a:txBody>
                  <a:tcPr marL="74213" marR="53011" marT="111116" marB="106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Italic (non-semantic)</a:t>
                      </a:r>
                    </a:p>
                  </a:txBody>
                  <a:tcPr marL="74213" marR="53011" marT="111116" marB="106021" anchor="ctr"/>
                </a:tc>
                <a:extLst>
                  <a:ext uri="{0D108BD9-81ED-4DB2-BD59-A6C34878D82A}">
                    <a16:rowId xmlns:a16="http://schemas.microsoft.com/office/drawing/2014/main" val="4165407663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&lt;em&gt;</a:t>
                      </a:r>
                    </a:p>
                  </a:txBody>
                  <a:tcPr marL="74213" marR="53011" marT="111116" marB="106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Emphasized (semantic)</a:t>
                      </a:r>
                    </a:p>
                  </a:txBody>
                  <a:tcPr marL="74213" marR="53011" marT="111116" marB="106021" anchor="ctr"/>
                </a:tc>
                <a:extLst>
                  <a:ext uri="{0D108BD9-81ED-4DB2-BD59-A6C34878D82A}">
                    <a16:rowId xmlns:a16="http://schemas.microsoft.com/office/drawing/2014/main" val="3372493723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&lt;mark&gt;</a:t>
                      </a:r>
                    </a:p>
                  </a:txBody>
                  <a:tcPr marL="74213" marR="53011" marT="111116" marB="106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Highlighted text</a:t>
                      </a:r>
                    </a:p>
                  </a:txBody>
                  <a:tcPr marL="74213" marR="53011" marT="111116" marB="106021" anchor="ctr"/>
                </a:tc>
                <a:extLst>
                  <a:ext uri="{0D108BD9-81ED-4DB2-BD59-A6C34878D82A}">
                    <a16:rowId xmlns:a16="http://schemas.microsoft.com/office/drawing/2014/main" val="2250066724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&lt;small&gt;</a:t>
                      </a:r>
                    </a:p>
                  </a:txBody>
                  <a:tcPr marL="74213" marR="53011" marT="111116" marB="106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Smaller text</a:t>
                      </a:r>
                    </a:p>
                  </a:txBody>
                  <a:tcPr marL="74213" marR="53011" marT="111116" marB="106021" anchor="ctr"/>
                </a:tc>
                <a:extLst>
                  <a:ext uri="{0D108BD9-81ED-4DB2-BD59-A6C34878D82A}">
                    <a16:rowId xmlns:a16="http://schemas.microsoft.com/office/drawing/2014/main" val="2924212606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&lt;sub&gt;</a:t>
                      </a:r>
                    </a:p>
                  </a:txBody>
                  <a:tcPr marL="74213" marR="53011" marT="111116" marB="106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Subscript</a:t>
                      </a:r>
                    </a:p>
                  </a:txBody>
                  <a:tcPr marL="74213" marR="53011" marT="111116" marB="106021" anchor="ctr"/>
                </a:tc>
                <a:extLst>
                  <a:ext uri="{0D108BD9-81ED-4DB2-BD59-A6C34878D82A}">
                    <a16:rowId xmlns:a16="http://schemas.microsoft.com/office/drawing/2014/main" val="1089869968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&lt;sup&gt;</a:t>
                      </a:r>
                    </a:p>
                  </a:txBody>
                  <a:tcPr marL="74213" marR="53011" marT="111116" marB="1060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Superscript</a:t>
                      </a:r>
                    </a:p>
                  </a:txBody>
                  <a:tcPr marL="74213" marR="53011" marT="111116" marB="106021" anchor="ctr"/>
                </a:tc>
                <a:extLst>
                  <a:ext uri="{0D108BD9-81ED-4DB2-BD59-A6C34878D82A}">
                    <a16:rowId xmlns:a16="http://schemas.microsoft.com/office/drawing/2014/main" val="107983903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3D2DC-7D03-42CB-E8F1-BE913DD1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41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5CC3A5-5267-8B76-FB6A-D7576066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19FCBE-8E8D-1355-8932-81C4568F4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3. Link &amp; Media Tags</a:t>
            </a:r>
            <a:b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7322E0-95A4-D729-1E9E-0A47C68AD9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884979"/>
              </p:ext>
            </p:extLst>
          </p:nvPr>
        </p:nvGraphicFramePr>
        <p:xfrm>
          <a:off x="4502428" y="524343"/>
          <a:ext cx="7225749" cy="5809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451">
                  <a:extLst>
                    <a:ext uri="{9D8B030D-6E8A-4147-A177-3AD203B41FA5}">
                      <a16:colId xmlns:a16="http://schemas.microsoft.com/office/drawing/2014/main" val="1780264570"/>
                    </a:ext>
                  </a:extLst>
                </a:gridCol>
                <a:gridCol w="4833298">
                  <a:extLst>
                    <a:ext uri="{9D8B030D-6E8A-4147-A177-3AD203B41FA5}">
                      <a16:colId xmlns:a16="http://schemas.microsoft.com/office/drawing/2014/main" val="4053460004"/>
                    </a:ext>
                  </a:extLst>
                </a:gridCol>
              </a:tblGrid>
              <a:tr h="829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 cap="none" spc="0">
                          <a:solidFill>
                            <a:schemeClr val="bg1"/>
                          </a:solidFill>
                        </a:rPr>
                        <a:t>Tag</a:t>
                      </a:r>
                    </a:p>
                  </a:txBody>
                  <a:tcPr marL="238293" marR="212297" marT="183303" marB="183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 cap="none" spc="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marL="238293" marR="212297" marT="183303" marB="183303" anchor="ctr"/>
                </a:tc>
                <a:extLst>
                  <a:ext uri="{0D108BD9-81ED-4DB2-BD59-A6C34878D82A}">
                    <a16:rowId xmlns:a16="http://schemas.microsoft.com/office/drawing/2014/main" val="2995494169"/>
                  </a:ext>
                </a:extLst>
              </a:tr>
              <a:tr h="829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&lt;a&gt;</a:t>
                      </a:r>
                    </a:p>
                  </a:txBody>
                  <a:tcPr marL="238293" marR="212297" marT="183303" marB="183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Anchor (hyperlink)</a:t>
                      </a:r>
                    </a:p>
                  </a:txBody>
                  <a:tcPr marL="238293" marR="212297" marT="183303" marB="183303" anchor="ctr"/>
                </a:tc>
                <a:extLst>
                  <a:ext uri="{0D108BD9-81ED-4DB2-BD59-A6C34878D82A}">
                    <a16:rowId xmlns:a16="http://schemas.microsoft.com/office/drawing/2014/main" val="3758385816"/>
                  </a:ext>
                </a:extLst>
              </a:tr>
              <a:tr h="829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&lt;img&gt;</a:t>
                      </a:r>
                    </a:p>
                  </a:txBody>
                  <a:tcPr marL="238293" marR="212297" marT="183303" marB="183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Image</a:t>
                      </a:r>
                    </a:p>
                  </a:txBody>
                  <a:tcPr marL="238293" marR="212297" marT="183303" marB="183303" anchor="ctr"/>
                </a:tc>
                <a:extLst>
                  <a:ext uri="{0D108BD9-81ED-4DB2-BD59-A6C34878D82A}">
                    <a16:rowId xmlns:a16="http://schemas.microsoft.com/office/drawing/2014/main" val="128125586"/>
                  </a:ext>
                </a:extLst>
              </a:tr>
              <a:tr h="829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&lt;audio&gt;</a:t>
                      </a:r>
                    </a:p>
                  </a:txBody>
                  <a:tcPr marL="238293" marR="212297" marT="183303" marB="183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 dirty="0">
                          <a:solidFill>
                            <a:schemeClr val="tx1"/>
                          </a:solidFill>
                        </a:rPr>
                        <a:t>Audio files</a:t>
                      </a:r>
                    </a:p>
                  </a:txBody>
                  <a:tcPr marL="238293" marR="212297" marT="183303" marB="183303" anchor="ctr"/>
                </a:tc>
                <a:extLst>
                  <a:ext uri="{0D108BD9-81ED-4DB2-BD59-A6C34878D82A}">
                    <a16:rowId xmlns:a16="http://schemas.microsoft.com/office/drawing/2014/main" val="3391805959"/>
                  </a:ext>
                </a:extLst>
              </a:tr>
              <a:tr h="829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&lt;video&gt;</a:t>
                      </a:r>
                    </a:p>
                  </a:txBody>
                  <a:tcPr marL="238293" marR="212297" marT="183303" marB="183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Video files</a:t>
                      </a:r>
                    </a:p>
                  </a:txBody>
                  <a:tcPr marL="238293" marR="212297" marT="183303" marB="183303" anchor="ctr"/>
                </a:tc>
                <a:extLst>
                  <a:ext uri="{0D108BD9-81ED-4DB2-BD59-A6C34878D82A}">
                    <a16:rowId xmlns:a16="http://schemas.microsoft.com/office/drawing/2014/main" val="1386667172"/>
                  </a:ext>
                </a:extLst>
              </a:tr>
              <a:tr h="829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&lt;source&gt;</a:t>
                      </a:r>
                    </a:p>
                  </a:txBody>
                  <a:tcPr marL="238293" marR="212297" marT="183303" marB="183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Specifies media sources</a:t>
                      </a:r>
                    </a:p>
                  </a:txBody>
                  <a:tcPr marL="238293" marR="212297" marT="183303" marB="183303" anchor="ctr"/>
                </a:tc>
                <a:extLst>
                  <a:ext uri="{0D108BD9-81ED-4DB2-BD59-A6C34878D82A}">
                    <a16:rowId xmlns:a16="http://schemas.microsoft.com/office/drawing/2014/main" val="525961076"/>
                  </a:ext>
                </a:extLst>
              </a:tr>
              <a:tr h="8299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&lt;iframe&gt;</a:t>
                      </a:r>
                    </a:p>
                  </a:txBody>
                  <a:tcPr marL="238293" marR="212297" marT="183303" marB="1833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 dirty="0">
                          <a:solidFill>
                            <a:schemeClr val="tx1"/>
                          </a:solidFill>
                        </a:rPr>
                        <a:t>Embeds another webpage</a:t>
                      </a:r>
                    </a:p>
                  </a:txBody>
                  <a:tcPr marL="238293" marR="212297" marT="183303" marB="183303" anchor="ctr"/>
                </a:tc>
                <a:extLst>
                  <a:ext uri="{0D108BD9-81ED-4DB2-BD59-A6C34878D82A}">
                    <a16:rowId xmlns:a16="http://schemas.microsoft.com/office/drawing/2014/main" val="3829726066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EDDE0-2506-AF23-C9A6-F804BF006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9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9F2AFE-26C7-AC90-6DB7-B5A4D09E5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67E523-BB3A-F5E3-E469-1F8D94F1F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3. </a:t>
            </a:r>
            <a:r>
              <a:rPr lang="en-US" sz="4000" dirty="0">
                <a:solidFill>
                  <a:schemeClr val="bg1"/>
                </a:solidFill>
              </a:rPr>
              <a:t>List Tags</a:t>
            </a:r>
            <a:b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BE90FB4-9EF0-1E0A-5E66-CE0DC7BB8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462667"/>
              </p:ext>
            </p:extLst>
          </p:nvPr>
        </p:nvGraphicFramePr>
        <p:xfrm>
          <a:off x="4989633" y="467208"/>
          <a:ext cx="6251338" cy="59235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787">
                  <a:extLst>
                    <a:ext uri="{9D8B030D-6E8A-4147-A177-3AD203B41FA5}">
                      <a16:colId xmlns:a16="http://schemas.microsoft.com/office/drawing/2014/main" val="4081615526"/>
                    </a:ext>
                  </a:extLst>
                </a:gridCol>
                <a:gridCol w="4688551">
                  <a:extLst>
                    <a:ext uri="{9D8B030D-6E8A-4147-A177-3AD203B41FA5}">
                      <a16:colId xmlns:a16="http://schemas.microsoft.com/office/drawing/2014/main" val="2240521992"/>
                    </a:ext>
                  </a:extLst>
                </a:gridCol>
              </a:tblGrid>
              <a:tr h="846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 cap="none" spc="0">
                          <a:solidFill>
                            <a:schemeClr val="bg1"/>
                          </a:solidFill>
                        </a:rPr>
                        <a:t>Tag</a:t>
                      </a:r>
                    </a:p>
                  </a:txBody>
                  <a:tcPr marL="248468" marR="178819" marT="191129" marB="1911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 cap="none" spc="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marL="248468" marR="178819" marT="191129" marB="191129" anchor="ctr"/>
                </a:tc>
                <a:extLst>
                  <a:ext uri="{0D108BD9-81ED-4DB2-BD59-A6C34878D82A}">
                    <a16:rowId xmlns:a16="http://schemas.microsoft.com/office/drawing/2014/main" val="90733714"/>
                  </a:ext>
                </a:extLst>
              </a:tr>
              <a:tr h="846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&lt;ul&gt;</a:t>
                      </a:r>
                    </a:p>
                  </a:txBody>
                  <a:tcPr marL="248468" marR="178819" marT="191129" marB="1911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 dirty="0">
                          <a:solidFill>
                            <a:schemeClr val="tx1"/>
                          </a:solidFill>
                        </a:rPr>
                        <a:t>Unordered list (bullets)</a:t>
                      </a:r>
                    </a:p>
                  </a:txBody>
                  <a:tcPr marL="248468" marR="178819" marT="191129" marB="191129" anchor="ctr"/>
                </a:tc>
                <a:extLst>
                  <a:ext uri="{0D108BD9-81ED-4DB2-BD59-A6C34878D82A}">
                    <a16:rowId xmlns:a16="http://schemas.microsoft.com/office/drawing/2014/main" val="3498177717"/>
                  </a:ext>
                </a:extLst>
              </a:tr>
              <a:tr h="846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&lt;ol&gt;</a:t>
                      </a:r>
                    </a:p>
                  </a:txBody>
                  <a:tcPr marL="248468" marR="178819" marT="191129" marB="1911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Ordered list (numbered)</a:t>
                      </a:r>
                    </a:p>
                  </a:txBody>
                  <a:tcPr marL="248468" marR="178819" marT="191129" marB="191129" anchor="ctr"/>
                </a:tc>
                <a:extLst>
                  <a:ext uri="{0D108BD9-81ED-4DB2-BD59-A6C34878D82A}">
                    <a16:rowId xmlns:a16="http://schemas.microsoft.com/office/drawing/2014/main" val="2073125339"/>
                  </a:ext>
                </a:extLst>
              </a:tr>
              <a:tr h="846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&lt;li&gt;</a:t>
                      </a:r>
                    </a:p>
                  </a:txBody>
                  <a:tcPr marL="248468" marR="178819" marT="191129" marB="1911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List item</a:t>
                      </a:r>
                    </a:p>
                  </a:txBody>
                  <a:tcPr marL="248468" marR="178819" marT="191129" marB="191129" anchor="ctr"/>
                </a:tc>
                <a:extLst>
                  <a:ext uri="{0D108BD9-81ED-4DB2-BD59-A6C34878D82A}">
                    <a16:rowId xmlns:a16="http://schemas.microsoft.com/office/drawing/2014/main" val="273999939"/>
                  </a:ext>
                </a:extLst>
              </a:tr>
              <a:tr h="846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&lt;dl&gt;</a:t>
                      </a:r>
                    </a:p>
                  </a:txBody>
                  <a:tcPr marL="248468" marR="178819" marT="191129" marB="1911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 dirty="0">
                          <a:solidFill>
                            <a:schemeClr val="tx1"/>
                          </a:solidFill>
                        </a:rPr>
                        <a:t>Description list</a:t>
                      </a:r>
                    </a:p>
                  </a:txBody>
                  <a:tcPr marL="248468" marR="178819" marT="191129" marB="191129" anchor="ctr"/>
                </a:tc>
                <a:extLst>
                  <a:ext uri="{0D108BD9-81ED-4DB2-BD59-A6C34878D82A}">
                    <a16:rowId xmlns:a16="http://schemas.microsoft.com/office/drawing/2014/main" val="873899182"/>
                  </a:ext>
                </a:extLst>
              </a:tr>
              <a:tr h="846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&lt;dt&gt;</a:t>
                      </a:r>
                    </a:p>
                  </a:txBody>
                  <a:tcPr marL="248468" marR="178819" marT="191129" marB="1911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Term in a description list</a:t>
                      </a:r>
                    </a:p>
                  </a:txBody>
                  <a:tcPr marL="248468" marR="178819" marT="191129" marB="191129" anchor="ctr"/>
                </a:tc>
                <a:extLst>
                  <a:ext uri="{0D108BD9-81ED-4DB2-BD59-A6C34878D82A}">
                    <a16:rowId xmlns:a16="http://schemas.microsoft.com/office/drawing/2014/main" val="2749765199"/>
                  </a:ext>
                </a:extLst>
              </a:tr>
              <a:tr h="846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&lt;dd&gt;</a:t>
                      </a:r>
                    </a:p>
                  </a:txBody>
                  <a:tcPr marL="248468" marR="178819" marT="191129" marB="1911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 dirty="0">
                          <a:solidFill>
                            <a:schemeClr val="tx1"/>
                          </a:solidFill>
                        </a:rPr>
                        <a:t>Description of the term</a:t>
                      </a:r>
                    </a:p>
                  </a:txBody>
                  <a:tcPr marL="248468" marR="178819" marT="191129" marB="191129" anchor="ctr"/>
                </a:tc>
                <a:extLst>
                  <a:ext uri="{0D108BD9-81ED-4DB2-BD59-A6C34878D82A}">
                    <a16:rowId xmlns:a16="http://schemas.microsoft.com/office/drawing/2014/main" val="122771246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C19226-AECB-FF4A-96B2-C095B00E9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60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D7281-71D8-C113-D5B7-1B3E533AA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8D8F37-ACAD-B67B-47D5-487BDE79C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5. Table Tags</a:t>
            </a:r>
            <a:b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E8B2429-AA5B-6C47-7CD3-A412FE03E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907278"/>
              </p:ext>
            </p:extLst>
          </p:nvPr>
        </p:nvGraphicFramePr>
        <p:xfrm>
          <a:off x="4587281" y="467208"/>
          <a:ext cx="7056043" cy="592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266">
                  <a:extLst>
                    <a:ext uri="{9D8B030D-6E8A-4147-A177-3AD203B41FA5}">
                      <a16:colId xmlns:a16="http://schemas.microsoft.com/office/drawing/2014/main" val="2577277154"/>
                    </a:ext>
                  </a:extLst>
                </a:gridCol>
                <a:gridCol w="4378777">
                  <a:extLst>
                    <a:ext uri="{9D8B030D-6E8A-4147-A177-3AD203B41FA5}">
                      <a16:colId xmlns:a16="http://schemas.microsoft.com/office/drawing/2014/main" val="441208503"/>
                    </a:ext>
                  </a:extLst>
                </a:gridCol>
              </a:tblGrid>
              <a:tr h="658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Tag</a:t>
                      </a:r>
                    </a:p>
                  </a:txBody>
                  <a:tcPr marL="158587" marR="158587" marT="79294" marB="792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Purpose</a:t>
                      </a:r>
                    </a:p>
                  </a:txBody>
                  <a:tcPr marL="158587" marR="158587" marT="79294" marB="79294" anchor="ctr"/>
                </a:tc>
                <a:extLst>
                  <a:ext uri="{0D108BD9-81ED-4DB2-BD59-A6C34878D82A}">
                    <a16:rowId xmlns:a16="http://schemas.microsoft.com/office/drawing/2014/main" val="2400980067"/>
                  </a:ext>
                </a:extLst>
              </a:tr>
              <a:tr h="658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>
                          <a:latin typeface="Courier New" panose="02070309020205020404" pitchFamily="49" charset="0"/>
                        </a:rPr>
                        <a:t>&lt;table&gt;</a:t>
                      </a:r>
                      <a:endParaRPr lang="en-US" sz="3000"/>
                    </a:p>
                  </a:txBody>
                  <a:tcPr marL="158587" marR="158587" marT="79294" marB="792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Table container</a:t>
                      </a:r>
                    </a:p>
                  </a:txBody>
                  <a:tcPr marL="158587" marR="158587" marT="79294" marB="79294" anchor="ctr"/>
                </a:tc>
                <a:extLst>
                  <a:ext uri="{0D108BD9-81ED-4DB2-BD59-A6C34878D82A}">
                    <a16:rowId xmlns:a16="http://schemas.microsoft.com/office/drawing/2014/main" val="1014388094"/>
                  </a:ext>
                </a:extLst>
              </a:tr>
              <a:tr h="658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>
                          <a:latin typeface="Courier New" panose="02070309020205020404" pitchFamily="49" charset="0"/>
                        </a:rPr>
                        <a:t>&lt;tr&gt;</a:t>
                      </a:r>
                      <a:endParaRPr lang="en-US" sz="3000"/>
                    </a:p>
                  </a:txBody>
                  <a:tcPr marL="158587" marR="158587" marT="79294" marB="792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Table row</a:t>
                      </a:r>
                    </a:p>
                  </a:txBody>
                  <a:tcPr marL="158587" marR="158587" marT="79294" marB="79294" anchor="ctr"/>
                </a:tc>
                <a:extLst>
                  <a:ext uri="{0D108BD9-81ED-4DB2-BD59-A6C34878D82A}">
                    <a16:rowId xmlns:a16="http://schemas.microsoft.com/office/drawing/2014/main" val="2129145424"/>
                  </a:ext>
                </a:extLst>
              </a:tr>
              <a:tr h="658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>
                          <a:latin typeface="Courier New" panose="02070309020205020404" pitchFamily="49" charset="0"/>
                        </a:rPr>
                        <a:t>&lt;td&gt;</a:t>
                      </a:r>
                      <a:endParaRPr lang="en-US" sz="3000"/>
                    </a:p>
                  </a:txBody>
                  <a:tcPr marL="158587" marR="158587" marT="79294" marB="792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Table data cell</a:t>
                      </a:r>
                    </a:p>
                  </a:txBody>
                  <a:tcPr marL="158587" marR="158587" marT="79294" marB="79294" anchor="ctr"/>
                </a:tc>
                <a:extLst>
                  <a:ext uri="{0D108BD9-81ED-4DB2-BD59-A6C34878D82A}">
                    <a16:rowId xmlns:a16="http://schemas.microsoft.com/office/drawing/2014/main" val="1601241857"/>
                  </a:ext>
                </a:extLst>
              </a:tr>
              <a:tr h="658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>
                          <a:latin typeface="Courier New" panose="02070309020205020404" pitchFamily="49" charset="0"/>
                        </a:rPr>
                        <a:t>&lt;th&gt;</a:t>
                      </a:r>
                      <a:endParaRPr lang="en-US" sz="3000"/>
                    </a:p>
                  </a:txBody>
                  <a:tcPr marL="158587" marR="158587" marT="79294" marB="792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Table header cell</a:t>
                      </a:r>
                    </a:p>
                  </a:txBody>
                  <a:tcPr marL="158587" marR="158587" marT="79294" marB="79294" anchor="ctr"/>
                </a:tc>
                <a:extLst>
                  <a:ext uri="{0D108BD9-81ED-4DB2-BD59-A6C34878D82A}">
                    <a16:rowId xmlns:a16="http://schemas.microsoft.com/office/drawing/2014/main" val="3046703272"/>
                  </a:ext>
                </a:extLst>
              </a:tr>
              <a:tr h="658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>
                          <a:latin typeface="Courier New" panose="02070309020205020404" pitchFamily="49" charset="0"/>
                        </a:rPr>
                        <a:t>&lt;thead&gt;</a:t>
                      </a:r>
                      <a:endParaRPr lang="en-US" sz="3000"/>
                    </a:p>
                  </a:txBody>
                  <a:tcPr marL="158587" marR="158587" marT="79294" marB="792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Group of header rows</a:t>
                      </a:r>
                    </a:p>
                  </a:txBody>
                  <a:tcPr marL="158587" marR="158587" marT="79294" marB="79294" anchor="ctr"/>
                </a:tc>
                <a:extLst>
                  <a:ext uri="{0D108BD9-81ED-4DB2-BD59-A6C34878D82A}">
                    <a16:rowId xmlns:a16="http://schemas.microsoft.com/office/drawing/2014/main" val="1587709079"/>
                  </a:ext>
                </a:extLst>
              </a:tr>
              <a:tr h="658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>
                          <a:latin typeface="Courier New" panose="02070309020205020404" pitchFamily="49" charset="0"/>
                        </a:rPr>
                        <a:t>&lt;tbody&gt;</a:t>
                      </a:r>
                      <a:endParaRPr lang="en-US" sz="3000"/>
                    </a:p>
                  </a:txBody>
                  <a:tcPr marL="158587" marR="158587" marT="79294" marB="792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Group of body rows</a:t>
                      </a:r>
                    </a:p>
                  </a:txBody>
                  <a:tcPr marL="158587" marR="158587" marT="79294" marB="79294" anchor="ctr"/>
                </a:tc>
                <a:extLst>
                  <a:ext uri="{0D108BD9-81ED-4DB2-BD59-A6C34878D82A}">
                    <a16:rowId xmlns:a16="http://schemas.microsoft.com/office/drawing/2014/main" val="3710315775"/>
                  </a:ext>
                </a:extLst>
              </a:tr>
              <a:tr h="658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>
                          <a:latin typeface="Courier New" panose="02070309020205020404" pitchFamily="49" charset="0"/>
                        </a:rPr>
                        <a:t>&lt;tfoot&gt;</a:t>
                      </a:r>
                      <a:endParaRPr lang="en-US" sz="3000"/>
                    </a:p>
                  </a:txBody>
                  <a:tcPr marL="158587" marR="158587" marT="79294" marB="792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Group of footer rows</a:t>
                      </a:r>
                    </a:p>
                  </a:txBody>
                  <a:tcPr marL="158587" marR="158587" marT="79294" marB="79294" anchor="ctr"/>
                </a:tc>
                <a:extLst>
                  <a:ext uri="{0D108BD9-81ED-4DB2-BD59-A6C34878D82A}">
                    <a16:rowId xmlns:a16="http://schemas.microsoft.com/office/drawing/2014/main" val="1679473956"/>
                  </a:ext>
                </a:extLst>
              </a:tr>
              <a:tr h="658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>
                          <a:latin typeface="Courier New" panose="02070309020205020404" pitchFamily="49" charset="0"/>
                        </a:rPr>
                        <a:t>&lt;caption&gt;</a:t>
                      </a:r>
                      <a:endParaRPr lang="en-US" sz="3000"/>
                    </a:p>
                  </a:txBody>
                  <a:tcPr marL="158587" marR="158587" marT="79294" marB="792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Table title</a:t>
                      </a:r>
                    </a:p>
                  </a:txBody>
                  <a:tcPr marL="158587" marR="158587" marT="79294" marB="79294" anchor="ctr"/>
                </a:tc>
                <a:extLst>
                  <a:ext uri="{0D108BD9-81ED-4DB2-BD59-A6C34878D82A}">
                    <a16:rowId xmlns:a16="http://schemas.microsoft.com/office/drawing/2014/main" val="26744456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E2C89-8E05-35A6-3C6D-3E68C7A9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972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B112B-FAA1-22B7-5EDF-FB96C6EED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315374-D92B-A368-8809-BAB4C75CE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6. Form Tags</a:t>
            </a:r>
            <a:b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Used to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B1543F-6350-7B37-EAFA-04F932716A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429879"/>
              </p:ext>
            </p:extLst>
          </p:nvPr>
        </p:nvGraphicFramePr>
        <p:xfrm>
          <a:off x="4502428" y="700570"/>
          <a:ext cx="7225749" cy="5456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018">
                  <a:extLst>
                    <a:ext uri="{9D8B030D-6E8A-4147-A177-3AD203B41FA5}">
                      <a16:colId xmlns:a16="http://schemas.microsoft.com/office/drawing/2014/main" val="2577277154"/>
                    </a:ext>
                  </a:extLst>
                </a:gridCol>
                <a:gridCol w="4871731">
                  <a:extLst>
                    <a:ext uri="{9D8B030D-6E8A-4147-A177-3AD203B41FA5}">
                      <a16:colId xmlns:a16="http://schemas.microsoft.com/office/drawing/2014/main" val="441208503"/>
                    </a:ext>
                  </a:extLst>
                </a:gridCol>
              </a:tblGrid>
              <a:tr h="54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Tag</a:t>
                      </a:r>
                    </a:p>
                  </a:txBody>
                  <a:tcPr marL="128110" marR="128110" marT="64055" marB="6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Purpose</a:t>
                      </a:r>
                    </a:p>
                  </a:txBody>
                  <a:tcPr marL="128110" marR="128110" marT="64055" marB="64055" anchor="ctr"/>
                </a:tc>
                <a:extLst>
                  <a:ext uri="{0D108BD9-81ED-4DB2-BD59-A6C34878D82A}">
                    <a16:rowId xmlns:a16="http://schemas.microsoft.com/office/drawing/2014/main" val="2400980067"/>
                  </a:ext>
                </a:extLst>
              </a:tr>
              <a:tr h="54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Courier New" panose="02070309020205020404" pitchFamily="49" charset="0"/>
                        </a:rPr>
                        <a:t>&lt;form&gt;</a:t>
                      </a:r>
                      <a:endParaRPr lang="en-US" sz="2500"/>
                    </a:p>
                  </a:txBody>
                  <a:tcPr marL="128110" marR="128110" marT="64055" marB="6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Form container</a:t>
                      </a:r>
                    </a:p>
                  </a:txBody>
                  <a:tcPr marL="128110" marR="128110" marT="64055" marB="64055" anchor="ctr"/>
                </a:tc>
                <a:extLst>
                  <a:ext uri="{0D108BD9-81ED-4DB2-BD59-A6C34878D82A}">
                    <a16:rowId xmlns:a16="http://schemas.microsoft.com/office/drawing/2014/main" val="4000880638"/>
                  </a:ext>
                </a:extLst>
              </a:tr>
              <a:tr h="54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Courier New" panose="02070309020205020404" pitchFamily="49" charset="0"/>
                        </a:rPr>
                        <a:t>&lt;input&gt;</a:t>
                      </a:r>
                      <a:endParaRPr lang="en-US" sz="2500"/>
                    </a:p>
                  </a:txBody>
                  <a:tcPr marL="128110" marR="128110" marT="64055" marB="6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Input field (text, checkbox, etc.)</a:t>
                      </a:r>
                    </a:p>
                  </a:txBody>
                  <a:tcPr marL="128110" marR="128110" marT="64055" marB="64055" anchor="ctr"/>
                </a:tc>
                <a:extLst>
                  <a:ext uri="{0D108BD9-81ED-4DB2-BD59-A6C34878D82A}">
                    <a16:rowId xmlns:a16="http://schemas.microsoft.com/office/drawing/2014/main" val="1014388094"/>
                  </a:ext>
                </a:extLst>
              </a:tr>
              <a:tr h="54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Courier New" panose="02070309020205020404" pitchFamily="49" charset="0"/>
                        </a:rPr>
                        <a:t>&lt;textarea&gt;</a:t>
                      </a:r>
                      <a:endParaRPr lang="en-US" sz="2500"/>
                    </a:p>
                  </a:txBody>
                  <a:tcPr marL="128110" marR="128110" marT="64055" marB="6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Multi-line text field</a:t>
                      </a:r>
                    </a:p>
                  </a:txBody>
                  <a:tcPr marL="128110" marR="128110" marT="64055" marB="64055" anchor="ctr"/>
                </a:tc>
                <a:extLst>
                  <a:ext uri="{0D108BD9-81ED-4DB2-BD59-A6C34878D82A}">
                    <a16:rowId xmlns:a16="http://schemas.microsoft.com/office/drawing/2014/main" val="2129145424"/>
                  </a:ext>
                </a:extLst>
              </a:tr>
              <a:tr h="54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Courier New" panose="02070309020205020404" pitchFamily="49" charset="0"/>
                        </a:rPr>
                        <a:t>&lt;select&gt;</a:t>
                      </a:r>
                      <a:endParaRPr lang="en-US" sz="2500"/>
                    </a:p>
                  </a:txBody>
                  <a:tcPr marL="128110" marR="128110" marT="64055" marB="6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Drop-down list</a:t>
                      </a:r>
                    </a:p>
                  </a:txBody>
                  <a:tcPr marL="128110" marR="128110" marT="64055" marB="64055" anchor="ctr"/>
                </a:tc>
                <a:extLst>
                  <a:ext uri="{0D108BD9-81ED-4DB2-BD59-A6C34878D82A}">
                    <a16:rowId xmlns:a16="http://schemas.microsoft.com/office/drawing/2014/main" val="1601241857"/>
                  </a:ext>
                </a:extLst>
              </a:tr>
              <a:tr h="54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Courier New" panose="02070309020205020404" pitchFamily="49" charset="0"/>
                        </a:rPr>
                        <a:t>&lt;option&gt;</a:t>
                      </a:r>
                      <a:endParaRPr lang="en-US" sz="2500"/>
                    </a:p>
                  </a:txBody>
                  <a:tcPr marL="128110" marR="128110" marT="64055" marB="6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Option in a drop-down</a:t>
                      </a:r>
                    </a:p>
                  </a:txBody>
                  <a:tcPr marL="128110" marR="128110" marT="64055" marB="64055" anchor="ctr"/>
                </a:tc>
                <a:extLst>
                  <a:ext uri="{0D108BD9-81ED-4DB2-BD59-A6C34878D82A}">
                    <a16:rowId xmlns:a16="http://schemas.microsoft.com/office/drawing/2014/main" val="3046703272"/>
                  </a:ext>
                </a:extLst>
              </a:tr>
              <a:tr h="54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Courier New" panose="02070309020205020404" pitchFamily="49" charset="0"/>
                        </a:rPr>
                        <a:t>&lt;label&gt;</a:t>
                      </a:r>
                      <a:endParaRPr lang="en-US" sz="2500"/>
                    </a:p>
                  </a:txBody>
                  <a:tcPr marL="128110" marR="128110" marT="64055" marB="6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Label for input elements</a:t>
                      </a:r>
                    </a:p>
                  </a:txBody>
                  <a:tcPr marL="128110" marR="128110" marT="64055" marB="64055" anchor="ctr"/>
                </a:tc>
                <a:extLst>
                  <a:ext uri="{0D108BD9-81ED-4DB2-BD59-A6C34878D82A}">
                    <a16:rowId xmlns:a16="http://schemas.microsoft.com/office/drawing/2014/main" val="1587709079"/>
                  </a:ext>
                </a:extLst>
              </a:tr>
              <a:tr h="54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Courier New" panose="02070309020205020404" pitchFamily="49" charset="0"/>
                        </a:rPr>
                        <a:t>&lt;button&gt;</a:t>
                      </a:r>
                      <a:endParaRPr lang="en-US" sz="2500"/>
                    </a:p>
                  </a:txBody>
                  <a:tcPr marL="128110" marR="128110" marT="64055" marB="6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Clickable button</a:t>
                      </a:r>
                    </a:p>
                  </a:txBody>
                  <a:tcPr marL="128110" marR="128110" marT="64055" marB="64055" anchor="ctr"/>
                </a:tc>
                <a:extLst>
                  <a:ext uri="{0D108BD9-81ED-4DB2-BD59-A6C34878D82A}">
                    <a16:rowId xmlns:a16="http://schemas.microsoft.com/office/drawing/2014/main" val="3710315775"/>
                  </a:ext>
                </a:extLst>
              </a:tr>
              <a:tr h="54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Courier New" panose="02070309020205020404" pitchFamily="49" charset="0"/>
                        </a:rPr>
                        <a:t>&lt;fieldset&gt;</a:t>
                      </a:r>
                      <a:endParaRPr lang="en-US" sz="2500"/>
                    </a:p>
                  </a:txBody>
                  <a:tcPr marL="128110" marR="128110" marT="64055" marB="6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Group related form elements</a:t>
                      </a:r>
                    </a:p>
                  </a:txBody>
                  <a:tcPr marL="128110" marR="128110" marT="64055" marB="64055" anchor="ctr"/>
                </a:tc>
                <a:extLst>
                  <a:ext uri="{0D108BD9-81ED-4DB2-BD59-A6C34878D82A}">
                    <a16:rowId xmlns:a16="http://schemas.microsoft.com/office/drawing/2014/main" val="1679473956"/>
                  </a:ext>
                </a:extLst>
              </a:tr>
              <a:tr h="545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latin typeface="Courier New" panose="02070309020205020404" pitchFamily="49" charset="0"/>
                        </a:rPr>
                        <a:t>&lt;legend&gt;</a:t>
                      </a:r>
                      <a:endParaRPr lang="en-US" sz="2500"/>
                    </a:p>
                  </a:txBody>
                  <a:tcPr marL="128110" marR="128110" marT="64055" marB="6405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Title for a </a:t>
                      </a:r>
                      <a:r>
                        <a:rPr lang="en-US" sz="2500" dirty="0" err="1"/>
                        <a:t>fieldset</a:t>
                      </a:r>
                      <a:endParaRPr lang="en-US" sz="2500" dirty="0"/>
                    </a:p>
                  </a:txBody>
                  <a:tcPr marL="128110" marR="128110" marT="64055" marB="64055" anchor="ctr"/>
                </a:tc>
                <a:extLst>
                  <a:ext uri="{0D108BD9-81ED-4DB2-BD59-A6C34878D82A}">
                    <a16:rowId xmlns:a16="http://schemas.microsoft.com/office/drawing/2014/main" val="26744456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55502-E658-CA73-9261-84CC37BC0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60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1BCF24-9BD3-7C9A-91B4-33272DC89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8CEEF3-5EA4-9E2C-5E44-BFECE48A3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7. Meta &amp; Head Tags</a:t>
            </a:r>
            <a:br>
              <a:rPr lang="en-US" sz="3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Used in the &lt;head&gt; for metadata and resources.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411079-54B8-FAA7-756A-45120F43B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877208"/>
              </p:ext>
            </p:extLst>
          </p:nvPr>
        </p:nvGraphicFramePr>
        <p:xfrm>
          <a:off x="4502428" y="783821"/>
          <a:ext cx="7225749" cy="52903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9853">
                  <a:extLst>
                    <a:ext uri="{9D8B030D-6E8A-4147-A177-3AD203B41FA5}">
                      <a16:colId xmlns:a16="http://schemas.microsoft.com/office/drawing/2014/main" val="2577277154"/>
                    </a:ext>
                  </a:extLst>
                </a:gridCol>
                <a:gridCol w="5145896">
                  <a:extLst>
                    <a:ext uri="{9D8B030D-6E8A-4147-A177-3AD203B41FA5}">
                      <a16:colId xmlns:a16="http://schemas.microsoft.com/office/drawing/2014/main" val="441208503"/>
                    </a:ext>
                  </a:extLst>
                </a:gridCol>
              </a:tblGrid>
              <a:tr h="580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Tag</a:t>
                      </a:r>
                    </a:p>
                  </a:txBody>
                  <a:tcPr marL="135153" marR="135153" marT="67576" marB="67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Purpose</a:t>
                      </a:r>
                    </a:p>
                  </a:txBody>
                  <a:tcPr marL="135153" marR="135153" marT="67576" marB="67576" anchor="ctr"/>
                </a:tc>
                <a:extLst>
                  <a:ext uri="{0D108BD9-81ED-4DB2-BD59-A6C34878D82A}">
                    <a16:rowId xmlns:a16="http://schemas.microsoft.com/office/drawing/2014/main" val="2400980067"/>
                  </a:ext>
                </a:extLst>
              </a:tr>
              <a:tr h="989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Courier New" panose="02070309020205020404" pitchFamily="49" charset="0"/>
                        </a:rPr>
                        <a:t>&lt;title&gt;</a:t>
                      </a:r>
                      <a:endParaRPr lang="en-US" sz="2700"/>
                    </a:p>
                  </a:txBody>
                  <a:tcPr marL="135153" marR="135153" marT="67576" marB="67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Page title (shown in browser tab)</a:t>
                      </a:r>
                    </a:p>
                  </a:txBody>
                  <a:tcPr marL="135153" marR="135153" marT="67576" marB="67576" anchor="ctr"/>
                </a:tc>
                <a:extLst>
                  <a:ext uri="{0D108BD9-81ED-4DB2-BD59-A6C34878D82A}">
                    <a16:rowId xmlns:a16="http://schemas.microsoft.com/office/drawing/2014/main" val="4000880638"/>
                  </a:ext>
                </a:extLst>
              </a:tr>
              <a:tr h="989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Courier New" panose="02070309020205020404" pitchFamily="49" charset="0"/>
                        </a:rPr>
                        <a:t>&lt;meta&gt;</a:t>
                      </a:r>
                      <a:endParaRPr lang="en-US" sz="2700"/>
                    </a:p>
                  </a:txBody>
                  <a:tcPr marL="135153" marR="135153" marT="67576" marB="67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Metadata (charset, description, etc.)</a:t>
                      </a:r>
                    </a:p>
                  </a:txBody>
                  <a:tcPr marL="135153" marR="135153" marT="67576" marB="67576" anchor="ctr"/>
                </a:tc>
                <a:extLst>
                  <a:ext uri="{0D108BD9-81ED-4DB2-BD59-A6C34878D82A}">
                    <a16:rowId xmlns:a16="http://schemas.microsoft.com/office/drawing/2014/main" val="1014388094"/>
                  </a:ext>
                </a:extLst>
              </a:tr>
              <a:tr h="989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Courier New" panose="02070309020205020404" pitchFamily="49" charset="0"/>
                        </a:rPr>
                        <a:t>&lt;link&gt;</a:t>
                      </a:r>
                      <a:endParaRPr lang="en-US" sz="2700"/>
                    </a:p>
                  </a:txBody>
                  <a:tcPr marL="135153" marR="135153" marT="67576" marB="67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Link to external resources (e.g., CSS)</a:t>
                      </a:r>
                    </a:p>
                  </a:txBody>
                  <a:tcPr marL="135153" marR="135153" marT="67576" marB="67576" anchor="ctr"/>
                </a:tc>
                <a:extLst>
                  <a:ext uri="{0D108BD9-81ED-4DB2-BD59-A6C34878D82A}">
                    <a16:rowId xmlns:a16="http://schemas.microsoft.com/office/drawing/2014/main" val="2129145424"/>
                  </a:ext>
                </a:extLst>
              </a:tr>
              <a:tr h="580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Courier New" panose="02070309020205020404" pitchFamily="49" charset="0"/>
                        </a:rPr>
                        <a:t>&lt;style&gt;</a:t>
                      </a:r>
                      <a:endParaRPr lang="en-US" sz="2700"/>
                    </a:p>
                  </a:txBody>
                  <a:tcPr marL="135153" marR="135153" marT="67576" marB="67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Embedded CSS styles</a:t>
                      </a:r>
                    </a:p>
                  </a:txBody>
                  <a:tcPr marL="135153" marR="135153" marT="67576" marB="67576" anchor="ctr"/>
                </a:tc>
                <a:extLst>
                  <a:ext uri="{0D108BD9-81ED-4DB2-BD59-A6C34878D82A}">
                    <a16:rowId xmlns:a16="http://schemas.microsoft.com/office/drawing/2014/main" val="1601241857"/>
                  </a:ext>
                </a:extLst>
              </a:tr>
              <a:tr h="580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Courier New" panose="02070309020205020404" pitchFamily="49" charset="0"/>
                        </a:rPr>
                        <a:t>&lt;script&gt;</a:t>
                      </a:r>
                      <a:endParaRPr lang="en-US" sz="2700"/>
                    </a:p>
                  </a:txBody>
                  <a:tcPr marL="135153" marR="135153" marT="67576" marB="67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Embedded JavaScript</a:t>
                      </a:r>
                    </a:p>
                  </a:txBody>
                  <a:tcPr marL="135153" marR="135153" marT="67576" marB="67576" anchor="ctr"/>
                </a:tc>
                <a:extLst>
                  <a:ext uri="{0D108BD9-81ED-4DB2-BD59-A6C34878D82A}">
                    <a16:rowId xmlns:a16="http://schemas.microsoft.com/office/drawing/2014/main" val="3046703272"/>
                  </a:ext>
                </a:extLst>
              </a:tr>
              <a:tr h="580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Courier New" panose="02070309020205020404" pitchFamily="49" charset="0"/>
                        </a:rPr>
                        <a:t>&lt;base&gt;</a:t>
                      </a:r>
                      <a:endParaRPr lang="en-US" sz="2700"/>
                    </a:p>
                  </a:txBody>
                  <a:tcPr marL="135153" marR="135153" marT="67576" marB="675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Base URL for relative links</a:t>
                      </a:r>
                    </a:p>
                  </a:txBody>
                  <a:tcPr marL="135153" marR="135153" marT="67576" marB="67576" anchor="ctr"/>
                </a:tc>
                <a:extLst>
                  <a:ext uri="{0D108BD9-81ED-4DB2-BD59-A6C34878D82A}">
                    <a16:rowId xmlns:a16="http://schemas.microsoft.com/office/drawing/2014/main" val="158770907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75912-5CE9-22BD-0FCE-A6B431C0E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84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CD09D-9918-8F04-20D4-C986F8DEF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5B2143-FFD0-D5D3-5DC5-110019B2F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</a:rPr>
              <a:t>8</a:t>
            </a: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 Empty (Void)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A94282-459A-BFD5-B75E-BA913CDD3E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854961"/>
              </p:ext>
            </p:extLst>
          </p:nvPr>
        </p:nvGraphicFramePr>
        <p:xfrm>
          <a:off x="4745060" y="467208"/>
          <a:ext cx="6740485" cy="5923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164">
                  <a:extLst>
                    <a:ext uri="{9D8B030D-6E8A-4147-A177-3AD203B41FA5}">
                      <a16:colId xmlns:a16="http://schemas.microsoft.com/office/drawing/2014/main" val="3212287388"/>
                    </a:ext>
                  </a:extLst>
                </a:gridCol>
                <a:gridCol w="4634321">
                  <a:extLst>
                    <a:ext uri="{9D8B030D-6E8A-4147-A177-3AD203B41FA5}">
                      <a16:colId xmlns:a16="http://schemas.microsoft.com/office/drawing/2014/main" val="1021469645"/>
                    </a:ext>
                  </a:extLst>
                </a:gridCol>
              </a:tblGrid>
              <a:tr h="592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Tag</a:t>
                      </a:r>
                    </a:p>
                  </a:txBody>
                  <a:tcPr marL="136863" marR="136863" marT="68431" marB="68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Purpose</a:t>
                      </a:r>
                    </a:p>
                  </a:txBody>
                  <a:tcPr marL="136863" marR="136863" marT="68431" marB="68431" anchor="ctr"/>
                </a:tc>
                <a:extLst>
                  <a:ext uri="{0D108BD9-81ED-4DB2-BD59-A6C34878D82A}">
                    <a16:rowId xmlns:a16="http://schemas.microsoft.com/office/drawing/2014/main" val="668208787"/>
                  </a:ext>
                </a:extLst>
              </a:tr>
              <a:tr h="592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Courier New" panose="02070309020205020404" pitchFamily="49" charset="0"/>
                        </a:rPr>
                        <a:t>&lt;br&gt;</a:t>
                      </a:r>
                      <a:endParaRPr lang="en-US" sz="2700"/>
                    </a:p>
                  </a:txBody>
                  <a:tcPr marL="136863" marR="136863" marT="68431" marB="68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Line break</a:t>
                      </a:r>
                    </a:p>
                  </a:txBody>
                  <a:tcPr marL="136863" marR="136863" marT="68431" marB="68431" anchor="ctr"/>
                </a:tc>
                <a:extLst>
                  <a:ext uri="{0D108BD9-81ED-4DB2-BD59-A6C34878D82A}">
                    <a16:rowId xmlns:a16="http://schemas.microsoft.com/office/drawing/2014/main" val="3159664269"/>
                  </a:ext>
                </a:extLst>
              </a:tr>
              <a:tr h="592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Courier New" panose="02070309020205020404" pitchFamily="49" charset="0"/>
                        </a:rPr>
                        <a:t>&lt;hr&gt;</a:t>
                      </a:r>
                      <a:endParaRPr lang="en-US" sz="2700"/>
                    </a:p>
                  </a:txBody>
                  <a:tcPr marL="136863" marR="136863" marT="68431" marB="68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Horizontal rule</a:t>
                      </a:r>
                    </a:p>
                  </a:txBody>
                  <a:tcPr marL="136863" marR="136863" marT="68431" marB="68431" anchor="ctr"/>
                </a:tc>
                <a:extLst>
                  <a:ext uri="{0D108BD9-81ED-4DB2-BD59-A6C34878D82A}">
                    <a16:rowId xmlns:a16="http://schemas.microsoft.com/office/drawing/2014/main" val="165370773"/>
                  </a:ext>
                </a:extLst>
              </a:tr>
              <a:tr h="592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Courier New" panose="02070309020205020404" pitchFamily="49" charset="0"/>
                        </a:rPr>
                        <a:t>&lt;img&gt;</a:t>
                      </a:r>
                      <a:endParaRPr lang="en-US" sz="2700"/>
                    </a:p>
                  </a:txBody>
                  <a:tcPr marL="136863" marR="136863" marT="68431" marB="68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Image</a:t>
                      </a:r>
                    </a:p>
                  </a:txBody>
                  <a:tcPr marL="136863" marR="136863" marT="68431" marB="68431" anchor="ctr"/>
                </a:tc>
                <a:extLst>
                  <a:ext uri="{0D108BD9-81ED-4DB2-BD59-A6C34878D82A}">
                    <a16:rowId xmlns:a16="http://schemas.microsoft.com/office/drawing/2014/main" val="1926091015"/>
                  </a:ext>
                </a:extLst>
              </a:tr>
              <a:tr h="592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Courier New" panose="02070309020205020404" pitchFamily="49" charset="0"/>
                        </a:rPr>
                        <a:t>&lt;input&gt;</a:t>
                      </a:r>
                      <a:endParaRPr lang="en-US" sz="2700"/>
                    </a:p>
                  </a:txBody>
                  <a:tcPr marL="136863" marR="136863" marT="68431" marB="68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Input field</a:t>
                      </a:r>
                    </a:p>
                  </a:txBody>
                  <a:tcPr marL="136863" marR="136863" marT="68431" marB="68431" anchor="ctr"/>
                </a:tc>
                <a:extLst>
                  <a:ext uri="{0D108BD9-81ED-4DB2-BD59-A6C34878D82A}">
                    <a16:rowId xmlns:a16="http://schemas.microsoft.com/office/drawing/2014/main" val="1301841853"/>
                  </a:ext>
                </a:extLst>
              </a:tr>
              <a:tr h="592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Courier New" panose="02070309020205020404" pitchFamily="49" charset="0"/>
                        </a:rPr>
                        <a:t>&lt;meta&gt;</a:t>
                      </a:r>
                      <a:endParaRPr lang="en-US" sz="2700"/>
                    </a:p>
                  </a:txBody>
                  <a:tcPr marL="136863" marR="136863" marT="68431" marB="68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Metadata</a:t>
                      </a:r>
                    </a:p>
                  </a:txBody>
                  <a:tcPr marL="136863" marR="136863" marT="68431" marB="68431" anchor="ctr"/>
                </a:tc>
                <a:extLst>
                  <a:ext uri="{0D108BD9-81ED-4DB2-BD59-A6C34878D82A}">
                    <a16:rowId xmlns:a16="http://schemas.microsoft.com/office/drawing/2014/main" val="1574786407"/>
                  </a:ext>
                </a:extLst>
              </a:tr>
              <a:tr h="592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Courier New" panose="02070309020205020404" pitchFamily="49" charset="0"/>
                        </a:rPr>
                        <a:t>&lt;link&gt;</a:t>
                      </a:r>
                      <a:endParaRPr lang="en-US" sz="2700"/>
                    </a:p>
                  </a:txBody>
                  <a:tcPr marL="136863" marR="136863" marT="68431" marB="68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Link to external resource</a:t>
                      </a:r>
                    </a:p>
                  </a:txBody>
                  <a:tcPr marL="136863" marR="136863" marT="68431" marB="68431" anchor="ctr"/>
                </a:tc>
                <a:extLst>
                  <a:ext uri="{0D108BD9-81ED-4DB2-BD59-A6C34878D82A}">
                    <a16:rowId xmlns:a16="http://schemas.microsoft.com/office/drawing/2014/main" val="3928773122"/>
                  </a:ext>
                </a:extLst>
              </a:tr>
              <a:tr h="592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Courier New" panose="02070309020205020404" pitchFamily="49" charset="0"/>
                        </a:rPr>
                        <a:t>&lt;source&gt;</a:t>
                      </a:r>
                      <a:endParaRPr lang="en-US" sz="2700"/>
                    </a:p>
                  </a:txBody>
                  <a:tcPr marL="136863" marR="136863" marT="68431" marB="68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Media source</a:t>
                      </a:r>
                    </a:p>
                  </a:txBody>
                  <a:tcPr marL="136863" marR="136863" marT="68431" marB="68431" anchor="ctr"/>
                </a:tc>
                <a:extLst>
                  <a:ext uri="{0D108BD9-81ED-4DB2-BD59-A6C34878D82A}">
                    <a16:rowId xmlns:a16="http://schemas.microsoft.com/office/drawing/2014/main" val="25119636"/>
                  </a:ext>
                </a:extLst>
              </a:tr>
              <a:tr h="592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Courier New" panose="02070309020205020404" pitchFamily="49" charset="0"/>
                        </a:rPr>
                        <a:t>&lt;area&gt;</a:t>
                      </a:r>
                      <a:endParaRPr lang="en-US" sz="2700"/>
                    </a:p>
                  </a:txBody>
                  <a:tcPr marL="136863" marR="136863" marT="68431" marB="68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Image map region</a:t>
                      </a:r>
                    </a:p>
                  </a:txBody>
                  <a:tcPr marL="136863" marR="136863" marT="68431" marB="68431" anchor="ctr"/>
                </a:tc>
                <a:extLst>
                  <a:ext uri="{0D108BD9-81ED-4DB2-BD59-A6C34878D82A}">
                    <a16:rowId xmlns:a16="http://schemas.microsoft.com/office/drawing/2014/main" val="1463221389"/>
                  </a:ext>
                </a:extLst>
              </a:tr>
              <a:tr h="5923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latin typeface="Courier New" panose="02070309020205020404" pitchFamily="49" charset="0"/>
                        </a:rPr>
                        <a:t>&lt;col&gt;</a:t>
                      </a:r>
                      <a:endParaRPr lang="en-US" sz="2700"/>
                    </a:p>
                  </a:txBody>
                  <a:tcPr marL="136863" marR="136863" marT="68431" marB="6843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Column properties in tables</a:t>
                      </a:r>
                    </a:p>
                  </a:txBody>
                  <a:tcPr marL="136863" marR="136863" marT="68431" marB="68431" anchor="ctr"/>
                </a:tc>
                <a:extLst>
                  <a:ext uri="{0D108BD9-81ED-4DB2-BD59-A6C34878D82A}">
                    <a16:rowId xmlns:a16="http://schemas.microsoft.com/office/drawing/2014/main" val="200519408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222F7-F7DA-1214-7671-4B81C2CC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48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443AF1-3CD2-FBD0-AB7B-F3D2767D6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Any Question???</a:t>
            </a:r>
          </a:p>
        </p:txBody>
      </p:sp>
      <p:pic>
        <p:nvPicPr>
          <p:cNvPr id="6" name="Graphic 5" descr="Question mark">
            <a:extLst>
              <a:ext uri="{FF2B5EF4-FFF2-40B4-BE49-F238E27FC236}">
                <a16:creationId xmlns:a16="http://schemas.microsoft.com/office/drawing/2014/main" id="{BFD095DB-E1EA-9F4A-FC41-173B9E350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3510" y="467208"/>
            <a:ext cx="5923584" cy="592358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AB755A-31B3-F608-7AF5-C30377FD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206F03-2227-42F5-B928-747E3D86FF2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8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2460</TotalTime>
  <Words>642</Words>
  <Application>Microsoft Office PowerPoint</Application>
  <PresentationFormat>Widescreen</PresentationFormat>
  <Paragraphs>186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Courier New</vt:lpstr>
      <vt:lpstr>Times New Roman</vt:lpstr>
      <vt:lpstr>Office Theme</vt:lpstr>
      <vt:lpstr>Introduction To HTML</vt:lpstr>
      <vt:lpstr>Introduction to HTML</vt:lpstr>
      <vt:lpstr>Basic Structure of HTML</vt:lpstr>
      <vt:lpstr>HTML Tags</vt:lpstr>
      <vt:lpstr>PowerPoint Presentation</vt:lpstr>
      <vt:lpstr>1. Structural Tags </vt:lpstr>
      <vt:lpstr>2. Text Formatting Tags </vt:lpstr>
      <vt:lpstr>3. Link &amp; Media Tags </vt:lpstr>
      <vt:lpstr>3. List Tags </vt:lpstr>
      <vt:lpstr>5. Table Tags </vt:lpstr>
      <vt:lpstr>6. Form Tags Used to</vt:lpstr>
      <vt:lpstr>7. Meta &amp; Head Tags Used in the &lt;head&gt; for metadata and resources.</vt:lpstr>
      <vt:lpstr>8. Empty (Void)</vt:lpstr>
      <vt:lpstr>Any Question???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Mahadi Hassan</dc:creator>
  <cp:lastModifiedBy>Mahadi Hassan</cp:lastModifiedBy>
  <cp:revision>7</cp:revision>
  <dcterms:created xsi:type="dcterms:W3CDTF">2025-09-24T01:13:40Z</dcterms:created>
  <dcterms:modified xsi:type="dcterms:W3CDTF">2025-11-05T08:40:48Z</dcterms:modified>
</cp:coreProperties>
</file>